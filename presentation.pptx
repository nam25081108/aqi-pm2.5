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Lst>
  <p:sldSz cx="18288000" cy="10287000"/>
  <p:notesSz cx="6858000" cy="9144000"/>
  <p:embeddedFontLst>
    <p:embeddedFont>
      <p:font typeface="Garet" charset="1" panose="00000000000000000000"/>
      <p:regular r:id="rId36"/>
    </p:embeddedFont>
    <p:embeddedFont>
      <p:font typeface="Garet Bold" charset="1" panose="00000000000000000000"/>
      <p:regular r:id="rId37"/>
    </p:embeddedFont>
    <p:embeddedFont>
      <p:font typeface="Amaranth Bold" charset="1" panose="02000500000000020004"/>
      <p:regular r:id="rId38"/>
    </p:embeddedFont>
    <p:embeddedFont>
      <p:font typeface="Arimo" charset="1" panose="020B0604020202020204"/>
      <p:regular r:id="rId39"/>
    </p:embeddedFont>
    <p:embeddedFont>
      <p:font typeface="Arimo Bold Italics" charset="1" panose="020B0704020202090204"/>
      <p:regular r:id="rId4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fonts/font36.fntdata" Type="http://schemas.openxmlformats.org/officeDocument/2006/relationships/font"/><Relationship Id="rId37" Target="fonts/font37.fntdata" Type="http://schemas.openxmlformats.org/officeDocument/2006/relationships/font"/><Relationship Id="rId38" Target="fonts/font38.fntdata" Type="http://schemas.openxmlformats.org/officeDocument/2006/relationships/font"/><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6.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7.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8.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9.pn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10.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11.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12.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13.png" Type="http://schemas.openxmlformats.org/officeDocument/2006/relationships/image"/><Relationship Id="rId5" Target="../media/image14.pn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jpeg" Type="http://schemas.openxmlformats.org/officeDocument/2006/relationships/image"/><Relationship Id="rId5" Target="../media/image2.png" Type="http://schemas.openxmlformats.org/officeDocument/2006/relationships/image"/><Relationship Id="rId6" Target="../media/image19.png" Type="http://schemas.openxmlformats.org/officeDocument/2006/relationships/image"/><Relationship Id="rId7" Target="../media/image2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83287" y="-1338874"/>
            <a:ext cx="19819639" cy="12900629"/>
            <a:chOff x="0" y="0"/>
            <a:chExt cx="26426185" cy="17200838"/>
          </a:xfrm>
        </p:grpSpPr>
        <p:sp>
          <p:nvSpPr>
            <p:cNvPr name="Freeform 3" id="3"/>
            <p:cNvSpPr/>
            <p:nvPr/>
          </p:nvSpPr>
          <p:spPr>
            <a:xfrm flipH="false" flipV="false" rot="0">
              <a:off x="0" y="1785165"/>
              <a:ext cx="24895049" cy="14191553"/>
            </a:xfrm>
            <a:custGeom>
              <a:avLst/>
              <a:gdLst/>
              <a:ahLst/>
              <a:cxnLst/>
              <a:rect r="r" b="b" t="t" l="l"/>
              <a:pathLst>
                <a:path h="14191553" w="24895049">
                  <a:moveTo>
                    <a:pt x="0" y="0"/>
                  </a:moveTo>
                  <a:lnTo>
                    <a:pt x="24895049" y="0"/>
                  </a:lnTo>
                  <a:lnTo>
                    <a:pt x="24895049" y="14191554"/>
                  </a:lnTo>
                  <a:lnTo>
                    <a:pt x="0" y="14191554"/>
                  </a:lnTo>
                  <a:lnTo>
                    <a:pt x="0" y="0"/>
                  </a:lnTo>
                  <a:close/>
                </a:path>
              </a:pathLst>
            </a:custGeom>
            <a:blipFill>
              <a:blip r:embed="rId2"/>
              <a:stretch>
                <a:fillRect l="-4939" t="-11172" r="-7311" b="0"/>
              </a:stretch>
            </a:blipFill>
          </p:spPr>
        </p:sp>
        <p:sp>
          <p:nvSpPr>
            <p:cNvPr name="Freeform 4" id="4"/>
            <p:cNvSpPr/>
            <p:nvPr/>
          </p:nvSpPr>
          <p:spPr>
            <a:xfrm flipH="true" flipV="false" rot="0">
              <a:off x="511049" y="1785165"/>
              <a:ext cx="13222020" cy="15415673"/>
            </a:xfrm>
            <a:custGeom>
              <a:avLst/>
              <a:gdLst/>
              <a:ahLst/>
              <a:cxnLst/>
              <a:rect r="r" b="b" t="t" l="l"/>
              <a:pathLst>
                <a:path h="15415673" w="13222020">
                  <a:moveTo>
                    <a:pt x="13222020" y="0"/>
                  </a:moveTo>
                  <a:lnTo>
                    <a:pt x="0" y="0"/>
                  </a:lnTo>
                  <a:lnTo>
                    <a:pt x="0" y="15415673"/>
                  </a:lnTo>
                  <a:lnTo>
                    <a:pt x="13222020" y="15415673"/>
                  </a:lnTo>
                  <a:lnTo>
                    <a:pt x="13222020" y="0"/>
                  </a:lnTo>
                  <a:close/>
                </a:path>
              </a:pathLst>
            </a:custGeom>
            <a:blipFill>
              <a:blip r:embed="rId3"/>
              <a:stretch>
                <a:fillRect l="-12500" t="0" r="-12499" b="0"/>
              </a:stretch>
            </a:blipFill>
          </p:spPr>
        </p:sp>
        <p:grpSp>
          <p:nvGrpSpPr>
            <p:cNvPr name="Group 5" id="5"/>
            <p:cNvGrpSpPr/>
            <p:nvPr/>
          </p:nvGrpSpPr>
          <p:grpSpPr>
            <a:xfrm rot="0">
              <a:off x="1882649" y="3156765"/>
              <a:ext cx="21324463" cy="10972800"/>
              <a:chOff x="0" y="0"/>
              <a:chExt cx="4212240" cy="2167467"/>
            </a:xfrm>
          </p:grpSpPr>
          <p:sp>
            <p:nvSpPr>
              <p:cNvPr name="Freeform 6" id="6"/>
              <p:cNvSpPr/>
              <p:nvPr/>
            </p:nvSpPr>
            <p:spPr>
              <a:xfrm flipH="false" flipV="false" rot="0">
                <a:off x="0" y="0"/>
                <a:ext cx="4212239" cy="2167467"/>
              </a:xfrm>
              <a:custGeom>
                <a:avLst/>
                <a:gdLst/>
                <a:ahLst/>
                <a:cxnLst/>
                <a:rect r="r" b="b" t="t" l="l"/>
                <a:pathLst>
                  <a:path h="2167467" w="4212239">
                    <a:moveTo>
                      <a:pt x="36789" y="0"/>
                    </a:moveTo>
                    <a:lnTo>
                      <a:pt x="4175450" y="0"/>
                    </a:lnTo>
                    <a:cubicBezTo>
                      <a:pt x="4185207" y="0"/>
                      <a:pt x="4194565" y="3876"/>
                      <a:pt x="4201464" y="10775"/>
                    </a:cubicBezTo>
                    <a:cubicBezTo>
                      <a:pt x="4208363" y="17675"/>
                      <a:pt x="4212239" y="27032"/>
                      <a:pt x="4212239" y="36789"/>
                    </a:cubicBezTo>
                    <a:lnTo>
                      <a:pt x="4212239" y="2130677"/>
                    </a:lnTo>
                    <a:cubicBezTo>
                      <a:pt x="4212239" y="2150996"/>
                      <a:pt x="4195768" y="2167467"/>
                      <a:pt x="4175450" y="2167467"/>
                    </a:cubicBezTo>
                    <a:lnTo>
                      <a:pt x="36789" y="2167467"/>
                    </a:lnTo>
                    <a:cubicBezTo>
                      <a:pt x="27032" y="2167467"/>
                      <a:pt x="17675" y="2163591"/>
                      <a:pt x="10775" y="2156691"/>
                    </a:cubicBezTo>
                    <a:cubicBezTo>
                      <a:pt x="3876" y="2149792"/>
                      <a:pt x="0" y="2140434"/>
                      <a:pt x="0" y="2130677"/>
                    </a:cubicBezTo>
                    <a:lnTo>
                      <a:pt x="0" y="36789"/>
                    </a:lnTo>
                    <a:cubicBezTo>
                      <a:pt x="0" y="27032"/>
                      <a:pt x="3876" y="17675"/>
                      <a:pt x="10775" y="10775"/>
                    </a:cubicBezTo>
                    <a:cubicBezTo>
                      <a:pt x="17675" y="3876"/>
                      <a:pt x="27032" y="0"/>
                      <a:pt x="36789" y="0"/>
                    </a:cubicBezTo>
                    <a:close/>
                  </a:path>
                </a:pathLst>
              </a:custGeom>
              <a:solidFill>
                <a:srgbClr val="FFFFFF">
                  <a:alpha val="60784"/>
                </a:srgbClr>
              </a:solidFill>
              <a:ln w="38100" cap="rnd">
                <a:solidFill>
                  <a:srgbClr val="2D8BBA">
                    <a:alpha val="60784"/>
                  </a:srgbClr>
                </a:solidFill>
                <a:prstDash val="solid"/>
                <a:round/>
              </a:ln>
            </p:spPr>
          </p:sp>
          <p:sp>
            <p:nvSpPr>
              <p:cNvPr name="TextBox 7" id="7"/>
              <p:cNvSpPr txBox="true"/>
              <p:nvPr/>
            </p:nvSpPr>
            <p:spPr>
              <a:xfrm>
                <a:off x="0" y="-47625"/>
                <a:ext cx="4212240" cy="2215092"/>
              </a:xfrm>
              <a:prstGeom prst="rect">
                <a:avLst/>
              </a:prstGeom>
            </p:spPr>
            <p:txBody>
              <a:bodyPr anchor="ctr" rtlCol="false" tIns="50800" lIns="50800" bIns="50800" rIns="50800"/>
              <a:lstStyle/>
              <a:p>
                <a:pPr algn="ctr">
                  <a:lnSpc>
                    <a:spcPts val="3525"/>
                  </a:lnSpc>
                </a:pPr>
              </a:p>
            </p:txBody>
          </p:sp>
        </p:grpSp>
        <p:sp>
          <p:nvSpPr>
            <p:cNvPr name="Freeform 8" id="8"/>
            <p:cNvSpPr/>
            <p:nvPr/>
          </p:nvSpPr>
          <p:spPr>
            <a:xfrm flipH="false" flipV="true" rot="0">
              <a:off x="13130838" y="0"/>
              <a:ext cx="13295346" cy="15501165"/>
            </a:xfrm>
            <a:custGeom>
              <a:avLst/>
              <a:gdLst/>
              <a:ahLst/>
              <a:cxnLst/>
              <a:rect r="r" b="b" t="t" l="l"/>
              <a:pathLst>
                <a:path h="15501165" w="13295346">
                  <a:moveTo>
                    <a:pt x="0" y="15501165"/>
                  </a:moveTo>
                  <a:lnTo>
                    <a:pt x="13295347" y="15501165"/>
                  </a:lnTo>
                  <a:lnTo>
                    <a:pt x="13295347" y="0"/>
                  </a:lnTo>
                  <a:lnTo>
                    <a:pt x="0" y="0"/>
                  </a:lnTo>
                  <a:lnTo>
                    <a:pt x="0" y="15501165"/>
                  </a:lnTo>
                  <a:close/>
                </a:path>
              </a:pathLst>
            </a:custGeom>
            <a:blipFill>
              <a:blip r:embed="rId3"/>
              <a:stretch>
                <a:fillRect l="-12500" t="0" r="-12499" b="0"/>
              </a:stretch>
            </a:blipFill>
          </p:spPr>
        </p:sp>
      </p:grpSp>
      <p:sp>
        <p:nvSpPr>
          <p:cNvPr name="Freeform 9" id="9"/>
          <p:cNvSpPr/>
          <p:nvPr/>
        </p:nvSpPr>
        <p:spPr>
          <a:xfrm flipH="false" flipV="false" rot="0">
            <a:off x="8642311" y="1131048"/>
            <a:ext cx="1003377" cy="636688"/>
          </a:xfrm>
          <a:custGeom>
            <a:avLst/>
            <a:gdLst/>
            <a:ahLst/>
            <a:cxnLst/>
            <a:rect r="r" b="b" t="t" l="l"/>
            <a:pathLst>
              <a:path h="636688" w="1003377">
                <a:moveTo>
                  <a:pt x="0" y="0"/>
                </a:moveTo>
                <a:lnTo>
                  <a:pt x="1003378" y="0"/>
                </a:lnTo>
                <a:lnTo>
                  <a:pt x="1003378" y="636688"/>
                </a:lnTo>
                <a:lnTo>
                  <a:pt x="0" y="63668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0" id="10"/>
          <p:cNvSpPr/>
          <p:nvPr/>
        </p:nvSpPr>
        <p:spPr>
          <a:xfrm flipH="false" flipV="false" rot="0">
            <a:off x="1231914" y="1068074"/>
            <a:ext cx="2697403" cy="2605825"/>
          </a:xfrm>
          <a:custGeom>
            <a:avLst/>
            <a:gdLst/>
            <a:ahLst/>
            <a:cxnLst/>
            <a:rect r="r" b="b" t="t" l="l"/>
            <a:pathLst>
              <a:path h="2605825" w="2697403">
                <a:moveTo>
                  <a:pt x="0" y="0"/>
                </a:moveTo>
                <a:lnTo>
                  <a:pt x="2697403" y="0"/>
                </a:lnTo>
                <a:lnTo>
                  <a:pt x="2697403" y="2605825"/>
                </a:lnTo>
                <a:lnTo>
                  <a:pt x="0" y="2605825"/>
                </a:lnTo>
                <a:lnTo>
                  <a:pt x="0" y="0"/>
                </a:lnTo>
                <a:close/>
              </a:path>
            </a:pathLst>
          </a:custGeom>
          <a:blipFill>
            <a:blip r:embed="rId6"/>
            <a:stretch>
              <a:fillRect l="0" t="0" r="0" b="0"/>
            </a:stretch>
          </a:blipFill>
        </p:spPr>
      </p:sp>
      <p:sp>
        <p:nvSpPr>
          <p:cNvPr name="TextBox 11" id="11"/>
          <p:cNvSpPr txBox="true"/>
          <p:nvPr/>
        </p:nvSpPr>
        <p:spPr>
          <a:xfrm rot="0">
            <a:off x="1956083" y="3602750"/>
            <a:ext cx="14375834" cy="360045"/>
          </a:xfrm>
          <a:prstGeom prst="rect">
            <a:avLst/>
          </a:prstGeom>
        </p:spPr>
        <p:txBody>
          <a:bodyPr anchor="t" rtlCol="false" tIns="0" lIns="0" bIns="0" rIns="0">
            <a:spAutoFit/>
          </a:bodyPr>
          <a:lstStyle/>
          <a:p>
            <a:pPr algn="ctr">
              <a:lnSpc>
                <a:spcPts val="2640"/>
              </a:lnSpc>
            </a:pPr>
            <a:r>
              <a:rPr lang="en-US" sz="3000">
                <a:solidFill>
                  <a:srgbClr val="104579"/>
                </a:solidFill>
                <a:latin typeface="Garet"/>
                <a:ea typeface="Garet"/>
                <a:cs typeface="Garet"/>
                <a:sym typeface="Garet"/>
              </a:rPr>
              <a:t>BÁO CÁO TỔNG KẾT ĐỀ TÀI NGHIÊN CỨU KHOA HỌC</a:t>
            </a:r>
          </a:p>
        </p:txBody>
      </p:sp>
      <p:sp>
        <p:nvSpPr>
          <p:cNvPr name="TextBox 12" id="12"/>
          <p:cNvSpPr txBox="true"/>
          <p:nvPr/>
        </p:nvSpPr>
        <p:spPr>
          <a:xfrm rot="0">
            <a:off x="4983538" y="1701061"/>
            <a:ext cx="8320925" cy="669925"/>
          </a:xfrm>
          <a:prstGeom prst="rect">
            <a:avLst/>
          </a:prstGeom>
        </p:spPr>
        <p:txBody>
          <a:bodyPr anchor="t" rtlCol="false" tIns="0" lIns="0" bIns="0" rIns="0">
            <a:spAutoFit/>
          </a:bodyPr>
          <a:lstStyle/>
          <a:p>
            <a:pPr algn="ctr">
              <a:lnSpc>
                <a:spcPts val="5599"/>
              </a:lnSpc>
              <a:spcBef>
                <a:spcPct val="0"/>
              </a:spcBef>
            </a:pPr>
            <a:r>
              <a:rPr lang="en-US" b="true" sz="3999">
                <a:solidFill>
                  <a:srgbClr val="104579"/>
                </a:solidFill>
                <a:latin typeface="Garet Bold"/>
                <a:ea typeface="Garet Bold"/>
                <a:cs typeface="Garet Bold"/>
                <a:sym typeface="Garet Bold"/>
              </a:rPr>
              <a:t>TRƯỜNG ĐẠI HỌC SÀI GÒN</a:t>
            </a:r>
          </a:p>
        </p:txBody>
      </p:sp>
      <p:sp>
        <p:nvSpPr>
          <p:cNvPr name="TextBox 13" id="13"/>
          <p:cNvSpPr txBox="true"/>
          <p:nvPr/>
        </p:nvSpPr>
        <p:spPr>
          <a:xfrm rot="0">
            <a:off x="4522394" y="2504336"/>
            <a:ext cx="9243211" cy="669925"/>
          </a:xfrm>
          <a:prstGeom prst="rect">
            <a:avLst/>
          </a:prstGeom>
        </p:spPr>
        <p:txBody>
          <a:bodyPr anchor="t" rtlCol="false" tIns="0" lIns="0" bIns="0" rIns="0">
            <a:spAutoFit/>
          </a:bodyPr>
          <a:lstStyle/>
          <a:p>
            <a:pPr algn="ctr">
              <a:lnSpc>
                <a:spcPts val="5599"/>
              </a:lnSpc>
              <a:spcBef>
                <a:spcPct val="0"/>
              </a:spcBef>
            </a:pPr>
            <a:r>
              <a:rPr lang="en-US" b="true" sz="3999">
                <a:solidFill>
                  <a:srgbClr val="104579"/>
                </a:solidFill>
                <a:latin typeface="Garet Bold"/>
                <a:ea typeface="Garet Bold"/>
                <a:cs typeface="Garet Bold"/>
                <a:sym typeface="Garet Bold"/>
              </a:rPr>
              <a:t>KHOA CÔNG NGHỆ THÔNG TIN</a:t>
            </a:r>
          </a:p>
        </p:txBody>
      </p:sp>
      <p:sp>
        <p:nvSpPr>
          <p:cNvPr name="TextBox 14" id="14"/>
          <p:cNvSpPr txBox="true"/>
          <p:nvPr/>
        </p:nvSpPr>
        <p:spPr>
          <a:xfrm rot="0">
            <a:off x="1956083" y="4139886"/>
            <a:ext cx="14375834" cy="1093469"/>
          </a:xfrm>
          <a:prstGeom prst="rect">
            <a:avLst/>
          </a:prstGeom>
        </p:spPr>
        <p:txBody>
          <a:bodyPr anchor="t" rtlCol="false" tIns="0" lIns="0" bIns="0" rIns="0">
            <a:spAutoFit/>
          </a:bodyPr>
          <a:lstStyle/>
          <a:p>
            <a:pPr algn="ctr">
              <a:lnSpc>
                <a:spcPts val="4440"/>
              </a:lnSpc>
            </a:pPr>
            <a:r>
              <a:rPr lang="en-US" b="true" sz="3000">
                <a:solidFill>
                  <a:srgbClr val="104579"/>
                </a:solidFill>
                <a:latin typeface="Garet Bold"/>
                <a:ea typeface="Garet Bold"/>
                <a:cs typeface="Garet Bold"/>
                <a:sym typeface="Garet Bold"/>
              </a:rPr>
              <a:t>ỨNG DỤNG MÔ HÌNH HỌC MÁY VÀ HỌC SÂU TRONG DỰ ĐOÁN NỒNG ĐỘ VÀ PHÂN LOẠI CHẤT LƯỢNG KHÔNG KHÍ DO Ô NHIỄM BỤI MỊN PM2.5</a:t>
            </a:r>
          </a:p>
        </p:txBody>
      </p:sp>
      <p:sp>
        <p:nvSpPr>
          <p:cNvPr name="TextBox 15" id="15"/>
          <p:cNvSpPr txBox="true"/>
          <p:nvPr/>
        </p:nvSpPr>
        <p:spPr>
          <a:xfrm rot="0">
            <a:off x="7726152" y="5446368"/>
            <a:ext cx="9849534" cy="1076325"/>
          </a:xfrm>
          <a:prstGeom prst="rect">
            <a:avLst/>
          </a:prstGeom>
        </p:spPr>
        <p:txBody>
          <a:bodyPr anchor="t" rtlCol="false" tIns="0" lIns="0" bIns="0" rIns="0">
            <a:spAutoFit/>
          </a:bodyPr>
          <a:lstStyle/>
          <a:p>
            <a:pPr algn="ctr">
              <a:lnSpc>
                <a:spcPts val="2879"/>
              </a:lnSpc>
            </a:pPr>
            <a:r>
              <a:rPr lang="en-US" sz="2400" b="true">
                <a:solidFill>
                  <a:srgbClr val="104579"/>
                </a:solidFill>
                <a:latin typeface="Garet Bold"/>
                <a:ea typeface="Garet Bold"/>
                <a:cs typeface="Garet Bold"/>
                <a:sym typeface="Garet Bold"/>
              </a:rPr>
              <a:t>Giảng viên hướng dẫn:  TS.Nguyễn Thị Tuyết Nam  </a:t>
            </a:r>
          </a:p>
          <a:p>
            <a:pPr algn="ctr">
              <a:lnSpc>
                <a:spcPts val="2879"/>
              </a:lnSpc>
            </a:pPr>
            <a:r>
              <a:rPr lang="en-US" sz="2400" b="true">
                <a:solidFill>
                  <a:srgbClr val="104579"/>
                </a:solidFill>
                <a:latin typeface="Garet Bold"/>
                <a:ea typeface="Garet Bold"/>
                <a:cs typeface="Garet Bold"/>
                <a:sym typeface="Garet Bold"/>
              </a:rPr>
              <a:t>                                           Th.S Nguyễn Trung Tín</a:t>
            </a:r>
          </a:p>
          <a:p>
            <a:pPr algn="ctr">
              <a:lnSpc>
                <a:spcPts val="2879"/>
              </a:lnSpc>
            </a:pPr>
          </a:p>
        </p:txBody>
      </p:sp>
      <p:sp>
        <p:nvSpPr>
          <p:cNvPr name="TextBox 16" id="16"/>
          <p:cNvSpPr txBox="true"/>
          <p:nvPr/>
        </p:nvSpPr>
        <p:spPr>
          <a:xfrm rot="0">
            <a:off x="8790086" y="6300155"/>
            <a:ext cx="8469214" cy="3571875"/>
          </a:xfrm>
          <a:prstGeom prst="rect">
            <a:avLst/>
          </a:prstGeom>
        </p:spPr>
        <p:txBody>
          <a:bodyPr anchor="t" rtlCol="false" tIns="0" lIns="0" bIns="0" rIns="0">
            <a:spAutoFit/>
          </a:bodyPr>
          <a:lstStyle/>
          <a:p>
            <a:pPr algn="l">
              <a:lnSpc>
                <a:spcPts val="3600"/>
              </a:lnSpc>
            </a:pPr>
            <a:r>
              <a:rPr lang="en-US" sz="2400">
                <a:solidFill>
                  <a:srgbClr val="104579"/>
                </a:solidFill>
                <a:latin typeface="Garet"/>
                <a:ea typeface="Garet"/>
                <a:cs typeface="Garet"/>
                <a:sym typeface="Garet"/>
              </a:rPr>
              <a:t>Lớp:                                        DCT121C2</a:t>
            </a:r>
          </a:p>
          <a:p>
            <a:pPr algn="l">
              <a:lnSpc>
                <a:spcPts val="3600"/>
              </a:lnSpc>
            </a:pPr>
            <a:r>
              <a:rPr lang="en-US" sz="2400">
                <a:solidFill>
                  <a:srgbClr val="104579"/>
                </a:solidFill>
                <a:latin typeface="Garet"/>
                <a:ea typeface="Garet"/>
                <a:cs typeface="Garet"/>
                <a:sym typeface="Garet"/>
              </a:rPr>
              <a:t>N</a:t>
            </a:r>
            <a:r>
              <a:rPr lang="en-US" sz="2400">
                <a:solidFill>
                  <a:srgbClr val="104579"/>
                </a:solidFill>
                <a:latin typeface="Garet"/>
                <a:ea typeface="Garet"/>
                <a:cs typeface="Garet"/>
                <a:sym typeface="Garet"/>
              </a:rPr>
              <a:t>gày Báo Cáo:                   23/06/2026</a:t>
            </a:r>
          </a:p>
          <a:p>
            <a:pPr algn="l">
              <a:lnSpc>
                <a:spcPts val="3600"/>
              </a:lnSpc>
            </a:pPr>
            <a:r>
              <a:rPr lang="en-US" sz="2400">
                <a:solidFill>
                  <a:srgbClr val="104579"/>
                </a:solidFill>
                <a:latin typeface="Garet"/>
                <a:ea typeface="Garet"/>
                <a:cs typeface="Garet"/>
                <a:sym typeface="Garet"/>
              </a:rPr>
              <a:t>Thành Viên Nhóm:           Lê Đức Nam</a:t>
            </a:r>
          </a:p>
          <a:p>
            <a:pPr algn="l">
              <a:lnSpc>
                <a:spcPts val="3600"/>
              </a:lnSpc>
            </a:pPr>
            <a:r>
              <a:rPr lang="en-US" sz="2400">
                <a:solidFill>
                  <a:srgbClr val="104579"/>
                </a:solidFill>
                <a:latin typeface="Garet"/>
                <a:ea typeface="Garet"/>
                <a:cs typeface="Garet"/>
                <a:sym typeface="Garet"/>
              </a:rPr>
              <a:t>                                                Tiêu Quang Phú</a:t>
            </a:r>
          </a:p>
          <a:p>
            <a:pPr algn="l">
              <a:lnSpc>
                <a:spcPts val="3600"/>
              </a:lnSpc>
            </a:pPr>
            <a:r>
              <a:rPr lang="en-US" sz="2400">
                <a:solidFill>
                  <a:srgbClr val="104579"/>
                </a:solidFill>
                <a:latin typeface="Garet"/>
                <a:ea typeface="Garet"/>
                <a:cs typeface="Garet"/>
                <a:sym typeface="Garet"/>
              </a:rPr>
              <a:t>                                                Nguyễn Văn Ngàn</a:t>
            </a:r>
          </a:p>
          <a:p>
            <a:pPr algn="l">
              <a:lnSpc>
                <a:spcPts val="3600"/>
              </a:lnSpc>
            </a:pPr>
            <a:r>
              <a:rPr lang="en-US" sz="2400">
                <a:solidFill>
                  <a:srgbClr val="104579"/>
                </a:solidFill>
                <a:latin typeface="Garet"/>
                <a:ea typeface="Garet"/>
                <a:cs typeface="Garet"/>
                <a:sym typeface="Garet"/>
              </a:rPr>
              <a:t>                                                Phạm Thanh Vương</a:t>
            </a:r>
          </a:p>
          <a:p>
            <a:pPr algn="l">
              <a:lnSpc>
                <a:spcPts val="3359"/>
              </a:lnSpc>
            </a:pPr>
          </a:p>
          <a:p>
            <a:pPr algn="l">
              <a:lnSpc>
                <a:spcPts val="3359"/>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83287" y="-1338874"/>
            <a:ext cx="19819639" cy="12900629"/>
            <a:chOff x="0" y="0"/>
            <a:chExt cx="26426185" cy="17200838"/>
          </a:xfrm>
        </p:grpSpPr>
        <p:sp>
          <p:nvSpPr>
            <p:cNvPr name="Freeform 3" id="3"/>
            <p:cNvSpPr/>
            <p:nvPr/>
          </p:nvSpPr>
          <p:spPr>
            <a:xfrm flipH="false" flipV="false" rot="0">
              <a:off x="0" y="1785165"/>
              <a:ext cx="24895049" cy="14191553"/>
            </a:xfrm>
            <a:custGeom>
              <a:avLst/>
              <a:gdLst/>
              <a:ahLst/>
              <a:cxnLst/>
              <a:rect r="r" b="b" t="t" l="l"/>
              <a:pathLst>
                <a:path h="14191553" w="24895049">
                  <a:moveTo>
                    <a:pt x="0" y="0"/>
                  </a:moveTo>
                  <a:lnTo>
                    <a:pt x="24895049" y="0"/>
                  </a:lnTo>
                  <a:lnTo>
                    <a:pt x="24895049" y="14191554"/>
                  </a:lnTo>
                  <a:lnTo>
                    <a:pt x="0" y="14191554"/>
                  </a:lnTo>
                  <a:lnTo>
                    <a:pt x="0" y="0"/>
                  </a:lnTo>
                  <a:close/>
                </a:path>
              </a:pathLst>
            </a:custGeom>
            <a:blipFill>
              <a:blip r:embed="rId2"/>
              <a:stretch>
                <a:fillRect l="-4939" t="-11172" r="-7311" b="0"/>
              </a:stretch>
            </a:blipFill>
          </p:spPr>
        </p:sp>
        <p:sp>
          <p:nvSpPr>
            <p:cNvPr name="Freeform 4" id="4"/>
            <p:cNvSpPr/>
            <p:nvPr/>
          </p:nvSpPr>
          <p:spPr>
            <a:xfrm flipH="true" flipV="false" rot="0">
              <a:off x="511049" y="1785165"/>
              <a:ext cx="13222020" cy="15415673"/>
            </a:xfrm>
            <a:custGeom>
              <a:avLst/>
              <a:gdLst/>
              <a:ahLst/>
              <a:cxnLst/>
              <a:rect r="r" b="b" t="t" l="l"/>
              <a:pathLst>
                <a:path h="15415673" w="13222020">
                  <a:moveTo>
                    <a:pt x="13222020" y="0"/>
                  </a:moveTo>
                  <a:lnTo>
                    <a:pt x="0" y="0"/>
                  </a:lnTo>
                  <a:lnTo>
                    <a:pt x="0" y="15415673"/>
                  </a:lnTo>
                  <a:lnTo>
                    <a:pt x="13222020" y="15415673"/>
                  </a:lnTo>
                  <a:lnTo>
                    <a:pt x="13222020" y="0"/>
                  </a:lnTo>
                  <a:close/>
                </a:path>
              </a:pathLst>
            </a:custGeom>
            <a:blipFill>
              <a:blip r:embed="rId3"/>
              <a:stretch>
                <a:fillRect l="-12500" t="0" r="-12499" b="0"/>
              </a:stretch>
            </a:blipFill>
          </p:spPr>
        </p:sp>
        <p:grpSp>
          <p:nvGrpSpPr>
            <p:cNvPr name="Group 5" id="5"/>
            <p:cNvGrpSpPr/>
            <p:nvPr/>
          </p:nvGrpSpPr>
          <p:grpSpPr>
            <a:xfrm rot="0">
              <a:off x="1882649" y="3156765"/>
              <a:ext cx="21324463" cy="10972800"/>
              <a:chOff x="0" y="0"/>
              <a:chExt cx="4212240" cy="2167467"/>
            </a:xfrm>
          </p:grpSpPr>
          <p:sp>
            <p:nvSpPr>
              <p:cNvPr name="Freeform 6" id="6"/>
              <p:cNvSpPr/>
              <p:nvPr/>
            </p:nvSpPr>
            <p:spPr>
              <a:xfrm flipH="false" flipV="false" rot="0">
                <a:off x="0" y="0"/>
                <a:ext cx="4212239" cy="2167467"/>
              </a:xfrm>
              <a:custGeom>
                <a:avLst/>
                <a:gdLst/>
                <a:ahLst/>
                <a:cxnLst/>
                <a:rect r="r" b="b" t="t" l="l"/>
                <a:pathLst>
                  <a:path h="2167467" w="4212239">
                    <a:moveTo>
                      <a:pt x="36789" y="0"/>
                    </a:moveTo>
                    <a:lnTo>
                      <a:pt x="4175450" y="0"/>
                    </a:lnTo>
                    <a:cubicBezTo>
                      <a:pt x="4185207" y="0"/>
                      <a:pt x="4194565" y="3876"/>
                      <a:pt x="4201464" y="10775"/>
                    </a:cubicBezTo>
                    <a:cubicBezTo>
                      <a:pt x="4208363" y="17675"/>
                      <a:pt x="4212239" y="27032"/>
                      <a:pt x="4212239" y="36789"/>
                    </a:cubicBezTo>
                    <a:lnTo>
                      <a:pt x="4212239" y="2130677"/>
                    </a:lnTo>
                    <a:cubicBezTo>
                      <a:pt x="4212239" y="2150996"/>
                      <a:pt x="4195768" y="2167467"/>
                      <a:pt x="4175450" y="2167467"/>
                    </a:cubicBezTo>
                    <a:lnTo>
                      <a:pt x="36789" y="2167467"/>
                    </a:lnTo>
                    <a:cubicBezTo>
                      <a:pt x="27032" y="2167467"/>
                      <a:pt x="17675" y="2163591"/>
                      <a:pt x="10775" y="2156691"/>
                    </a:cubicBezTo>
                    <a:cubicBezTo>
                      <a:pt x="3876" y="2149792"/>
                      <a:pt x="0" y="2140434"/>
                      <a:pt x="0" y="2130677"/>
                    </a:cubicBezTo>
                    <a:lnTo>
                      <a:pt x="0" y="36789"/>
                    </a:lnTo>
                    <a:cubicBezTo>
                      <a:pt x="0" y="27032"/>
                      <a:pt x="3876" y="17675"/>
                      <a:pt x="10775" y="10775"/>
                    </a:cubicBezTo>
                    <a:cubicBezTo>
                      <a:pt x="17675" y="3876"/>
                      <a:pt x="27032" y="0"/>
                      <a:pt x="36789" y="0"/>
                    </a:cubicBezTo>
                    <a:close/>
                  </a:path>
                </a:pathLst>
              </a:custGeom>
              <a:solidFill>
                <a:srgbClr val="FFFFFF">
                  <a:alpha val="60784"/>
                </a:srgbClr>
              </a:solidFill>
              <a:ln w="38100" cap="rnd">
                <a:solidFill>
                  <a:srgbClr val="2D8BBA">
                    <a:alpha val="60784"/>
                  </a:srgbClr>
                </a:solidFill>
                <a:prstDash val="solid"/>
                <a:round/>
              </a:ln>
            </p:spPr>
          </p:sp>
          <p:sp>
            <p:nvSpPr>
              <p:cNvPr name="TextBox 7" id="7"/>
              <p:cNvSpPr txBox="true"/>
              <p:nvPr/>
            </p:nvSpPr>
            <p:spPr>
              <a:xfrm>
                <a:off x="0" y="-47625"/>
                <a:ext cx="4212240" cy="2215092"/>
              </a:xfrm>
              <a:prstGeom prst="rect">
                <a:avLst/>
              </a:prstGeom>
            </p:spPr>
            <p:txBody>
              <a:bodyPr anchor="ctr" rtlCol="false" tIns="50800" lIns="50800" bIns="50800" rIns="50800"/>
              <a:lstStyle/>
              <a:p>
                <a:pPr algn="ctr">
                  <a:lnSpc>
                    <a:spcPts val="3525"/>
                  </a:lnSpc>
                </a:pPr>
              </a:p>
            </p:txBody>
          </p:sp>
        </p:grpSp>
        <p:sp>
          <p:nvSpPr>
            <p:cNvPr name="Freeform 8" id="8"/>
            <p:cNvSpPr/>
            <p:nvPr/>
          </p:nvSpPr>
          <p:spPr>
            <a:xfrm flipH="false" flipV="true" rot="0">
              <a:off x="13130838" y="0"/>
              <a:ext cx="13295346" cy="15501165"/>
            </a:xfrm>
            <a:custGeom>
              <a:avLst/>
              <a:gdLst/>
              <a:ahLst/>
              <a:cxnLst/>
              <a:rect r="r" b="b" t="t" l="l"/>
              <a:pathLst>
                <a:path h="15501165" w="13295346">
                  <a:moveTo>
                    <a:pt x="0" y="15501165"/>
                  </a:moveTo>
                  <a:lnTo>
                    <a:pt x="13295347" y="15501165"/>
                  </a:lnTo>
                  <a:lnTo>
                    <a:pt x="13295347" y="0"/>
                  </a:lnTo>
                  <a:lnTo>
                    <a:pt x="0" y="0"/>
                  </a:lnTo>
                  <a:lnTo>
                    <a:pt x="0" y="15501165"/>
                  </a:lnTo>
                  <a:close/>
                </a:path>
              </a:pathLst>
            </a:custGeom>
            <a:blipFill>
              <a:blip r:embed="rId3"/>
              <a:stretch>
                <a:fillRect l="-12500" t="0" r="-12499" b="0"/>
              </a:stretch>
            </a:blipFill>
          </p:spPr>
        </p:sp>
      </p:grpSp>
      <p:sp>
        <p:nvSpPr>
          <p:cNvPr name="TextBox 9" id="9"/>
          <p:cNvSpPr txBox="true"/>
          <p:nvPr/>
        </p:nvSpPr>
        <p:spPr>
          <a:xfrm rot="0">
            <a:off x="7606780" y="9420297"/>
            <a:ext cx="3074441" cy="570402"/>
          </a:xfrm>
          <a:prstGeom prst="rect">
            <a:avLst/>
          </a:prstGeom>
        </p:spPr>
        <p:txBody>
          <a:bodyPr anchor="t" rtlCol="false" tIns="0" lIns="0" bIns="0" rIns="0">
            <a:spAutoFit/>
          </a:bodyPr>
          <a:lstStyle/>
          <a:p>
            <a:pPr algn="ctr">
              <a:lnSpc>
                <a:spcPts val="4785"/>
              </a:lnSpc>
              <a:spcBef>
                <a:spcPct val="0"/>
              </a:spcBef>
            </a:pPr>
            <a:r>
              <a:rPr lang="en-US" b="true" sz="3418">
                <a:solidFill>
                  <a:srgbClr val="104579"/>
                </a:solidFill>
                <a:latin typeface="Amaranth Bold"/>
                <a:ea typeface="Amaranth Bold"/>
                <a:cs typeface="Amaranth Bold"/>
                <a:sym typeface="Amaranth Bold"/>
              </a:rPr>
              <a:t>01</a:t>
            </a:r>
          </a:p>
        </p:txBody>
      </p:sp>
      <p:grpSp>
        <p:nvGrpSpPr>
          <p:cNvPr name="Group 10" id="10"/>
          <p:cNvGrpSpPr/>
          <p:nvPr/>
        </p:nvGrpSpPr>
        <p:grpSpPr>
          <a:xfrm rot="0">
            <a:off x="5943394" y="3083844"/>
            <a:ext cx="686864" cy="686864"/>
            <a:chOff x="0" y="0"/>
            <a:chExt cx="812800" cy="812800"/>
          </a:xfrm>
        </p:grpSpPr>
        <p:sp>
          <p:nvSpPr>
            <p:cNvPr name="Freeform 11" id="1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104579"/>
              </a:solidFill>
              <a:prstDash val="solid"/>
              <a:miter/>
            </a:ln>
          </p:spPr>
        </p:sp>
        <p:sp>
          <p:nvSpPr>
            <p:cNvPr name="TextBox 12" id="12"/>
            <p:cNvSpPr txBox="true"/>
            <p:nvPr/>
          </p:nvSpPr>
          <p:spPr>
            <a:xfrm>
              <a:off x="76200" y="19050"/>
              <a:ext cx="660400" cy="717550"/>
            </a:xfrm>
            <a:prstGeom prst="rect">
              <a:avLst/>
            </a:prstGeom>
          </p:spPr>
          <p:txBody>
            <a:bodyPr anchor="ctr" rtlCol="false" tIns="50800" lIns="50800" bIns="50800" rIns="50800"/>
            <a:lstStyle/>
            <a:p>
              <a:pPr algn="ctr">
                <a:lnSpc>
                  <a:spcPts val="3525"/>
                </a:lnSpc>
              </a:pPr>
            </a:p>
          </p:txBody>
        </p:sp>
      </p:grpSp>
      <p:sp>
        <p:nvSpPr>
          <p:cNvPr name="TextBox 13" id="13"/>
          <p:cNvSpPr txBox="true"/>
          <p:nvPr/>
        </p:nvSpPr>
        <p:spPr>
          <a:xfrm rot="0">
            <a:off x="6223106" y="1548657"/>
            <a:ext cx="5841788" cy="669925"/>
          </a:xfrm>
          <a:prstGeom prst="rect">
            <a:avLst/>
          </a:prstGeom>
        </p:spPr>
        <p:txBody>
          <a:bodyPr anchor="t" rtlCol="false" tIns="0" lIns="0" bIns="0" rIns="0">
            <a:spAutoFit/>
          </a:bodyPr>
          <a:lstStyle/>
          <a:p>
            <a:pPr algn="ctr">
              <a:lnSpc>
                <a:spcPts val="5599"/>
              </a:lnSpc>
              <a:spcBef>
                <a:spcPct val="0"/>
              </a:spcBef>
            </a:pPr>
            <a:r>
              <a:rPr lang="en-US" b="true" sz="3999">
                <a:solidFill>
                  <a:srgbClr val="104579"/>
                </a:solidFill>
                <a:latin typeface="Garet Bold"/>
                <a:ea typeface="Garet Bold"/>
                <a:cs typeface="Garet Bold"/>
                <a:sym typeface="Garet Bold"/>
              </a:rPr>
              <a:t>NỘI DUNG TRÌNH BÀY</a:t>
            </a:r>
          </a:p>
        </p:txBody>
      </p:sp>
      <p:grpSp>
        <p:nvGrpSpPr>
          <p:cNvPr name="Group 14" id="14"/>
          <p:cNvGrpSpPr/>
          <p:nvPr/>
        </p:nvGrpSpPr>
        <p:grpSpPr>
          <a:xfrm rot="0">
            <a:off x="5943394" y="4092216"/>
            <a:ext cx="686864" cy="686864"/>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104579"/>
              </a:solidFill>
              <a:prstDash val="solid"/>
              <a:miter/>
            </a:ln>
          </p:spPr>
        </p:sp>
        <p:sp>
          <p:nvSpPr>
            <p:cNvPr name="TextBox 16" id="16"/>
            <p:cNvSpPr txBox="true"/>
            <p:nvPr/>
          </p:nvSpPr>
          <p:spPr>
            <a:xfrm>
              <a:off x="76200" y="19050"/>
              <a:ext cx="660400" cy="717550"/>
            </a:xfrm>
            <a:prstGeom prst="rect">
              <a:avLst/>
            </a:prstGeom>
          </p:spPr>
          <p:txBody>
            <a:bodyPr anchor="ctr" rtlCol="false" tIns="50800" lIns="50800" bIns="50800" rIns="50800"/>
            <a:lstStyle/>
            <a:p>
              <a:pPr algn="ctr">
                <a:lnSpc>
                  <a:spcPts val="3525"/>
                </a:lnSpc>
              </a:pPr>
            </a:p>
          </p:txBody>
        </p:sp>
      </p:grpSp>
      <p:grpSp>
        <p:nvGrpSpPr>
          <p:cNvPr name="Group 17" id="17"/>
          <p:cNvGrpSpPr/>
          <p:nvPr/>
        </p:nvGrpSpPr>
        <p:grpSpPr>
          <a:xfrm rot="0">
            <a:off x="5943394" y="5100588"/>
            <a:ext cx="686864" cy="686864"/>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104579"/>
              </a:solidFill>
              <a:prstDash val="solid"/>
              <a:miter/>
            </a:ln>
          </p:spPr>
        </p:sp>
        <p:sp>
          <p:nvSpPr>
            <p:cNvPr name="TextBox 19" id="19"/>
            <p:cNvSpPr txBox="true"/>
            <p:nvPr/>
          </p:nvSpPr>
          <p:spPr>
            <a:xfrm>
              <a:off x="76200" y="19050"/>
              <a:ext cx="660400" cy="717550"/>
            </a:xfrm>
            <a:prstGeom prst="rect">
              <a:avLst/>
            </a:prstGeom>
          </p:spPr>
          <p:txBody>
            <a:bodyPr anchor="ctr" rtlCol="false" tIns="50800" lIns="50800" bIns="50800" rIns="50800"/>
            <a:lstStyle/>
            <a:p>
              <a:pPr algn="ctr">
                <a:lnSpc>
                  <a:spcPts val="3525"/>
                </a:lnSpc>
              </a:pPr>
            </a:p>
          </p:txBody>
        </p:sp>
      </p:grpSp>
      <p:grpSp>
        <p:nvGrpSpPr>
          <p:cNvPr name="Group 20" id="20"/>
          <p:cNvGrpSpPr/>
          <p:nvPr/>
        </p:nvGrpSpPr>
        <p:grpSpPr>
          <a:xfrm rot="0">
            <a:off x="5943394" y="6108959"/>
            <a:ext cx="686864" cy="686864"/>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104579"/>
              </a:solidFill>
              <a:prstDash val="solid"/>
              <a:miter/>
            </a:ln>
          </p:spPr>
        </p:sp>
        <p:sp>
          <p:nvSpPr>
            <p:cNvPr name="TextBox 22" id="22"/>
            <p:cNvSpPr txBox="true"/>
            <p:nvPr/>
          </p:nvSpPr>
          <p:spPr>
            <a:xfrm>
              <a:off x="76200" y="19050"/>
              <a:ext cx="660400" cy="717550"/>
            </a:xfrm>
            <a:prstGeom prst="rect">
              <a:avLst/>
            </a:prstGeom>
          </p:spPr>
          <p:txBody>
            <a:bodyPr anchor="ctr" rtlCol="false" tIns="50800" lIns="50800" bIns="50800" rIns="50800"/>
            <a:lstStyle/>
            <a:p>
              <a:pPr algn="ctr">
                <a:lnSpc>
                  <a:spcPts val="3525"/>
                </a:lnSpc>
              </a:pPr>
            </a:p>
          </p:txBody>
        </p:sp>
      </p:grpSp>
      <p:grpSp>
        <p:nvGrpSpPr>
          <p:cNvPr name="Group 23" id="23"/>
          <p:cNvGrpSpPr/>
          <p:nvPr/>
        </p:nvGrpSpPr>
        <p:grpSpPr>
          <a:xfrm rot="0">
            <a:off x="5943394" y="7117331"/>
            <a:ext cx="686864" cy="686864"/>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38100" cap="sq">
              <a:solidFill>
                <a:srgbClr val="104579"/>
              </a:solidFill>
              <a:prstDash val="solid"/>
              <a:miter/>
            </a:ln>
          </p:spPr>
        </p:sp>
        <p:sp>
          <p:nvSpPr>
            <p:cNvPr name="TextBox 25" id="25"/>
            <p:cNvSpPr txBox="true"/>
            <p:nvPr/>
          </p:nvSpPr>
          <p:spPr>
            <a:xfrm>
              <a:off x="76200" y="19050"/>
              <a:ext cx="660400" cy="717550"/>
            </a:xfrm>
            <a:prstGeom prst="rect">
              <a:avLst/>
            </a:prstGeom>
          </p:spPr>
          <p:txBody>
            <a:bodyPr anchor="ctr" rtlCol="false" tIns="50800" lIns="50800" bIns="50800" rIns="50800"/>
            <a:lstStyle/>
            <a:p>
              <a:pPr algn="ctr">
                <a:lnSpc>
                  <a:spcPts val="3525"/>
                </a:lnSpc>
              </a:pPr>
            </a:p>
          </p:txBody>
        </p:sp>
      </p:grpSp>
      <p:sp>
        <p:nvSpPr>
          <p:cNvPr name="TextBox 26" id="26"/>
          <p:cNvSpPr txBox="true"/>
          <p:nvPr/>
        </p:nvSpPr>
        <p:spPr>
          <a:xfrm rot="0">
            <a:off x="5416538" y="3171965"/>
            <a:ext cx="1740575" cy="480667"/>
          </a:xfrm>
          <a:prstGeom prst="rect">
            <a:avLst/>
          </a:prstGeom>
        </p:spPr>
        <p:txBody>
          <a:bodyPr anchor="t" rtlCol="false" tIns="0" lIns="0" bIns="0" rIns="0">
            <a:spAutoFit/>
          </a:bodyPr>
          <a:lstStyle/>
          <a:p>
            <a:pPr algn="ctr">
              <a:lnSpc>
                <a:spcPts val="3956"/>
              </a:lnSpc>
              <a:spcBef>
                <a:spcPct val="0"/>
              </a:spcBef>
            </a:pPr>
            <a:r>
              <a:rPr lang="en-US" sz="2826">
                <a:solidFill>
                  <a:srgbClr val="104579"/>
                </a:solidFill>
                <a:latin typeface="Garet"/>
                <a:ea typeface="Garet"/>
                <a:cs typeface="Garet"/>
                <a:sym typeface="Garet"/>
              </a:rPr>
              <a:t>1</a:t>
            </a:r>
          </a:p>
        </p:txBody>
      </p:sp>
      <p:sp>
        <p:nvSpPr>
          <p:cNvPr name="TextBox 27" id="27"/>
          <p:cNvSpPr txBox="true"/>
          <p:nvPr/>
        </p:nvSpPr>
        <p:spPr>
          <a:xfrm rot="0">
            <a:off x="5416538" y="4189862"/>
            <a:ext cx="1740575" cy="454632"/>
          </a:xfrm>
          <a:prstGeom prst="rect">
            <a:avLst/>
          </a:prstGeom>
        </p:spPr>
        <p:txBody>
          <a:bodyPr anchor="t" rtlCol="false" tIns="0" lIns="0" bIns="0" rIns="0">
            <a:spAutoFit/>
          </a:bodyPr>
          <a:lstStyle/>
          <a:p>
            <a:pPr algn="ctr">
              <a:lnSpc>
                <a:spcPts val="3816"/>
              </a:lnSpc>
              <a:spcBef>
                <a:spcPct val="0"/>
              </a:spcBef>
            </a:pPr>
            <a:r>
              <a:rPr lang="en-US" sz="2726">
                <a:solidFill>
                  <a:srgbClr val="104579"/>
                </a:solidFill>
                <a:latin typeface="Garet"/>
                <a:ea typeface="Garet"/>
                <a:cs typeface="Garet"/>
                <a:sym typeface="Garet"/>
              </a:rPr>
              <a:t>2</a:t>
            </a:r>
          </a:p>
        </p:txBody>
      </p:sp>
      <p:sp>
        <p:nvSpPr>
          <p:cNvPr name="TextBox 28" id="28"/>
          <p:cNvSpPr txBox="true"/>
          <p:nvPr/>
        </p:nvSpPr>
        <p:spPr>
          <a:xfrm rot="0">
            <a:off x="5416538" y="5198233"/>
            <a:ext cx="1740575" cy="454632"/>
          </a:xfrm>
          <a:prstGeom prst="rect">
            <a:avLst/>
          </a:prstGeom>
        </p:spPr>
        <p:txBody>
          <a:bodyPr anchor="t" rtlCol="false" tIns="0" lIns="0" bIns="0" rIns="0">
            <a:spAutoFit/>
          </a:bodyPr>
          <a:lstStyle/>
          <a:p>
            <a:pPr algn="ctr">
              <a:lnSpc>
                <a:spcPts val="3816"/>
              </a:lnSpc>
              <a:spcBef>
                <a:spcPct val="0"/>
              </a:spcBef>
            </a:pPr>
            <a:r>
              <a:rPr lang="en-US" sz="2726">
                <a:solidFill>
                  <a:srgbClr val="104579"/>
                </a:solidFill>
                <a:latin typeface="Garet"/>
                <a:ea typeface="Garet"/>
                <a:cs typeface="Garet"/>
                <a:sym typeface="Garet"/>
              </a:rPr>
              <a:t>3</a:t>
            </a:r>
          </a:p>
        </p:txBody>
      </p:sp>
      <p:sp>
        <p:nvSpPr>
          <p:cNvPr name="TextBox 29" id="29"/>
          <p:cNvSpPr txBox="true"/>
          <p:nvPr/>
        </p:nvSpPr>
        <p:spPr>
          <a:xfrm rot="0">
            <a:off x="5416538" y="6206605"/>
            <a:ext cx="1740575" cy="454632"/>
          </a:xfrm>
          <a:prstGeom prst="rect">
            <a:avLst/>
          </a:prstGeom>
        </p:spPr>
        <p:txBody>
          <a:bodyPr anchor="t" rtlCol="false" tIns="0" lIns="0" bIns="0" rIns="0">
            <a:spAutoFit/>
          </a:bodyPr>
          <a:lstStyle/>
          <a:p>
            <a:pPr algn="ctr">
              <a:lnSpc>
                <a:spcPts val="3816"/>
              </a:lnSpc>
              <a:spcBef>
                <a:spcPct val="0"/>
              </a:spcBef>
            </a:pPr>
            <a:r>
              <a:rPr lang="en-US" sz="2726">
                <a:solidFill>
                  <a:srgbClr val="104579"/>
                </a:solidFill>
                <a:latin typeface="Garet"/>
                <a:ea typeface="Garet"/>
                <a:cs typeface="Garet"/>
                <a:sym typeface="Garet"/>
              </a:rPr>
              <a:t>4</a:t>
            </a:r>
          </a:p>
        </p:txBody>
      </p:sp>
      <p:sp>
        <p:nvSpPr>
          <p:cNvPr name="TextBox 30" id="30"/>
          <p:cNvSpPr txBox="true"/>
          <p:nvPr/>
        </p:nvSpPr>
        <p:spPr>
          <a:xfrm rot="0">
            <a:off x="5416538" y="7214977"/>
            <a:ext cx="1740575" cy="454632"/>
          </a:xfrm>
          <a:prstGeom prst="rect">
            <a:avLst/>
          </a:prstGeom>
        </p:spPr>
        <p:txBody>
          <a:bodyPr anchor="t" rtlCol="false" tIns="0" lIns="0" bIns="0" rIns="0">
            <a:spAutoFit/>
          </a:bodyPr>
          <a:lstStyle/>
          <a:p>
            <a:pPr algn="ctr">
              <a:lnSpc>
                <a:spcPts val="3816"/>
              </a:lnSpc>
              <a:spcBef>
                <a:spcPct val="0"/>
              </a:spcBef>
            </a:pPr>
            <a:r>
              <a:rPr lang="en-US" sz="2726">
                <a:solidFill>
                  <a:srgbClr val="104579"/>
                </a:solidFill>
                <a:latin typeface="Garet"/>
                <a:ea typeface="Garet"/>
                <a:cs typeface="Garet"/>
                <a:sym typeface="Garet"/>
              </a:rPr>
              <a:t>5</a:t>
            </a:r>
          </a:p>
        </p:txBody>
      </p:sp>
      <p:sp>
        <p:nvSpPr>
          <p:cNvPr name="TextBox 31" id="31"/>
          <p:cNvSpPr txBox="true"/>
          <p:nvPr/>
        </p:nvSpPr>
        <p:spPr>
          <a:xfrm rot="0">
            <a:off x="6905279" y="3171965"/>
            <a:ext cx="5209198" cy="514350"/>
          </a:xfrm>
          <a:prstGeom prst="rect">
            <a:avLst/>
          </a:prstGeom>
        </p:spPr>
        <p:txBody>
          <a:bodyPr anchor="t" rtlCol="false" tIns="0" lIns="0" bIns="0" rIns="0">
            <a:spAutoFit/>
          </a:bodyPr>
          <a:lstStyle/>
          <a:p>
            <a:pPr algn="l">
              <a:lnSpc>
                <a:spcPts val="4200"/>
              </a:lnSpc>
              <a:spcBef>
                <a:spcPct val="0"/>
              </a:spcBef>
            </a:pPr>
            <a:r>
              <a:rPr lang="en-US" sz="3000" b="true">
                <a:solidFill>
                  <a:srgbClr val="104579"/>
                </a:solidFill>
                <a:latin typeface="Garet Bold"/>
                <a:ea typeface="Garet Bold"/>
                <a:cs typeface="Garet Bold"/>
                <a:sym typeface="Garet Bold"/>
              </a:rPr>
              <a:t>Giới Thiệu Đề Tài</a:t>
            </a:r>
          </a:p>
        </p:txBody>
      </p:sp>
      <p:sp>
        <p:nvSpPr>
          <p:cNvPr name="TextBox 32" id="32"/>
          <p:cNvSpPr txBox="true"/>
          <p:nvPr/>
        </p:nvSpPr>
        <p:spPr>
          <a:xfrm rot="0">
            <a:off x="6905279" y="4172631"/>
            <a:ext cx="4291878" cy="514350"/>
          </a:xfrm>
          <a:prstGeom prst="rect">
            <a:avLst/>
          </a:prstGeom>
        </p:spPr>
        <p:txBody>
          <a:bodyPr anchor="t" rtlCol="false" tIns="0" lIns="0" bIns="0" rIns="0">
            <a:spAutoFit/>
          </a:bodyPr>
          <a:lstStyle/>
          <a:p>
            <a:pPr algn="l">
              <a:lnSpc>
                <a:spcPts val="4200"/>
              </a:lnSpc>
              <a:spcBef>
                <a:spcPct val="0"/>
              </a:spcBef>
            </a:pPr>
            <a:r>
              <a:rPr lang="en-US" sz="3000" b="true">
                <a:solidFill>
                  <a:srgbClr val="104579"/>
                </a:solidFill>
                <a:latin typeface="Garet Bold"/>
                <a:ea typeface="Garet Bold"/>
                <a:cs typeface="Garet Bold"/>
                <a:sym typeface="Garet Bold"/>
              </a:rPr>
              <a:t>Bộ dữ liệu</a:t>
            </a:r>
          </a:p>
        </p:txBody>
      </p:sp>
      <p:sp>
        <p:nvSpPr>
          <p:cNvPr name="TextBox 33" id="33"/>
          <p:cNvSpPr txBox="true"/>
          <p:nvPr/>
        </p:nvSpPr>
        <p:spPr>
          <a:xfrm rot="0">
            <a:off x="6905279" y="5187424"/>
            <a:ext cx="4660793" cy="514350"/>
          </a:xfrm>
          <a:prstGeom prst="rect">
            <a:avLst/>
          </a:prstGeom>
        </p:spPr>
        <p:txBody>
          <a:bodyPr anchor="t" rtlCol="false" tIns="0" lIns="0" bIns="0" rIns="0">
            <a:spAutoFit/>
          </a:bodyPr>
          <a:lstStyle/>
          <a:p>
            <a:pPr algn="l">
              <a:lnSpc>
                <a:spcPts val="4200"/>
              </a:lnSpc>
              <a:spcBef>
                <a:spcPct val="0"/>
              </a:spcBef>
            </a:pPr>
            <a:r>
              <a:rPr lang="en-US" sz="3000" b="true">
                <a:solidFill>
                  <a:srgbClr val="104579"/>
                </a:solidFill>
                <a:latin typeface="Garet Bold"/>
                <a:ea typeface="Garet Bold"/>
                <a:cs typeface="Garet Bold"/>
                <a:sym typeface="Garet Bold"/>
              </a:rPr>
              <a:t>Phương pháp đề xuất</a:t>
            </a:r>
          </a:p>
        </p:txBody>
      </p:sp>
      <p:sp>
        <p:nvSpPr>
          <p:cNvPr name="TextBox 34" id="34"/>
          <p:cNvSpPr txBox="true"/>
          <p:nvPr/>
        </p:nvSpPr>
        <p:spPr>
          <a:xfrm rot="0">
            <a:off x="6905279" y="6188161"/>
            <a:ext cx="4774305" cy="514350"/>
          </a:xfrm>
          <a:prstGeom prst="rect">
            <a:avLst/>
          </a:prstGeom>
        </p:spPr>
        <p:txBody>
          <a:bodyPr anchor="t" rtlCol="false" tIns="0" lIns="0" bIns="0" rIns="0">
            <a:spAutoFit/>
          </a:bodyPr>
          <a:lstStyle/>
          <a:p>
            <a:pPr algn="l">
              <a:lnSpc>
                <a:spcPts val="4200"/>
              </a:lnSpc>
              <a:spcBef>
                <a:spcPct val="0"/>
              </a:spcBef>
            </a:pPr>
            <a:r>
              <a:rPr lang="en-US" sz="3000" b="true">
                <a:solidFill>
                  <a:srgbClr val="104579"/>
                </a:solidFill>
                <a:latin typeface="Garet Bold"/>
                <a:ea typeface="Garet Bold"/>
                <a:cs typeface="Garet Bold"/>
                <a:sym typeface="Garet Bold"/>
              </a:rPr>
              <a:t>Thực nghiệm và kết quả</a:t>
            </a:r>
          </a:p>
        </p:txBody>
      </p:sp>
      <p:sp>
        <p:nvSpPr>
          <p:cNvPr name="TextBox 35" id="35"/>
          <p:cNvSpPr txBox="true"/>
          <p:nvPr/>
        </p:nvSpPr>
        <p:spPr>
          <a:xfrm rot="0">
            <a:off x="6905279" y="7188898"/>
            <a:ext cx="5966183" cy="514350"/>
          </a:xfrm>
          <a:prstGeom prst="rect">
            <a:avLst/>
          </a:prstGeom>
        </p:spPr>
        <p:txBody>
          <a:bodyPr anchor="t" rtlCol="false" tIns="0" lIns="0" bIns="0" rIns="0">
            <a:spAutoFit/>
          </a:bodyPr>
          <a:lstStyle/>
          <a:p>
            <a:pPr algn="l">
              <a:lnSpc>
                <a:spcPts val="4200"/>
              </a:lnSpc>
              <a:spcBef>
                <a:spcPct val="0"/>
              </a:spcBef>
            </a:pPr>
            <a:r>
              <a:rPr lang="en-US" sz="3000" b="true">
                <a:solidFill>
                  <a:srgbClr val="104579"/>
                </a:solidFill>
                <a:latin typeface="Garet Bold"/>
                <a:ea typeface="Garet Bold"/>
                <a:cs typeface="Garet Bold"/>
                <a:sym typeface="Garet Bold"/>
              </a:rPr>
              <a:t>Kết luận và hướng phát triển</a:t>
            </a:r>
          </a:p>
        </p:txBody>
      </p:sp>
    </p:spTree>
  </p:cSld>
  <p:clrMapOvr>
    <a:masterClrMapping/>
  </p:clrMapOvr>
  <p:transition spd="fast">
    <p:fade/>
  </p:transition>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83287" y="-1338874"/>
            <a:ext cx="19819639" cy="12900629"/>
            <a:chOff x="0" y="0"/>
            <a:chExt cx="26426185" cy="17200838"/>
          </a:xfrm>
        </p:grpSpPr>
        <p:sp>
          <p:nvSpPr>
            <p:cNvPr name="Freeform 3" id="3"/>
            <p:cNvSpPr/>
            <p:nvPr/>
          </p:nvSpPr>
          <p:spPr>
            <a:xfrm flipH="false" flipV="false" rot="0">
              <a:off x="0" y="1785165"/>
              <a:ext cx="24895049" cy="14191553"/>
            </a:xfrm>
            <a:custGeom>
              <a:avLst/>
              <a:gdLst/>
              <a:ahLst/>
              <a:cxnLst/>
              <a:rect r="r" b="b" t="t" l="l"/>
              <a:pathLst>
                <a:path h="14191553" w="24895049">
                  <a:moveTo>
                    <a:pt x="0" y="0"/>
                  </a:moveTo>
                  <a:lnTo>
                    <a:pt x="24895049" y="0"/>
                  </a:lnTo>
                  <a:lnTo>
                    <a:pt x="24895049" y="14191554"/>
                  </a:lnTo>
                  <a:lnTo>
                    <a:pt x="0" y="14191554"/>
                  </a:lnTo>
                  <a:lnTo>
                    <a:pt x="0" y="0"/>
                  </a:lnTo>
                  <a:close/>
                </a:path>
              </a:pathLst>
            </a:custGeom>
            <a:blipFill>
              <a:blip r:embed="rId2"/>
              <a:stretch>
                <a:fillRect l="-4939" t="-11172" r="-7311" b="0"/>
              </a:stretch>
            </a:blipFill>
          </p:spPr>
        </p:sp>
        <p:sp>
          <p:nvSpPr>
            <p:cNvPr name="Freeform 4" id="4"/>
            <p:cNvSpPr/>
            <p:nvPr/>
          </p:nvSpPr>
          <p:spPr>
            <a:xfrm flipH="true" flipV="false" rot="0">
              <a:off x="511049" y="1785165"/>
              <a:ext cx="13222020" cy="15415673"/>
            </a:xfrm>
            <a:custGeom>
              <a:avLst/>
              <a:gdLst/>
              <a:ahLst/>
              <a:cxnLst/>
              <a:rect r="r" b="b" t="t" l="l"/>
              <a:pathLst>
                <a:path h="15415673" w="13222020">
                  <a:moveTo>
                    <a:pt x="13222020" y="0"/>
                  </a:moveTo>
                  <a:lnTo>
                    <a:pt x="0" y="0"/>
                  </a:lnTo>
                  <a:lnTo>
                    <a:pt x="0" y="15415673"/>
                  </a:lnTo>
                  <a:lnTo>
                    <a:pt x="13222020" y="15415673"/>
                  </a:lnTo>
                  <a:lnTo>
                    <a:pt x="13222020" y="0"/>
                  </a:lnTo>
                  <a:close/>
                </a:path>
              </a:pathLst>
            </a:custGeom>
            <a:blipFill>
              <a:blip r:embed="rId3"/>
              <a:stretch>
                <a:fillRect l="-12500" t="0" r="-12499" b="0"/>
              </a:stretch>
            </a:blipFill>
          </p:spPr>
        </p:sp>
        <p:grpSp>
          <p:nvGrpSpPr>
            <p:cNvPr name="Group 5" id="5"/>
            <p:cNvGrpSpPr/>
            <p:nvPr/>
          </p:nvGrpSpPr>
          <p:grpSpPr>
            <a:xfrm rot="0">
              <a:off x="1882649" y="3156765"/>
              <a:ext cx="21324463" cy="10972800"/>
              <a:chOff x="0" y="0"/>
              <a:chExt cx="4212240" cy="2167467"/>
            </a:xfrm>
          </p:grpSpPr>
          <p:sp>
            <p:nvSpPr>
              <p:cNvPr name="Freeform 6" id="6"/>
              <p:cNvSpPr/>
              <p:nvPr/>
            </p:nvSpPr>
            <p:spPr>
              <a:xfrm flipH="false" flipV="false" rot="0">
                <a:off x="0" y="0"/>
                <a:ext cx="4212239" cy="2167467"/>
              </a:xfrm>
              <a:custGeom>
                <a:avLst/>
                <a:gdLst/>
                <a:ahLst/>
                <a:cxnLst/>
                <a:rect r="r" b="b" t="t" l="l"/>
                <a:pathLst>
                  <a:path h="2167467" w="4212239">
                    <a:moveTo>
                      <a:pt x="36789" y="0"/>
                    </a:moveTo>
                    <a:lnTo>
                      <a:pt x="4175450" y="0"/>
                    </a:lnTo>
                    <a:cubicBezTo>
                      <a:pt x="4185207" y="0"/>
                      <a:pt x="4194565" y="3876"/>
                      <a:pt x="4201464" y="10775"/>
                    </a:cubicBezTo>
                    <a:cubicBezTo>
                      <a:pt x="4208363" y="17675"/>
                      <a:pt x="4212239" y="27032"/>
                      <a:pt x="4212239" y="36789"/>
                    </a:cubicBezTo>
                    <a:lnTo>
                      <a:pt x="4212239" y="2130677"/>
                    </a:lnTo>
                    <a:cubicBezTo>
                      <a:pt x="4212239" y="2150996"/>
                      <a:pt x="4195768" y="2167467"/>
                      <a:pt x="4175450" y="2167467"/>
                    </a:cubicBezTo>
                    <a:lnTo>
                      <a:pt x="36789" y="2167467"/>
                    </a:lnTo>
                    <a:cubicBezTo>
                      <a:pt x="27032" y="2167467"/>
                      <a:pt x="17675" y="2163591"/>
                      <a:pt x="10775" y="2156691"/>
                    </a:cubicBezTo>
                    <a:cubicBezTo>
                      <a:pt x="3876" y="2149792"/>
                      <a:pt x="0" y="2140434"/>
                      <a:pt x="0" y="2130677"/>
                    </a:cubicBezTo>
                    <a:lnTo>
                      <a:pt x="0" y="36789"/>
                    </a:lnTo>
                    <a:cubicBezTo>
                      <a:pt x="0" y="27032"/>
                      <a:pt x="3876" y="17675"/>
                      <a:pt x="10775" y="10775"/>
                    </a:cubicBezTo>
                    <a:cubicBezTo>
                      <a:pt x="17675" y="3876"/>
                      <a:pt x="27032" y="0"/>
                      <a:pt x="36789" y="0"/>
                    </a:cubicBezTo>
                    <a:close/>
                  </a:path>
                </a:pathLst>
              </a:custGeom>
              <a:solidFill>
                <a:srgbClr val="FFFFFF">
                  <a:alpha val="60784"/>
                </a:srgbClr>
              </a:solidFill>
              <a:ln w="38100" cap="rnd">
                <a:solidFill>
                  <a:srgbClr val="2D8BBA">
                    <a:alpha val="60784"/>
                  </a:srgbClr>
                </a:solidFill>
                <a:prstDash val="solid"/>
                <a:round/>
              </a:ln>
            </p:spPr>
          </p:sp>
          <p:sp>
            <p:nvSpPr>
              <p:cNvPr name="TextBox 7" id="7"/>
              <p:cNvSpPr txBox="true"/>
              <p:nvPr/>
            </p:nvSpPr>
            <p:spPr>
              <a:xfrm>
                <a:off x="0" y="-47625"/>
                <a:ext cx="4212240" cy="2215092"/>
              </a:xfrm>
              <a:prstGeom prst="rect">
                <a:avLst/>
              </a:prstGeom>
            </p:spPr>
            <p:txBody>
              <a:bodyPr anchor="ctr" rtlCol="false" tIns="50800" lIns="50800" bIns="50800" rIns="50800"/>
              <a:lstStyle/>
              <a:p>
                <a:pPr algn="ctr">
                  <a:lnSpc>
                    <a:spcPts val="3525"/>
                  </a:lnSpc>
                </a:pPr>
              </a:p>
            </p:txBody>
          </p:sp>
        </p:grpSp>
        <p:sp>
          <p:nvSpPr>
            <p:cNvPr name="Freeform 8" id="8"/>
            <p:cNvSpPr/>
            <p:nvPr/>
          </p:nvSpPr>
          <p:spPr>
            <a:xfrm flipH="false" flipV="true" rot="0">
              <a:off x="13130838" y="0"/>
              <a:ext cx="13295346" cy="15501165"/>
            </a:xfrm>
            <a:custGeom>
              <a:avLst/>
              <a:gdLst/>
              <a:ahLst/>
              <a:cxnLst/>
              <a:rect r="r" b="b" t="t" l="l"/>
              <a:pathLst>
                <a:path h="15501165" w="13295346">
                  <a:moveTo>
                    <a:pt x="0" y="15501165"/>
                  </a:moveTo>
                  <a:lnTo>
                    <a:pt x="13295347" y="15501165"/>
                  </a:lnTo>
                  <a:lnTo>
                    <a:pt x="13295347" y="0"/>
                  </a:lnTo>
                  <a:lnTo>
                    <a:pt x="0" y="0"/>
                  </a:lnTo>
                  <a:lnTo>
                    <a:pt x="0" y="15501165"/>
                  </a:lnTo>
                  <a:close/>
                </a:path>
              </a:pathLst>
            </a:custGeom>
            <a:blipFill>
              <a:blip r:embed="rId3"/>
              <a:stretch>
                <a:fillRect l="-12500" t="0" r="-12499" b="0"/>
              </a:stretch>
            </a:blipFill>
          </p:spPr>
        </p:sp>
      </p:grpSp>
      <p:sp>
        <p:nvSpPr>
          <p:cNvPr name="TextBox 9" id="9"/>
          <p:cNvSpPr txBox="true"/>
          <p:nvPr/>
        </p:nvSpPr>
        <p:spPr>
          <a:xfrm rot="0">
            <a:off x="4416582" y="4466721"/>
            <a:ext cx="9454837" cy="936625"/>
          </a:xfrm>
          <a:prstGeom prst="rect">
            <a:avLst/>
          </a:prstGeom>
        </p:spPr>
        <p:txBody>
          <a:bodyPr anchor="t" rtlCol="false" tIns="0" lIns="0" bIns="0" rIns="0">
            <a:spAutoFit/>
          </a:bodyPr>
          <a:lstStyle/>
          <a:p>
            <a:pPr algn="ctr">
              <a:lnSpc>
                <a:spcPts val="7699"/>
              </a:lnSpc>
              <a:spcBef>
                <a:spcPct val="0"/>
              </a:spcBef>
            </a:pPr>
            <a:r>
              <a:rPr lang="en-US" b="true" sz="5499">
                <a:solidFill>
                  <a:srgbClr val="104579"/>
                </a:solidFill>
                <a:latin typeface="Garet Bold"/>
                <a:ea typeface="Garet Bold"/>
                <a:cs typeface="Garet Bold"/>
                <a:sym typeface="Garet Bold"/>
              </a:rPr>
              <a:t>PHẦN 1. GIỚI THIỆU ĐỀ TÀI</a:t>
            </a:r>
          </a:p>
        </p:txBody>
      </p:sp>
    </p:spTree>
  </p:cSld>
  <p:clrMapOvr>
    <a:masterClrMapping/>
  </p:clrMapOvr>
  <p:transition spd="fast">
    <p:fade/>
  </p:transition>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83287" y="-1338874"/>
            <a:ext cx="19819639" cy="12900629"/>
            <a:chOff x="0" y="0"/>
            <a:chExt cx="26426185" cy="17200838"/>
          </a:xfrm>
        </p:grpSpPr>
        <p:sp>
          <p:nvSpPr>
            <p:cNvPr name="Freeform 3" id="3"/>
            <p:cNvSpPr/>
            <p:nvPr/>
          </p:nvSpPr>
          <p:spPr>
            <a:xfrm flipH="false" flipV="false" rot="0">
              <a:off x="0" y="1785165"/>
              <a:ext cx="24895049" cy="14191553"/>
            </a:xfrm>
            <a:custGeom>
              <a:avLst/>
              <a:gdLst/>
              <a:ahLst/>
              <a:cxnLst/>
              <a:rect r="r" b="b" t="t" l="l"/>
              <a:pathLst>
                <a:path h="14191553" w="24895049">
                  <a:moveTo>
                    <a:pt x="0" y="0"/>
                  </a:moveTo>
                  <a:lnTo>
                    <a:pt x="24895049" y="0"/>
                  </a:lnTo>
                  <a:lnTo>
                    <a:pt x="24895049" y="14191554"/>
                  </a:lnTo>
                  <a:lnTo>
                    <a:pt x="0" y="14191554"/>
                  </a:lnTo>
                  <a:lnTo>
                    <a:pt x="0" y="0"/>
                  </a:lnTo>
                  <a:close/>
                </a:path>
              </a:pathLst>
            </a:custGeom>
            <a:blipFill>
              <a:blip r:embed="rId2"/>
              <a:stretch>
                <a:fillRect l="-4939" t="-11172" r="-7311" b="0"/>
              </a:stretch>
            </a:blipFill>
          </p:spPr>
        </p:sp>
        <p:sp>
          <p:nvSpPr>
            <p:cNvPr name="Freeform 4" id="4"/>
            <p:cNvSpPr/>
            <p:nvPr/>
          </p:nvSpPr>
          <p:spPr>
            <a:xfrm flipH="true" flipV="false" rot="0">
              <a:off x="511049" y="1785165"/>
              <a:ext cx="13222020" cy="15415673"/>
            </a:xfrm>
            <a:custGeom>
              <a:avLst/>
              <a:gdLst/>
              <a:ahLst/>
              <a:cxnLst/>
              <a:rect r="r" b="b" t="t" l="l"/>
              <a:pathLst>
                <a:path h="15415673" w="13222020">
                  <a:moveTo>
                    <a:pt x="13222020" y="0"/>
                  </a:moveTo>
                  <a:lnTo>
                    <a:pt x="0" y="0"/>
                  </a:lnTo>
                  <a:lnTo>
                    <a:pt x="0" y="15415673"/>
                  </a:lnTo>
                  <a:lnTo>
                    <a:pt x="13222020" y="15415673"/>
                  </a:lnTo>
                  <a:lnTo>
                    <a:pt x="13222020" y="0"/>
                  </a:lnTo>
                  <a:close/>
                </a:path>
              </a:pathLst>
            </a:custGeom>
            <a:blipFill>
              <a:blip r:embed="rId3"/>
              <a:stretch>
                <a:fillRect l="-12500" t="0" r="-12499" b="0"/>
              </a:stretch>
            </a:blipFill>
          </p:spPr>
        </p:sp>
        <p:grpSp>
          <p:nvGrpSpPr>
            <p:cNvPr name="Group 5" id="5"/>
            <p:cNvGrpSpPr/>
            <p:nvPr/>
          </p:nvGrpSpPr>
          <p:grpSpPr>
            <a:xfrm rot="0">
              <a:off x="1882649" y="3156765"/>
              <a:ext cx="21324463" cy="10972800"/>
              <a:chOff x="0" y="0"/>
              <a:chExt cx="4212240" cy="2167467"/>
            </a:xfrm>
          </p:grpSpPr>
          <p:sp>
            <p:nvSpPr>
              <p:cNvPr name="Freeform 6" id="6"/>
              <p:cNvSpPr/>
              <p:nvPr/>
            </p:nvSpPr>
            <p:spPr>
              <a:xfrm flipH="false" flipV="false" rot="0">
                <a:off x="0" y="0"/>
                <a:ext cx="4212239" cy="2167467"/>
              </a:xfrm>
              <a:custGeom>
                <a:avLst/>
                <a:gdLst/>
                <a:ahLst/>
                <a:cxnLst/>
                <a:rect r="r" b="b" t="t" l="l"/>
                <a:pathLst>
                  <a:path h="2167467" w="4212239">
                    <a:moveTo>
                      <a:pt x="36789" y="0"/>
                    </a:moveTo>
                    <a:lnTo>
                      <a:pt x="4175450" y="0"/>
                    </a:lnTo>
                    <a:cubicBezTo>
                      <a:pt x="4185207" y="0"/>
                      <a:pt x="4194565" y="3876"/>
                      <a:pt x="4201464" y="10775"/>
                    </a:cubicBezTo>
                    <a:cubicBezTo>
                      <a:pt x="4208363" y="17675"/>
                      <a:pt x="4212239" y="27032"/>
                      <a:pt x="4212239" y="36789"/>
                    </a:cubicBezTo>
                    <a:lnTo>
                      <a:pt x="4212239" y="2130677"/>
                    </a:lnTo>
                    <a:cubicBezTo>
                      <a:pt x="4212239" y="2150996"/>
                      <a:pt x="4195768" y="2167467"/>
                      <a:pt x="4175450" y="2167467"/>
                    </a:cubicBezTo>
                    <a:lnTo>
                      <a:pt x="36789" y="2167467"/>
                    </a:lnTo>
                    <a:cubicBezTo>
                      <a:pt x="27032" y="2167467"/>
                      <a:pt x="17675" y="2163591"/>
                      <a:pt x="10775" y="2156691"/>
                    </a:cubicBezTo>
                    <a:cubicBezTo>
                      <a:pt x="3876" y="2149792"/>
                      <a:pt x="0" y="2140434"/>
                      <a:pt x="0" y="2130677"/>
                    </a:cubicBezTo>
                    <a:lnTo>
                      <a:pt x="0" y="36789"/>
                    </a:lnTo>
                    <a:cubicBezTo>
                      <a:pt x="0" y="27032"/>
                      <a:pt x="3876" y="17675"/>
                      <a:pt x="10775" y="10775"/>
                    </a:cubicBezTo>
                    <a:cubicBezTo>
                      <a:pt x="17675" y="3876"/>
                      <a:pt x="27032" y="0"/>
                      <a:pt x="36789" y="0"/>
                    </a:cubicBezTo>
                    <a:close/>
                  </a:path>
                </a:pathLst>
              </a:custGeom>
              <a:solidFill>
                <a:srgbClr val="FFFFFF">
                  <a:alpha val="60784"/>
                </a:srgbClr>
              </a:solidFill>
              <a:ln w="38100" cap="rnd">
                <a:solidFill>
                  <a:srgbClr val="2D8BBA">
                    <a:alpha val="60784"/>
                  </a:srgbClr>
                </a:solidFill>
                <a:prstDash val="solid"/>
                <a:round/>
              </a:ln>
            </p:spPr>
          </p:sp>
          <p:sp>
            <p:nvSpPr>
              <p:cNvPr name="TextBox 7" id="7"/>
              <p:cNvSpPr txBox="true"/>
              <p:nvPr/>
            </p:nvSpPr>
            <p:spPr>
              <a:xfrm>
                <a:off x="0" y="-47625"/>
                <a:ext cx="4212240" cy="2215092"/>
              </a:xfrm>
              <a:prstGeom prst="rect">
                <a:avLst/>
              </a:prstGeom>
            </p:spPr>
            <p:txBody>
              <a:bodyPr anchor="ctr" rtlCol="false" tIns="50800" lIns="50800" bIns="50800" rIns="50800"/>
              <a:lstStyle/>
              <a:p>
                <a:pPr algn="ctr">
                  <a:lnSpc>
                    <a:spcPts val="3525"/>
                  </a:lnSpc>
                </a:pPr>
              </a:p>
            </p:txBody>
          </p:sp>
        </p:grpSp>
        <p:sp>
          <p:nvSpPr>
            <p:cNvPr name="Freeform 8" id="8"/>
            <p:cNvSpPr/>
            <p:nvPr/>
          </p:nvSpPr>
          <p:spPr>
            <a:xfrm flipH="false" flipV="true" rot="0">
              <a:off x="13130838" y="0"/>
              <a:ext cx="13295346" cy="15501165"/>
            </a:xfrm>
            <a:custGeom>
              <a:avLst/>
              <a:gdLst/>
              <a:ahLst/>
              <a:cxnLst/>
              <a:rect r="r" b="b" t="t" l="l"/>
              <a:pathLst>
                <a:path h="15501165" w="13295346">
                  <a:moveTo>
                    <a:pt x="0" y="15501165"/>
                  </a:moveTo>
                  <a:lnTo>
                    <a:pt x="13295347" y="15501165"/>
                  </a:lnTo>
                  <a:lnTo>
                    <a:pt x="13295347" y="0"/>
                  </a:lnTo>
                  <a:lnTo>
                    <a:pt x="0" y="0"/>
                  </a:lnTo>
                  <a:lnTo>
                    <a:pt x="0" y="15501165"/>
                  </a:lnTo>
                  <a:close/>
                </a:path>
              </a:pathLst>
            </a:custGeom>
            <a:blipFill>
              <a:blip r:embed="rId3"/>
              <a:stretch>
                <a:fillRect l="-12500" t="0" r="-12499" b="0"/>
              </a:stretch>
            </a:blipFill>
          </p:spPr>
        </p:sp>
      </p:grpSp>
      <p:sp>
        <p:nvSpPr>
          <p:cNvPr name="Freeform 9" id="9"/>
          <p:cNvSpPr/>
          <p:nvPr/>
        </p:nvSpPr>
        <p:spPr>
          <a:xfrm flipH="false" flipV="false" rot="0">
            <a:off x="1215995" y="2782019"/>
            <a:ext cx="6877013" cy="5157760"/>
          </a:xfrm>
          <a:custGeom>
            <a:avLst/>
            <a:gdLst/>
            <a:ahLst/>
            <a:cxnLst/>
            <a:rect r="r" b="b" t="t" l="l"/>
            <a:pathLst>
              <a:path h="5157760" w="6877013">
                <a:moveTo>
                  <a:pt x="0" y="0"/>
                </a:moveTo>
                <a:lnTo>
                  <a:pt x="6877013" y="0"/>
                </a:lnTo>
                <a:lnTo>
                  <a:pt x="6877013" y="5157760"/>
                </a:lnTo>
                <a:lnTo>
                  <a:pt x="0" y="5157760"/>
                </a:lnTo>
                <a:lnTo>
                  <a:pt x="0" y="0"/>
                </a:lnTo>
                <a:close/>
              </a:path>
            </a:pathLst>
          </a:custGeom>
          <a:blipFill>
            <a:blip r:embed="rId4"/>
            <a:stretch>
              <a:fillRect l="0" t="0" r="0" b="0"/>
            </a:stretch>
          </a:blipFill>
        </p:spPr>
      </p:sp>
      <p:sp>
        <p:nvSpPr>
          <p:cNvPr name="TextBox 10" id="10"/>
          <p:cNvSpPr txBox="true"/>
          <p:nvPr/>
        </p:nvSpPr>
        <p:spPr>
          <a:xfrm rot="0">
            <a:off x="7606780" y="9420297"/>
            <a:ext cx="3074441" cy="570402"/>
          </a:xfrm>
          <a:prstGeom prst="rect">
            <a:avLst/>
          </a:prstGeom>
        </p:spPr>
        <p:txBody>
          <a:bodyPr anchor="t" rtlCol="false" tIns="0" lIns="0" bIns="0" rIns="0">
            <a:spAutoFit/>
          </a:bodyPr>
          <a:lstStyle/>
          <a:p>
            <a:pPr algn="ctr">
              <a:lnSpc>
                <a:spcPts val="4785"/>
              </a:lnSpc>
              <a:spcBef>
                <a:spcPct val="0"/>
              </a:spcBef>
            </a:pPr>
            <a:r>
              <a:rPr lang="en-US" b="true" sz="3418">
                <a:solidFill>
                  <a:srgbClr val="104579"/>
                </a:solidFill>
                <a:latin typeface="Amaranth Bold"/>
                <a:ea typeface="Amaranth Bold"/>
                <a:cs typeface="Amaranth Bold"/>
                <a:sym typeface="Amaranth Bold"/>
              </a:rPr>
              <a:t>01</a:t>
            </a:r>
          </a:p>
        </p:txBody>
      </p:sp>
      <p:sp>
        <p:nvSpPr>
          <p:cNvPr name="TextBox 11" id="11"/>
          <p:cNvSpPr txBox="true"/>
          <p:nvPr/>
        </p:nvSpPr>
        <p:spPr>
          <a:xfrm rot="0">
            <a:off x="7951118" y="2911069"/>
            <a:ext cx="8744155" cy="4775835"/>
          </a:xfrm>
          <a:prstGeom prst="rect">
            <a:avLst/>
          </a:prstGeom>
        </p:spPr>
        <p:txBody>
          <a:bodyPr anchor="t" rtlCol="false" tIns="0" lIns="0" bIns="0" rIns="0">
            <a:spAutoFit/>
          </a:bodyPr>
          <a:lstStyle/>
          <a:p>
            <a:pPr algn="just" marL="647700" indent="-323850" lvl="1">
              <a:lnSpc>
                <a:spcPts val="4770"/>
              </a:lnSpc>
              <a:buFont typeface="Arial"/>
              <a:buChar char="•"/>
            </a:pPr>
            <a:r>
              <a:rPr lang="en-US" sz="3000" spc="108">
                <a:solidFill>
                  <a:srgbClr val="104579"/>
                </a:solidFill>
                <a:latin typeface="Arimo"/>
                <a:ea typeface="Arimo"/>
                <a:cs typeface="Arimo"/>
                <a:sym typeface="Arimo"/>
              </a:rPr>
              <a:t>Ô nhiễm không khí đang là vấn đề nghiêm trọng tại các đô thị lớn. </a:t>
            </a:r>
          </a:p>
          <a:p>
            <a:pPr algn="just" marL="647700" indent="-323850" lvl="1">
              <a:lnSpc>
                <a:spcPts val="4770"/>
              </a:lnSpc>
              <a:buFont typeface="Arial"/>
              <a:buChar char="•"/>
            </a:pPr>
            <a:r>
              <a:rPr lang="en-US" sz="3000" spc="108">
                <a:solidFill>
                  <a:srgbClr val="104579"/>
                </a:solidFill>
                <a:latin typeface="Arimo"/>
                <a:ea typeface="Arimo"/>
                <a:cs typeface="Arimo"/>
                <a:sym typeface="Arimo"/>
              </a:rPr>
              <a:t>PM2.5 là loại bụi mịn có khả năng xâm nhập sâu vào hệ hô hấp. </a:t>
            </a:r>
          </a:p>
          <a:p>
            <a:pPr algn="just" marL="647700" indent="-323850" lvl="1">
              <a:lnSpc>
                <a:spcPts val="4770"/>
              </a:lnSpc>
              <a:buFont typeface="Arial"/>
              <a:buChar char="•"/>
            </a:pPr>
            <a:r>
              <a:rPr lang="en-US" sz="3000" spc="108">
                <a:solidFill>
                  <a:srgbClr val="104579"/>
                </a:solidFill>
                <a:latin typeface="Arimo"/>
                <a:ea typeface="Arimo"/>
                <a:cs typeface="Arimo"/>
                <a:sym typeface="Arimo"/>
              </a:rPr>
              <a:t>PM2.5 gây ra nhiều bệnh lý nguy hiểm như tim mạch, hô hấp và ung thư phổi. </a:t>
            </a:r>
          </a:p>
          <a:p>
            <a:pPr algn="just" marL="647700" indent="-323850" lvl="1">
              <a:lnSpc>
                <a:spcPts val="4770"/>
              </a:lnSpc>
              <a:buFont typeface="Arial"/>
              <a:buChar char="•"/>
            </a:pPr>
            <a:r>
              <a:rPr lang="en-US" sz="3000" spc="108">
                <a:solidFill>
                  <a:srgbClr val="104579"/>
                </a:solidFill>
                <a:latin typeface="Arimo"/>
                <a:ea typeface="Arimo"/>
                <a:cs typeface="Arimo"/>
                <a:sym typeface="Arimo"/>
              </a:rPr>
              <a:t>TP.HCM thường xuyên ghi nhận nồng độ PM2.5 vượt ngưỡng khuyến nghị.</a:t>
            </a:r>
          </a:p>
        </p:txBody>
      </p:sp>
      <p:sp>
        <p:nvSpPr>
          <p:cNvPr name="TextBox 12" id="12"/>
          <p:cNvSpPr txBox="true"/>
          <p:nvPr/>
        </p:nvSpPr>
        <p:spPr>
          <a:xfrm rot="0">
            <a:off x="7330392" y="1162997"/>
            <a:ext cx="3627217" cy="863600"/>
          </a:xfrm>
          <a:prstGeom prst="rect">
            <a:avLst/>
          </a:prstGeom>
        </p:spPr>
        <p:txBody>
          <a:bodyPr anchor="t" rtlCol="false" tIns="0" lIns="0" bIns="0" rIns="0">
            <a:spAutoFit/>
          </a:bodyPr>
          <a:lstStyle/>
          <a:p>
            <a:pPr algn="ctr">
              <a:lnSpc>
                <a:spcPts val="7000"/>
              </a:lnSpc>
              <a:spcBef>
                <a:spcPct val="0"/>
              </a:spcBef>
            </a:pPr>
            <a:r>
              <a:rPr lang="en-US" b="true" sz="5000">
                <a:solidFill>
                  <a:srgbClr val="104579"/>
                </a:solidFill>
                <a:latin typeface="Garet Bold"/>
                <a:ea typeface="Garet Bold"/>
                <a:cs typeface="Garet Bold"/>
                <a:sym typeface="Garet Bold"/>
              </a:rPr>
              <a:t>BỐI CẢNH</a:t>
            </a:r>
          </a:p>
        </p:txBody>
      </p:sp>
    </p:spTree>
  </p:cSld>
  <p:clrMapOvr>
    <a:masterClrMapping/>
  </p:clrMapOvr>
  <p:transition spd="fast">
    <p:fade/>
  </p:transition>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83287" y="-1338874"/>
            <a:ext cx="19819639" cy="12900629"/>
            <a:chOff x="0" y="0"/>
            <a:chExt cx="26426185" cy="17200838"/>
          </a:xfrm>
        </p:grpSpPr>
        <p:sp>
          <p:nvSpPr>
            <p:cNvPr name="Freeform 3" id="3"/>
            <p:cNvSpPr/>
            <p:nvPr/>
          </p:nvSpPr>
          <p:spPr>
            <a:xfrm flipH="false" flipV="false" rot="0">
              <a:off x="0" y="1785165"/>
              <a:ext cx="24895049" cy="14191553"/>
            </a:xfrm>
            <a:custGeom>
              <a:avLst/>
              <a:gdLst/>
              <a:ahLst/>
              <a:cxnLst/>
              <a:rect r="r" b="b" t="t" l="l"/>
              <a:pathLst>
                <a:path h="14191553" w="24895049">
                  <a:moveTo>
                    <a:pt x="0" y="0"/>
                  </a:moveTo>
                  <a:lnTo>
                    <a:pt x="24895049" y="0"/>
                  </a:lnTo>
                  <a:lnTo>
                    <a:pt x="24895049" y="14191554"/>
                  </a:lnTo>
                  <a:lnTo>
                    <a:pt x="0" y="14191554"/>
                  </a:lnTo>
                  <a:lnTo>
                    <a:pt x="0" y="0"/>
                  </a:lnTo>
                  <a:close/>
                </a:path>
              </a:pathLst>
            </a:custGeom>
            <a:blipFill>
              <a:blip r:embed="rId2"/>
              <a:stretch>
                <a:fillRect l="-4939" t="-11172" r="-7311" b="0"/>
              </a:stretch>
            </a:blipFill>
          </p:spPr>
        </p:sp>
        <p:sp>
          <p:nvSpPr>
            <p:cNvPr name="Freeform 4" id="4"/>
            <p:cNvSpPr/>
            <p:nvPr/>
          </p:nvSpPr>
          <p:spPr>
            <a:xfrm flipH="true" flipV="false" rot="0">
              <a:off x="511049" y="1785165"/>
              <a:ext cx="13222020" cy="15415673"/>
            </a:xfrm>
            <a:custGeom>
              <a:avLst/>
              <a:gdLst/>
              <a:ahLst/>
              <a:cxnLst/>
              <a:rect r="r" b="b" t="t" l="l"/>
              <a:pathLst>
                <a:path h="15415673" w="13222020">
                  <a:moveTo>
                    <a:pt x="13222020" y="0"/>
                  </a:moveTo>
                  <a:lnTo>
                    <a:pt x="0" y="0"/>
                  </a:lnTo>
                  <a:lnTo>
                    <a:pt x="0" y="15415673"/>
                  </a:lnTo>
                  <a:lnTo>
                    <a:pt x="13222020" y="15415673"/>
                  </a:lnTo>
                  <a:lnTo>
                    <a:pt x="13222020" y="0"/>
                  </a:lnTo>
                  <a:close/>
                </a:path>
              </a:pathLst>
            </a:custGeom>
            <a:blipFill>
              <a:blip r:embed="rId3"/>
              <a:stretch>
                <a:fillRect l="-12500" t="0" r="-12499" b="0"/>
              </a:stretch>
            </a:blipFill>
          </p:spPr>
        </p:sp>
        <p:grpSp>
          <p:nvGrpSpPr>
            <p:cNvPr name="Group 5" id="5"/>
            <p:cNvGrpSpPr/>
            <p:nvPr/>
          </p:nvGrpSpPr>
          <p:grpSpPr>
            <a:xfrm rot="0">
              <a:off x="1882649" y="3156765"/>
              <a:ext cx="21324463" cy="10972800"/>
              <a:chOff x="0" y="0"/>
              <a:chExt cx="4212240" cy="2167467"/>
            </a:xfrm>
          </p:grpSpPr>
          <p:sp>
            <p:nvSpPr>
              <p:cNvPr name="Freeform 6" id="6"/>
              <p:cNvSpPr/>
              <p:nvPr/>
            </p:nvSpPr>
            <p:spPr>
              <a:xfrm flipH="false" flipV="false" rot="0">
                <a:off x="0" y="0"/>
                <a:ext cx="4212239" cy="2167467"/>
              </a:xfrm>
              <a:custGeom>
                <a:avLst/>
                <a:gdLst/>
                <a:ahLst/>
                <a:cxnLst/>
                <a:rect r="r" b="b" t="t" l="l"/>
                <a:pathLst>
                  <a:path h="2167467" w="4212239">
                    <a:moveTo>
                      <a:pt x="36789" y="0"/>
                    </a:moveTo>
                    <a:lnTo>
                      <a:pt x="4175450" y="0"/>
                    </a:lnTo>
                    <a:cubicBezTo>
                      <a:pt x="4185207" y="0"/>
                      <a:pt x="4194565" y="3876"/>
                      <a:pt x="4201464" y="10775"/>
                    </a:cubicBezTo>
                    <a:cubicBezTo>
                      <a:pt x="4208363" y="17675"/>
                      <a:pt x="4212239" y="27032"/>
                      <a:pt x="4212239" y="36789"/>
                    </a:cubicBezTo>
                    <a:lnTo>
                      <a:pt x="4212239" y="2130677"/>
                    </a:lnTo>
                    <a:cubicBezTo>
                      <a:pt x="4212239" y="2150996"/>
                      <a:pt x="4195768" y="2167467"/>
                      <a:pt x="4175450" y="2167467"/>
                    </a:cubicBezTo>
                    <a:lnTo>
                      <a:pt x="36789" y="2167467"/>
                    </a:lnTo>
                    <a:cubicBezTo>
                      <a:pt x="27032" y="2167467"/>
                      <a:pt x="17675" y="2163591"/>
                      <a:pt x="10775" y="2156691"/>
                    </a:cubicBezTo>
                    <a:cubicBezTo>
                      <a:pt x="3876" y="2149792"/>
                      <a:pt x="0" y="2140434"/>
                      <a:pt x="0" y="2130677"/>
                    </a:cubicBezTo>
                    <a:lnTo>
                      <a:pt x="0" y="36789"/>
                    </a:lnTo>
                    <a:cubicBezTo>
                      <a:pt x="0" y="27032"/>
                      <a:pt x="3876" y="17675"/>
                      <a:pt x="10775" y="10775"/>
                    </a:cubicBezTo>
                    <a:cubicBezTo>
                      <a:pt x="17675" y="3876"/>
                      <a:pt x="27032" y="0"/>
                      <a:pt x="36789" y="0"/>
                    </a:cubicBezTo>
                    <a:close/>
                  </a:path>
                </a:pathLst>
              </a:custGeom>
              <a:solidFill>
                <a:srgbClr val="FFFFFF">
                  <a:alpha val="60784"/>
                </a:srgbClr>
              </a:solidFill>
              <a:ln w="38100" cap="rnd">
                <a:solidFill>
                  <a:srgbClr val="2D8BBA">
                    <a:alpha val="60784"/>
                  </a:srgbClr>
                </a:solidFill>
                <a:prstDash val="solid"/>
                <a:round/>
              </a:ln>
            </p:spPr>
          </p:sp>
          <p:sp>
            <p:nvSpPr>
              <p:cNvPr name="TextBox 7" id="7"/>
              <p:cNvSpPr txBox="true"/>
              <p:nvPr/>
            </p:nvSpPr>
            <p:spPr>
              <a:xfrm>
                <a:off x="0" y="-47625"/>
                <a:ext cx="4212240" cy="2215092"/>
              </a:xfrm>
              <a:prstGeom prst="rect">
                <a:avLst/>
              </a:prstGeom>
            </p:spPr>
            <p:txBody>
              <a:bodyPr anchor="ctr" rtlCol="false" tIns="50800" lIns="50800" bIns="50800" rIns="50800"/>
              <a:lstStyle/>
              <a:p>
                <a:pPr algn="ctr">
                  <a:lnSpc>
                    <a:spcPts val="3525"/>
                  </a:lnSpc>
                </a:pPr>
              </a:p>
            </p:txBody>
          </p:sp>
        </p:grpSp>
        <p:sp>
          <p:nvSpPr>
            <p:cNvPr name="Freeform 8" id="8"/>
            <p:cNvSpPr/>
            <p:nvPr/>
          </p:nvSpPr>
          <p:spPr>
            <a:xfrm flipH="false" flipV="true" rot="0">
              <a:off x="13130838" y="0"/>
              <a:ext cx="13295346" cy="15501165"/>
            </a:xfrm>
            <a:custGeom>
              <a:avLst/>
              <a:gdLst/>
              <a:ahLst/>
              <a:cxnLst/>
              <a:rect r="r" b="b" t="t" l="l"/>
              <a:pathLst>
                <a:path h="15501165" w="13295346">
                  <a:moveTo>
                    <a:pt x="0" y="15501165"/>
                  </a:moveTo>
                  <a:lnTo>
                    <a:pt x="13295347" y="15501165"/>
                  </a:lnTo>
                  <a:lnTo>
                    <a:pt x="13295347" y="0"/>
                  </a:lnTo>
                  <a:lnTo>
                    <a:pt x="0" y="0"/>
                  </a:lnTo>
                  <a:lnTo>
                    <a:pt x="0" y="15501165"/>
                  </a:lnTo>
                  <a:close/>
                </a:path>
              </a:pathLst>
            </a:custGeom>
            <a:blipFill>
              <a:blip r:embed="rId3"/>
              <a:stretch>
                <a:fillRect l="-12500" t="0" r="-12499" b="0"/>
              </a:stretch>
            </a:blipFill>
          </p:spPr>
        </p:sp>
      </p:grpSp>
      <p:sp>
        <p:nvSpPr>
          <p:cNvPr name="TextBox 9" id="9"/>
          <p:cNvSpPr txBox="true"/>
          <p:nvPr/>
        </p:nvSpPr>
        <p:spPr>
          <a:xfrm rot="0">
            <a:off x="7606780" y="9420297"/>
            <a:ext cx="3074441" cy="570402"/>
          </a:xfrm>
          <a:prstGeom prst="rect">
            <a:avLst/>
          </a:prstGeom>
        </p:spPr>
        <p:txBody>
          <a:bodyPr anchor="t" rtlCol="false" tIns="0" lIns="0" bIns="0" rIns="0">
            <a:spAutoFit/>
          </a:bodyPr>
          <a:lstStyle/>
          <a:p>
            <a:pPr algn="ctr">
              <a:lnSpc>
                <a:spcPts val="4785"/>
              </a:lnSpc>
              <a:spcBef>
                <a:spcPct val="0"/>
              </a:spcBef>
            </a:pPr>
            <a:r>
              <a:rPr lang="en-US" b="true" sz="3418">
                <a:solidFill>
                  <a:srgbClr val="104579"/>
                </a:solidFill>
                <a:latin typeface="Amaranth Bold"/>
                <a:ea typeface="Amaranth Bold"/>
                <a:cs typeface="Amaranth Bold"/>
                <a:sym typeface="Amaranth Bold"/>
              </a:rPr>
              <a:t>02</a:t>
            </a:r>
          </a:p>
        </p:txBody>
      </p:sp>
      <p:sp>
        <p:nvSpPr>
          <p:cNvPr name="TextBox 10" id="10"/>
          <p:cNvSpPr txBox="true"/>
          <p:nvPr/>
        </p:nvSpPr>
        <p:spPr>
          <a:xfrm rot="0">
            <a:off x="3040862" y="3593782"/>
            <a:ext cx="12206277" cy="2975610"/>
          </a:xfrm>
          <a:prstGeom prst="rect">
            <a:avLst/>
          </a:prstGeom>
        </p:spPr>
        <p:txBody>
          <a:bodyPr anchor="t" rtlCol="false" tIns="0" lIns="0" bIns="0" rIns="0">
            <a:spAutoFit/>
          </a:bodyPr>
          <a:lstStyle/>
          <a:p>
            <a:pPr algn="just" marL="647700" indent="-323850" lvl="1">
              <a:lnSpc>
                <a:spcPts val="4770"/>
              </a:lnSpc>
              <a:buFont typeface="Arial"/>
              <a:buChar char="•"/>
            </a:pPr>
            <a:r>
              <a:rPr lang="en-US" sz="3000" spc="108">
                <a:solidFill>
                  <a:srgbClr val="104579"/>
                </a:solidFill>
                <a:latin typeface="Arimo"/>
                <a:ea typeface="Arimo"/>
                <a:cs typeface="Arimo"/>
                <a:sym typeface="Arimo"/>
              </a:rPr>
              <a:t>Nhu cầu dự báo chất</a:t>
            </a:r>
            <a:r>
              <a:rPr lang="en-US" sz="3000" spc="108">
                <a:solidFill>
                  <a:srgbClr val="104579"/>
                </a:solidFill>
                <a:latin typeface="Arimo"/>
                <a:ea typeface="Arimo"/>
                <a:cs typeface="Arimo"/>
                <a:sym typeface="Arimo"/>
              </a:rPr>
              <a:t> lượng không khí ngày càng cao. </a:t>
            </a:r>
          </a:p>
          <a:p>
            <a:pPr algn="just" marL="647700" indent="-323850" lvl="1">
              <a:lnSpc>
                <a:spcPts val="4770"/>
              </a:lnSpc>
              <a:buFont typeface="Arial"/>
              <a:buChar char="•"/>
            </a:pPr>
            <a:r>
              <a:rPr lang="en-US" sz="3000" spc="108">
                <a:solidFill>
                  <a:srgbClr val="104579"/>
                </a:solidFill>
                <a:latin typeface="Arimo"/>
                <a:ea typeface="Arimo"/>
                <a:cs typeface="Arimo"/>
                <a:sym typeface="Arimo"/>
              </a:rPr>
              <a:t>Hỗ trợ cảnh báo sớm cho cộng đồng. </a:t>
            </a:r>
          </a:p>
          <a:p>
            <a:pPr algn="just" marL="647700" indent="-323850" lvl="1">
              <a:lnSpc>
                <a:spcPts val="4770"/>
              </a:lnSpc>
              <a:buFont typeface="Arial"/>
              <a:buChar char="•"/>
            </a:pPr>
            <a:r>
              <a:rPr lang="en-US" sz="3000" spc="108">
                <a:solidFill>
                  <a:srgbClr val="104579"/>
                </a:solidFill>
                <a:latin typeface="Arimo"/>
                <a:ea typeface="Arimo"/>
                <a:cs typeface="Arimo"/>
                <a:sym typeface="Arimo"/>
              </a:rPr>
              <a:t>Giảm thiểu tác động đến sức khỏe.</a:t>
            </a:r>
          </a:p>
          <a:p>
            <a:pPr algn="just" marL="647700" indent="-323850" lvl="1">
              <a:lnSpc>
                <a:spcPts val="4770"/>
              </a:lnSpc>
              <a:buFont typeface="Arial"/>
              <a:buChar char="•"/>
            </a:pPr>
            <a:r>
              <a:rPr lang="en-US" sz="3000" spc="108">
                <a:solidFill>
                  <a:srgbClr val="104579"/>
                </a:solidFill>
                <a:latin typeface="Arimo"/>
                <a:ea typeface="Arimo"/>
                <a:cs typeface="Arimo"/>
                <a:sym typeface="Arimo"/>
              </a:rPr>
              <a:t>Hỗ trợ quản lý môi trường đô thị. </a:t>
            </a:r>
          </a:p>
          <a:p>
            <a:pPr algn="just">
              <a:lnSpc>
                <a:spcPts val="4770"/>
              </a:lnSpc>
            </a:pPr>
          </a:p>
        </p:txBody>
      </p:sp>
      <p:sp>
        <p:nvSpPr>
          <p:cNvPr name="TextBox 11" id="11"/>
          <p:cNvSpPr txBox="true"/>
          <p:nvPr/>
        </p:nvSpPr>
        <p:spPr>
          <a:xfrm rot="0">
            <a:off x="4286846" y="1148808"/>
            <a:ext cx="9714309" cy="863600"/>
          </a:xfrm>
          <a:prstGeom prst="rect">
            <a:avLst/>
          </a:prstGeom>
        </p:spPr>
        <p:txBody>
          <a:bodyPr anchor="t" rtlCol="false" tIns="0" lIns="0" bIns="0" rIns="0">
            <a:spAutoFit/>
          </a:bodyPr>
          <a:lstStyle/>
          <a:p>
            <a:pPr algn="ctr">
              <a:lnSpc>
                <a:spcPts val="7000"/>
              </a:lnSpc>
              <a:spcBef>
                <a:spcPct val="0"/>
              </a:spcBef>
            </a:pPr>
            <a:r>
              <a:rPr lang="en-US" b="true" sz="5000">
                <a:solidFill>
                  <a:srgbClr val="104579"/>
                </a:solidFill>
                <a:latin typeface="Garet Bold"/>
                <a:ea typeface="Garet Bold"/>
                <a:cs typeface="Garet Bold"/>
                <a:sym typeface="Garet Bold"/>
              </a:rPr>
              <a:t>TÍNH CẤP THIẾT CỦA ĐỀ TÀI</a:t>
            </a:r>
          </a:p>
        </p:txBody>
      </p:sp>
    </p:spTree>
  </p:cSld>
  <p:clrMapOvr>
    <a:masterClrMapping/>
  </p:clrMapOvr>
  <p:transition spd="fast">
    <p:fade/>
  </p:transition>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83287" y="-1338874"/>
            <a:ext cx="19819639" cy="12900629"/>
            <a:chOff x="0" y="0"/>
            <a:chExt cx="26426185" cy="17200838"/>
          </a:xfrm>
        </p:grpSpPr>
        <p:sp>
          <p:nvSpPr>
            <p:cNvPr name="Freeform 3" id="3"/>
            <p:cNvSpPr/>
            <p:nvPr/>
          </p:nvSpPr>
          <p:spPr>
            <a:xfrm flipH="false" flipV="false" rot="0">
              <a:off x="0" y="1785165"/>
              <a:ext cx="24895049" cy="14191553"/>
            </a:xfrm>
            <a:custGeom>
              <a:avLst/>
              <a:gdLst/>
              <a:ahLst/>
              <a:cxnLst/>
              <a:rect r="r" b="b" t="t" l="l"/>
              <a:pathLst>
                <a:path h="14191553" w="24895049">
                  <a:moveTo>
                    <a:pt x="0" y="0"/>
                  </a:moveTo>
                  <a:lnTo>
                    <a:pt x="24895049" y="0"/>
                  </a:lnTo>
                  <a:lnTo>
                    <a:pt x="24895049" y="14191554"/>
                  </a:lnTo>
                  <a:lnTo>
                    <a:pt x="0" y="14191554"/>
                  </a:lnTo>
                  <a:lnTo>
                    <a:pt x="0" y="0"/>
                  </a:lnTo>
                  <a:close/>
                </a:path>
              </a:pathLst>
            </a:custGeom>
            <a:blipFill>
              <a:blip r:embed="rId2"/>
              <a:stretch>
                <a:fillRect l="-4939" t="-11172" r="-7311" b="0"/>
              </a:stretch>
            </a:blipFill>
          </p:spPr>
        </p:sp>
        <p:sp>
          <p:nvSpPr>
            <p:cNvPr name="Freeform 4" id="4"/>
            <p:cNvSpPr/>
            <p:nvPr/>
          </p:nvSpPr>
          <p:spPr>
            <a:xfrm flipH="true" flipV="false" rot="0">
              <a:off x="511049" y="1785165"/>
              <a:ext cx="13222020" cy="15415673"/>
            </a:xfrm>
            <a:custGeom>
              <a:avLst/>
              <a:gdLst/>
              <a:ahLst/>
              <a:cxnLst/>
              <a:rect r="r" b="b" t="t" l="l"/>
              <a:pathLst>
                <a:path h="15415673" w="13222020">
                  <a:moveTo>
                    <a:pt x="13222020" y="0"/>
                  </a:moveTo>
                  <a:lnTo>
                    <a:pt x="0" y="0"/>
                  </a:lnTo>
                  <a:lnTo>
                    <a:pt x="0" y="15415673"/>
                  </a:lnTo>
                  <a:lnTo>
                    <a:pt x="13222020" y="15415673"/>
                  </a:lnTo>
                  <a:lnTo>
                    <a:pt x="13222020" y="0"/>
                  </a:lnTo>
                  <a:close/>
                </a:path>
              </a:pathLst>
            </a:custGeom>
            <a:blipFill>
              <a:blip r:embed="rId3"/>
              <a:stretch>
                <a:fillRect l="-12500" t="0" r="-12499" b="0"/>
              </a:stretch>
            </a:blipFill>
          </p:spPr>
        </p:sp>
        <p:grpSp>
          <p:nvGrpSpPr>
            <p:cNvPr name="Group 5" id="5"/>
            <p:cNvGrpSpPr/>
            <p:nvPr/>
          </p:nvGrpSpPr>
          <p:grpSpPr>
            <a:xfrm rot="0">
              <a:off x="1882649" y="3156765"/>
              <a:ext cx="21324463" cy="10972800"/>
              <a:chOff x="0" y="0"/>
              <a:chExt cx="4212240" cy="2167467"/>
            </a:xfrm>
          </p:grpSpPr>
          <p:sp>
            <p:nvSpPr>
              <p:cNvPr name="Freeform 6" id="6"/>
              <p:cNvSpPr/>
              <p:nvPr/>
            </p:nvSpPr>
            <p:spPr>
              <a:xfrm flipH="false" flipV="false" rot="0">
                <a:off x="0" y="0"/>
                <a:ext cx="4212239" cy="2167467"/>
              </a:xfrm>
              <a:custGeom>
                <a:avLst/>
                <a:gdLst/>
                <a:ahLst/>
                <a:cxnLst/>
                <a:rect r="r" b="b" t="t" l="l"/>
                <a:pathLst>
                  <a:path h="2167467" w="4212239">
                    <a:moveTo>
                      <a:pt x="36789" y="0"/>
                    </a:moveTo>
                    <a:lnTo>
                      <a:pt x="4175450" y="0"/>
                    </a:lnTo>
                    <a:cubicBezTo>
                      <a:pt x="4185207" y="0"/>
                      <a:pt x="4194565" y="3876"/>
                      <a:pt x="4201464" y="10775"/>
                    </a:cubicBezTo>
                    <a:cubicBezTo>
                      <a:pt x="4208363" y="17675"/>
                      <a:pt x="4212239" y="27032"/>
                      <a:pt x="4212239" y="36789"/>
                    </a:cubicBezTo>
                    <a:lnTo>
                      <a:pt x="4212239" y="2130677"/>
                    </a:lnTo>
                    <a:cubicBezTo>
                      <a:pt x="4212239" y="2150996"/>
                      <a:pt x="4195768" y="2167467"/>
                      <a:pt x="4175450" y="2167467"/>
                    </a:cubicBezTo>
                    <a:lnTo>
                      <a:pt x="36789" y="2167467"/>
                    </a:lnTo>
                    <a:cubicBezTo>
                      <a:pt x="27032" y="2167467"/>
                      <a:pt x="17675" y="2163591"/>
                      <a:pt x="10775" y="2156691"/>
                    </a:cubicBezTo>
                    <a:cubicBezTo>
                      <a:pt x="3876" y="2149792"/>
                      <a:pt x="0" y="2140434"/>
                      <a:pt x="0" y="2130677"/>
                    </a:cubicBezTo>
                    <a:lnTo>
                      <a:pt x="0" y="36789"/>
                    </a:lnTo>
                    <a:cubicBezTo>
                      <a:pt x="0" y="27032"/>
                      <a:pt x="3876" y="17675"/>
                      <a:pt x="10775" y="10775"/>
                    </a:cubicBezTo>
                    <a:cubicBezTo>
                      <a:pt x="17675" y="3876"/>
                      <a:pt x="27032" y="0"/>
                      <a:pt x="36789" y="0"/>
                    </a:cubicBezTo>
                    <a:close/>
                  </a:path>
                </a:pathLst>
              </a:custGeom>
              <a:solidFill>
                <a:srgbClr val="FFFFFF">
                  <a:alpha val="60784"/>
                </a:srgbClr>
              </a:solidFill>
              <a:ln w="38100" cap="rnd">
                <a:solidFill>
                  <a:srgbClr val="2D8BBA">
                    <a:alpha val="60784"/>
                  </a:srgbClr>
                </a:solidFill>
                <a:prstDash val="solid"/>
                <a:round/>
              </a:ln>
            </p:spPr>
          </p:sp>
          <p:sp>
            <p:nvSpPr>
              <p:cNvPr name="TextBox 7" id="7"/>
              <p:cNvSpPr txBox="true"/>
              <p:nvPr/>
            </p:nvSpPr>
            <p:spPr>
              <a:xfrm>
                <a:off x="0" y="-47625"/>
                <a:ext cx="4212240" cy="2215092"/>
              </a:xfrm>
              <a:prstGeom prst="rect">
                <a:avLst/>
              </a:prstGeom>
            </p:spPr>
            <p:txBody>
              <a:bodyPr anchor="ctr" rtlCol="false" tIns="50800" lIns="50800" bIns="50800" rIns="50800"/>
              <a:lstStyle/>
              <a:p>
                <a:pPr algn="ctr">
                  <a:lnSpc>
                    <a:spcPts val="3525"/>
                  </a:lnSpc>
                </a:pPr>
              </a:p>
            </p:txBody>
          </p:sp>
        </p:grpSp>
        <p:sp>
          <p:nvSpPr>
            <p:cNvPr name="Freeform 8" id="8"/>
            <p:cNvSpPr/>
            <p:nvPr/>
          </p:nvSpPr>
          <p:spPr>
            <a:xfrm flipH="false" flipV="true" rot="0">
              <a:off x="13130838" y="0"/>
              <a:ext cx="13295346" cy="15501165"/>
            </a:xfrm>
            <a:custGeom>
              <a:avLst/>
              <a:gdLst/>
              <a:ahLst/>
              <a:cxnLst/>
              <a:rect r="r" b="b" t="t" l="l"/>
              <a:pathLst>
                <a:path h="15501165" w="13295346">
                  <a:moveTo>
                    <a:pt x="0" y="15501165"/>
                  </a:moveTo>
                  <a:lnTo>
                    <a:pt x="13295347" y="15501165"/>
                  </a:lnTo>
                  <a:lnTo>
                    <a:pt x="13295347" y="0"/>
                  </a:lnTo>
                  <a:lnTo>
                    <a:pt x="0" y="0"/>
                  </a:lnTo>
                  <a:lnTo>
                    <a:pt x="0" y="15501165"/>
                  </a:lnTo>
                  <a:close/>
                </a:path>
              </a:pathLst>
            </a:custGeom>
            <a:blipFill>
              <a:blip r:embed="rId3"/>
              <a:stretch>
                <a:fillRect l="-12500" t="0" r="-12499" b="0"/>
              </a:stretch>
            </a:blipFill>
          </p:spPr>
        </p:sp>
      </p:grpSp>
      <p:sp>
        <p:nvSpPr>
          <p:cNvPr name="TextBox 9" id="9"/>
          <p:cNvSpPr txBox="true"/>
          <p:nvPr/>
        </p:nvSpPr>
        <p:spPr>
          <a:xfrm rot="0">
            <a:off x="7606780" y="9420297"/>
            <a:ext cx="3074441" cy="570402"/>
          </a:xfrm>
          <a:prstGeom prst="rect">
            <a:avLst/>
          </a:prstGeom>
        </p:spPr>
        <p:txBody>
          <a:bodyPr anchor="t" rtlCol="false" tIns="0" lIns="0" bIns="0" rIns="0">
            <a:spAutoFit/>
          </a:bodyPr>
          <a:lstStyle/>
          <a:p>
            <a:pPr algn="ctr">
              <a:lnSpc>
                <a:spcPts val="4785"/>
              </a:lnSpc>
              <a:spcBef>
                <a:spcPct val="0"/>
              </a:spcBef>
            </a:pPr>
            <a:r>
              <a:rPr lang="en-US" b="true" sz="3418">
                <a:solidFill>
                  <a:srgbClr val="104579"/>
                </a:solidFill>
                <a:latin typeface="Amaranth Bold"/>
                <a:ea typeface="Amaranth Bold"/>
                <a:cs typeface="Amaranth Bold"/>
                <a:sym typeface="Amaranth Bold"/>
              </a:rPr>
              <a:t>03</a:t>
            </a:r>
          </a:p>
        </p:txBody>
      </p:sp>
      <p:sp>
        <p:nvSpPr>
          <p:cNvPr name="TextBox 10" id="10"/>
          <p:cNvSpPr txBox="true"/>
          <p:nvPr/>
        </p:nvSpPr>
        <p:spPr>
          <a:xfrm rot="0">
            <a:off x="3040862" y="3592169"/>
            <a:ext cx="12206277" cy="2375535"/>
          </a:xfrm>
          <a:prstGeom prst="rect">
            <a:avLst/>
          </a:prstGeom>
        </p:spPr>
        <p:txBody>
          <a:bodyPr anchor="t" rtlCol="false" tIns="0" lIns="0" bIns="0" rIns="0">
            <a:spAutoFit/>
          </a:bodyPr>
          <a:lstStyle/>
          <a:p>
            <a:pPr algn="just" marL="647700" indent="-323850" lvl="1">
              <a:lnSpc>
                <a:spcPts val="4770"/>
              </a:lnSpc>
              <a:buFont typeface="Arial"/>
              <a:buChar char="•"/>
            </a:pPr>
            <a:r>
              <a:rPr lang="en-US" sz="3000" spc="108">
                <a:solidFill>
                  <a:srgbClr val="104579"/>
                </a:solidFill>
                <a:latin typeface="Arimo"/>
                <a:ea typeface="Arimo"/>
                <a:cs typeface="Arimo"/>
                <a:sym typeface="Arimo"/>
              </a:rPr>
              <a:t>Dự đoá</a:t>
            </a:r>
            <a:r>
              <a:rPr lang="en-US" sz="3000" spc="108">
                <a:solidFill>
                  <a:srgbClr val="104579"/>
                </a:solidFill>
                <a:latin typeface="Arimo"/>
                <a:ea typeface="Arimo"/>
                <a:cs typeface="Arimo"/>
                <a:sym typeface="Arimo"/>
              </a:rPr>
              <a:t>n nồng độ PM2.5 theo thời gian. </a:t>
            </a:r>
          </a:p>
          <a:p>
            <a:pPr algn="just" marL="647700" indent="-323850" lvl="1">
              <a:lnSpc>
                <a:spcPts val="4770"/>
              </a:lnSpc>
              <a:buFont typeface="Arial"/>
              <a:buChar char="•"/>
            </a:pPr>
            <a:r>
              <a:rPr lang="en-US" sz="3000" spc="108">
                <a:solidFill>
                  <a:srgbClr val="104579"/>
                </a:solidFill>
                <a:latin typeface="Arimo"/>
                <a:ea typeface="Arimo"/>
                <a:cs typeface="Arimo"/>
                <a:sym typeface="Arimo"/>
              </a:rPr>
              <a:t>Dự đoán AQI dạng số. </a:t>
            </a:r>
          </a:p>
          <a:p>
            <a:pPr algn="just" marL="647700" indent="-323850" lvl="1">
              <a:lnSpc>
                <a:spcPts val="4770"/>
              </a:lnSpc>
              <a:buFont typeface="Arial"/>
              <a:buChar char="•"/>
            </a:pPr>
            <a:r>
              <a:rPr lang="en-US" sz="3000" spc="108">
                <a:solidFill>
                  <a:srgbClr val="104579"/>
                </a:solidFill>
                <a:latin typeface="Arimo"/>
                <a:ea typeface="Arimo"/>
                <a:cs typeface="Arimo"/>
                <a:sym typeface="Arimo"/>
              </a:rPr>
              <a:t>Phân loại AQI thành các mức chất lượng không khí. </a:t>
            </a:r>
          </a:p>
          <a:p>
            <a:pPr algn="just" marL="647700" indent="-323850" lvl="1">
              <a:lnSpc>
                <a:spcPts val="4770"/>
              </a:lnSpc>
              <a:buFont typeface="Arial"/>
              <a:buChar char="•"/>
            </a:pPr>
            <a:r>
              <a:rPr lang="en-US" sz="3000" spc="108">
                <a:solidFill>
                  <a:srgbClr val="104579"/>
                </a:solidFill>
                <a:latin typeface="Arimo"/>
                <a:ea typeface="Arimo"/>
                <a:cs typeface="Arimo"/>
                <a:sym typeface="Arimo"/>
              </a:rPr>
              <a:t>So sánh hiệu quả các mô hình học máy và học sâu.</a:t>
            </a:r>
          </a:p>
        </p:txBody>
      </p:sp>
      <p:sp>
        <p:nvSpPr>
          <p:cNvPr name="TextBox 11" id="11"/>
          <p:cNvSpPr txBox="true"/>
          <p:nvPr/>
        </p:nvSpPr>
        <p:spPr>
          <a:xfrm rot="0">
            <a:off x="4286846" y="1148808"/>
            <a:ext cx="9714309" cy="863600"/>
          </a:xfrm>
          <a:prstGeom prst="rect">
            <a:avLst/>
          </a:prstGeom>
        </p:spPr>
        <p:txBody>
          <a:bodyPr anchor="t" rtlCol="false" tIns="0" lIns="0" bIns="0" rIns="0">
            <a:spAutoFit/>
          </a:bodyPr>
          <a:lstStyle/>
          <a:p>
            <a:pPr algn="ctr">
              <a:lnSpc>
                <a:spcPts val="7000"/>
              </a:lnSpc>
              <a:spcBef>
                <a:spcPct val="0"/>
              </a:spcBef>
            </a:pPr>
            <a:r>
              <a:rPr lang="en-US" b="true" sz="5000">
                <a:solidFill>
                  <a:srgbClr val="104579"/>
                </a:solidFill>
                <a:latin typeface="Garet Bold"/>
                <a:ea typeface="Garet Bold"/>
                <a:cs typeface="Garet Bold"/>
                <a:sym typeface="Garet Bold"/>
              </a:rPr>
              <a:t>MỤC TIÊU ĐỀ TÀI</a:t>
            </a:r>
          </a:p>
        </p:txBody>
      </p:sp>
    </p:spTree>
  </p:cSld>
  <p:clrMapOvr>
    <a:masterClrMapping/>
  </p:clrMapOvr>
  <p:transition spd="fast">
    <p:fade/>
  </p:transition>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83287" y="-1338874"/>
            <a:ext cx="19819639" cy="12900629"/>
            <a:chOff x="0" y="0"/>
            <a:chExt cx="26426185" cy="17200838"/>
          </a:xfrm>
        </p:grpSpPr>
        <p:sp>
          <p:nvSpPr>
            <p:cNvPr name="Freeform 3" id="3"/>
            <p:cNvSpPr/>
            <p:nvPr/>
          </p:nvSpPr>
          <p:spPr>
            <a:xfrm flipH="false" flipV="false" rot="0">
              <a:off x="0" y="1785165"/>
              <a:ext cx="24895049" cy="14191553"/>
            </a:xfrm>
            <a:custGeom>
              <a:avLst/>
              <a:gdLst/>
              <a:ahLst/>
              <a:cxnLst/>
              <a:rect r="r" b="b" t="t" l="l"/>
              <a:pathLst>
                <a:path h="14191553" w="24895049">
                  <a:moveTo>
                    <a:pt x="0" y="0"/>
                  </a:moveTo>
                  <a:lnTo>
                    <a:pt x="24895049" y="0"/>
                  </a:lnTo>
                  <a:lnTo>
                    <a:pt x="24895049" y="14191554"/>
                  </a:lnTo>
                  <a:lnTo>
                    <a:pt x="0" y="14191554"/>
                  </a:lnTo>
                  <a:lnTo>
                    <a:pt x="0" y="0"/>
                  </a:lnTo>
                  <a:close/>
                </a:path>
              </a:pathLst>
            </a:custGeom>
            <a:blipFill>
              <a:blip r:embed="rId2"/>
              <a:stretch>
                <a:fillRect l="-4939" t="-11172" r="-7311" b="0"/>
              </a:stretch>
            </a:blipFill>
          </p:spPr>
        </p:sp>
        <p:sp>
          <p:nvSpPr>
            <p:cNvPr name="Freeform 4" id="4"/>
            <p:cNvSpPr/>
            <p:nvPr/>
          </p:nvSpPr>
          <p:spPr>
            <a:xfrm flipH="true" flipV="false" rot="0">
              <a:off x="511049" y="1785165"/>
              <a:ext cx="13222020" cy="15415673"/>
            </a:xfrm>
            <a:custGeom>
              <a:avLst/>
              <a:gdLst/>
              <a:ahLst/>
              <a:cxnLst/>
              <a:rect r="r" b="b" t="t" l="l"/>
              <a:pathLst>
                <a:path h="15415673" w="13222020">
                  <a:moveTo>
                    <a:pt x="13222020" y="0"/>
                  </a:moveTo>
                  <a:lnTo>
                    <a:pt x="0" y="0"/>
                  </a:lnTo>
                  <a:lnTo>
                    <a:pt x="0" y="15415673"/>
                  </a:lnTo>
                  <a:lnTo>
                    <a:pt x="13222020" y="15415673"/>
                  </a:lnTo>
                  <a:lnTo>
                    <a:pt x="13222020" y="0"/>
                  </a:lnTo>
                  <a:close/>
                </a:path>
              </a:pathLst>
            </a:custGeom>
            <a:blipFill>
              <a:blip r:embed="rId3"/>
              <a:stretch>
                <a:fillRect l="-12500" t="0" r="-12499" b="0"/>
              </a:stretch>
            </a:blipFill>
          </p:spPr>
        </p:sp>
        <p:grpSp>
          <p:nvGrpSpPr>
            <p:cNvPr name="Group 5" id="5"/>
            <p:cNvGrpSpPr/>
            <p:nvPr/>
          </p:nvGrpSpPr>
          <p:grpSpPr>
            <a:xfrm rot="0">
              <a:off x="1882649" y="3156765"/>
              <a:ext cx="21324463" cy="10972800"/>
              <a:chOff x="0" y="0"/>
              <a:chExt cx="4212240" cy="2167467"/>
            </a:xfrm>
          </p:grpSpPr>
          <p:sp>
            <p:nvSpPr>
              <p:cNvPr name="Freeform 6" id="6"/>
              <p:cNvSpPr/>
              <p:nvPr/>
            </p:nvSpPr>
            <p:spPr>
              <a:xfrm flipH="false" flipV="false" rot="0">
                <a:off x="0" y="0"/>
                <a:ext cx="4212239" cy="2167467"/>
              </a:xfrm>
              <a:custGeom>
                <a:avLst/>
                <a:gdLst/>
                <a:ahLst/>
                <a:cxnLst/>
                <a:rect r="r" b="b" t="t" l="l"/>
                <a:pathLst>
                  <a:path h="2167467" w="4212239">
                    <a:moveTo>
                      <a:pt x="36789" y="0"/>
                    </a:moveTo>
                    <a:lnTo>
                      <a:pt x="4175450" y="0"/>
                    </a:lnTo>
                    <a:cubicBezTo>
                      <a:pt x="4185207" y="0"/>
                      <a:pt x="4194565" y="3876"/>
                      <a:pt x="4201464" y="10775"/>
                    </a:cubicBezTo>
                    <a:cubicBezTo>
                      <a:pt x="4208363" y="17675"/>
                      <a:pt x="4212239" y="27032"/>
                      <a:pt x="4212239" y="36789"/>
                    </a:cubicBezTo>
                    <a:lnTo>
                      <a:pt x="4212239" y="2130677"/>
                    </a:lnTo>
                    <a:cubicBezTo>
                      <a:pt x="4212239" y="2150996"/>
                      <a:pt x="4195768" y="2167467"/>
                      <a:pt x="4175450" y="2167467"/>
                    </a:cubicBezTo>
                    <a:lnTo>
                      <a:pt x="36789" y="2167467"/>
                    </a:lnTo>
                    <a:cubicBezTo>
                      <a:pt x="27032" y="2167467"/>
                      <a:pt x="17675" y="2163591"/>
                      <a:pt x="10775" y="2156691"/>
                    </a:cubicBezTo>
                    <a:cubicBezTo>
                      <a:pt x="3876" y="2149792"/>
                      <a:pt x="0" y="2140434"/>
                      <a:pt x="0" y="2130677"/>
                    </a:cubicBezTo>
                    <a:lnTo>
                      <a:pt x="0" y="36789"/>
                    </a:lnTo>
                    <a:cubicBezTo>
                      <a:pt x="0" y="27032"/>
                      <a:pt x="3876" y="17675"/>
                      <a:pt x="10775" y="10775"/>
                    </a:cubicBezTo>
                    <a:cubicBezTo>
                      <a:pt x="17675" y="3876"/>
                      <a:pt x="27032" y="0"/>
                      <a:pt x="36789" y="0"/>
                    </a:cubicBezTo>
                    <a:close/>
                  </a:path>
                </a:pathLst>
              </a:custGeom>
              <a:solidFill>
                <a:srgbClr val="FFFFFF">
                  <a:alpha val="60784"/>
                </a:srgbClr>
              </a:solidFill>
              <a:ln w="38100" cap="rnd">
                <a:solidFill>
                  <a:srgbClr val="2D8BBA">
                    <a:alpha val="60784"/>
                  </a:srgbClr>
                </a:solidFill>
                <a:prstDash val="solid"/>
                <a:round/>
              </a:ln>
            </p:spPr>
          </p:sp>
          <p:sp>
            <p:nvSpPr>
              <p:cNvPr name="TextBox 7" id="7"/>
              <p:cNvSpPr txBox="true"/>
              <p:nvPr/>
            </p:nvSpPr>
            <p:spPr>
              <a:xfrm>
                <a:off x="0" y="-47625"/>
                <a:ext cx="4212240" cy="2215092"/>
              </a:xfrm>
              <a:prstGeom prst="rect">
                <a:avLst/>
              </a:prstGeom>
            </p:spPr>
            <p:txBody>
              <a:bodyPr anchor="ctr" rtlCol="false" tIns="50800" lIns="50800" bIns="50800" rIns="50800"/>
              <a:lstStyle/>
              <a:p>
                <a:pPr algn="ctr">
                  <a:lnSpc>
                    <a:spcPts val="3525"/>
                  </a:lnSpc>
                </a:pPr>
              </a:p>
            </p:txBody>
          </p:sp>
        </p:grpSp>
        <p:sp>
          <p:nvSpPr>
            <p:cNvPr name="Freeform 8" id="8"/>
            <p:cNvSpPr/>
            <p:nvPr/>
          </p:nvSpPr>
          <p:spPr>
            <a:xfrm flipH="false" flipV="true" rot="0">
              <a:off x="13130838" y="0"/>
              <a:ext cx="13295346" cy="15501165"/>
            </a:xfrm>
            <a:custGeom>
              <a:avLst/>
              <a:gdLst/>
              <a:ahLst/>
              <a:cxnLst/>
              <a:rect r="r" b="b" t="t" l="l"/>
              <a:pathLst>
                <a:path h="15501165" w="13295346">
                  <a:moveTo>
                    <a:pt x="0" y="15501165"/>
                  </a:moveTo>
                  <a:lnTo>
                    <a:pt x="13295347" y="15501165"/>
                  </a:lnTo>
                  <a:lnTo>
                    <a:pt x="13295347" y="0"/>
                  </a:lnTo>
                  <a:lnTo>
                    <a:pt x="0" y="0"/>
                  </a:lnTo>
                  <a:lnTo>
                    <a:pt x="0" y="15501165"/>
                  </a:lnTo>
                  <a:close/>
                </a:path>
              </a:pathLst>
            </a:custGeom>
            <a:blipFill>
              <a:blip r:embed="rId3"/>
              <a:stretch>
                <a:fillRect l="-12500" t="0" r="-12499" b="0"/>
              </a:stretch>
            </a:blipFill>
          </p:spPr>
        </p:sp>
      </p:grpSp>
      <p:sp>
        <p:nvSpPr>
          <p:cNvPr name="TextBox 9" id="9"/>
          <p:cNvSpPr txBox="true"/>
          <p:nvPr/>
        </p:nvSpPr>
        <p:spPr>
          <a:xfrm rot="0">
            <a:off x="7606780" y="9420297"/>
            <a:ext cx="3074441" cy="570402"/>
          </a:xfrm>
          <a:prstGeom prst="rect">
            <a:avLst/>
          </a:prstGeom>
        </p:spPr>
        <p:txBody>
          <a:bodyPr anchor="t" rtlCol="false" tIns="0" lIns="0" bIns="0" rIns="0">
            <a:spAutoFit/>
          </a:bodyPr>
          <a:lstStyle/>
          <a:p>
            <a:pPr algn="ctr">
              <a:lnSpc>
                <a:spcPts val="4785"/>
              </a:lnSpc>
              <a:spcBef>
                <a:spcPct val="0"/>
              </a:spcBef>
            </a:pPr>
            <a:r>
              <a:rPr lang="en-US" b="true" sz="3418">
                <a:solidFill>
                  <a:srgbClr val="104579"/>
                </a:solidFill>
                <a:latin typeface="Amaranth Bold"/>
                <a:ea typeface="Amaranth Bold"/>
                <a:cs typeface="Amaranth Bold"/>
                <a:sym typeface="Amaranth Bold"/>
              </a:rPr>
              <a:t>04</a:t>
            </a:r>
          </a:p>
        </p:txBody>
      </p:sp>
      <p:sp>
        <p:nvSpPr>
          <p:cNvPr name="TextBox 10" id="10"/>
          <p:cNvSpPr txBox="true"/>
          <p:nvPr/>
        </p:nvSpPr>
        <p:spPr>
          <a:xfrm rot="0">
            <a:off x="3466532" y="2925285"/>
            <a:ext cx="4882882" cy="2375535"/>
          </a:xfrm>
          <a:prstGeom prst="rect">
            <a:avLst/>
          </a:prstGeom>
        </p:spPr>
        <p:txBody>
          <a:bodyPr anchor="t" rtlCol="false" tIns="0" lIns="0" bIns="0" rIns="0">
            <a:spAutoFit/>
          </a:bodyPr>
          <a:lstStyle/>
          <a:p>
            <a:pPr algn="just" marL="647700" indent="-323850" lvl="1">
              <a:lnSpc>
                <a:spcPts val="4770"/>
              </a:lnSpc>
              <a:buFont typeface="Arial"/>
              <a:buChar char="•"/>
            </a:pPr>
            <a:r>
              <a:rPr lang="en-US" sz="3000" spc="108">
                <a:solidFill>
                  <a:srgbClr val="104579"/>
                </a:solidFill>
                <a:latin typeface="Arimo"/>
                <a:ea typeface="Arimo"/>
                <a:cs typeface="Arimo"/>
                <a:sym typeface="Arimo"/>
              </a:rPr>
              <a:t>Đối tượ</a:t>
            </a:r>
            <a:r>
              <a:rPr lang="en-US" sz="3000" spc="108">
                <a:solidFill>
                  <a:srgbClr val="104579"/>
                </a:solidFill>
                <a:latin typeface="Arimo"/>
                <a:ea typeface="Arimo"/>
                <a:cs typeface="Arimo"/>
                <a:sym typeface="Arimo"/>
              </a:rPr>
              <a:t>ng nghiên cứu: </a:t>
            </a:r>
          </a:p>
          <a:p>
            <a:pPr algn="just" marL="1295400" indent="-431800" lvl="2">
              <a:lnSpc>
                <a:spcPts val="4770"/>
              </a:lnSpc>
              <a:buFont typeface="Arial"/>
              <a:buChar char="⚬"/>
            </a:pPr>
            <a:r>
              <a:rPr lang="en-US" sz="3000" spc="108">
                <a:solidFill>
                  <a:srgbClr val="104579"/>
                </a:solidFill>
                <a:latin typeface="Arimo"/>
                <a:ea typeface="Arimo"/>
                <a:cs typeface="Arimo"/>
                <a:sym typeface="Arimo"/>
              </a:rPr>
              <a:t>PM2.5 </a:t>
            </a:r>
          </a:p>
          <a:p>
            <a:pPr algn="just" marL="1295400" indent="-431800" lvl="2">
              <a:lnSpc>
                <a:spcPts val="4770"/>
              </a:lnSpc>
              <a:buFont typeface="Arial"/>
              <a:buChar char="⚬"/>
            </a:pPr>
            <a:r>
              <a:rPr lang="en-US" sz="3000" spc="108">
                <a:solidFill>
                  <a:srgbClr val="104579"/>
                </a:solidFill>
                <a:latin typeface="Arimo"/>
                <a:ea typeface="Arimo"/>
                <a:cs typeface="Arimo"/>
                <a:sym typeface="Arimo"/>
              </a:rPr>
              <a:t>AQI </a:t>
            </a:r>
          </a:p>
          <a:p>
            <a:pPr algn="just" marL="1295400" indent="-431800" lvl="2">
              <a:lnSpc>
                <a:spcPts val="4770"/>
              </a:lnSpc>
              <a:buFont typeface="Arial"/>
              <a:buChar char="⚬"/>
            </a:pPr>
            <a:r>
              <a:rPr lang="en-US" sz="3000" spc="108">
                <a:solidFill>
                  <a:srgbClr val="104579"/>
                </a:solidFill>
                <a:latin typeface="Arimo"/>
                <a:ea typeface="Arimo"/>
                <a:cs typeface="Arimo"/>
                <a:sym typeface="Arimo"/>
              </a:rPr>
              <a:t>Dữ liệu khí tượng</a:t>
            </a:r>
          </a:p>
        </p:txBody>
      </p:sp>
      <p:sp>
        <p:nvSpPr>
          <p:cNvPr name="TextBox 11" id="11"/>
          <p:cNvSpPr txBox="true"/>
          <p:nvPr/>
        </p:nvSpPr>
        <p:spPr>
          <a:xfrm rot="0">
            <a:off x="4286846" y="1148808"/>
            <a:ext cx="9714309" cy="863600"/>
          </a:xfrm>
          <a:prstGeom prst="rect">
            <a:avLst/>
          </a:prstGeom>
        </p:spPr>
        <p:txBody>
          <a:bodyPr anchor="t" rtlCol="false" tIns="0" lIns="0" bIns="0" rIns="0">
            <a:spAutoFit/>
          </a:bodyPr>
          <a:lstStyle/>
          <a:p>
            <a:pPr algn="ctr">
              <a:lnSpc>
                <a:spcPts val="7000"/>
              </a:lnSpc>
              <a:spcBef>
                <a:spcPct val="0"/>
              </a:spcBef>
            </a:pPr>
            <a:r>
              <a:rPr lang="en-US" b="true" sz="5000">
                <a:solidFill>
                  <a:srgbClr val="104579"/>
                </a:solidFill>
                <a:latin typeface="Garet Bold"/>
                <a:ea typeface="Garet Bold"/>
                <a:cs typeface="Garet Bold"/>
                <a:sym typeface="Garet Bold"/>
              </a:rPr>
              <a:t> ĐỐI TƯỢNG VÀ PHẠM VI</a:t>
            </a:r>
          </a:p>
        </p:txBody>
      </p:sp>
      <p:sp>
        <p:nvSpPr>
          <p:cNvPr name="TextBox 12" id="12"/>
          <p:cNvSpPr txBox="true"/>
          <p:nvPr/>
        </p:nvSpPr>
        <p:spPr>
          <a:xfrm rot="0">
            <a:off x="7969259" y="5881524"/>
            <a:ext cx="6842825" cy="1775460"/>
          </a:xfrm>
          <a:prstGeom prst="rect">
            <a:avLst/>
          </a:prstGeom>
        </p:spPr>
        <p:txBody>
          <a:bodyPr anchor="t" rtlCol="false" tIns="0" lIns="0" bIns="0" rIns="0">
            <a:spAutoFit/>
          </a:bodyPr>
          <a:lstStyle/>
          <a:p>
            <a:pPr algn="just" marL="647700" indent="-323850" lvl="1">
              <a:lnSpc>
                <a:spcPts val="4770"/>
              </a:lnSpc>
              <a:buFont typeface="Arial"/>
              <a:buChar char="•"/>
            </a:pPr>
            <a:r>
              <a:rPr lang="en-US" sz="3000" spc="108">
                <a:solidFill>
                  <a:srgbClr val="104579"/>
                </a:solidFill>
                <a:latin typeface="Arimo"/>
                <a:ea typeface="Arimo"/>
                <a:cs typeface="Arimo"/>
                <a:sym typeface="Arimo"/>
              </a:rPr>
              <a:t>Phạm vi nghiên cứu: </a:t>
            </a:r>
          </a:p>
          <a:p>
            <a:pPr algn="just" marL="1295400" indent="-431800" lvl="2">
              <a:lnSpc>
                <a:spcPts val="4770"/>
              </a:lnSpc>
              <a:buFont typeface="Arial"/>
              <a:buChar char="⚬"/>
            </a:pPr>
            <a:r>
              <a:rPr lang="en-US" sz="3000" spc="108">
                <a:solidFill>
                  <a:srgbClr val="104579"/>
                </a:solidFill>
                <a:latin typeface="Arimo"/>
                <a:ea typeface="Arimo"/>
                <a:cs typeface="Arimo"/>
                <a:sym typeface="Arimo"/>
              </a:rPr>
              <a:t>Thà</a:t>
            </a:r>
            <a:r>
              <a:rPr lang="en-US" sz="3000" spc="108">
                <a:solidFill>
                  <a:srgbClr val="104579"/>
                </a:solidFill>
                <a:latin typeface="Arimo"/>
                <a:ea typeface="Arimo"/>
                <a:cs typeface="Arimo"/>
                <a:sym typeface="Arimo"/>
              </a:rPr>
              <a:t>nh phố Hồ Chí Minh </a:t>
            </a:r>
          </a:p>
          <a:p>
            <a:pPr algn="just" marL="1295400" indent="-431800" lvl="2">
              <a:lnSpc>
                <a:spcPts val="4770"/>
              </a:lnSpc>
              <a:buFont typeface="Arial"/>
              <a:buChar char="⚬"/>
            </a:pPr>
            <a:r>
              <a:rPr lang="en-US" sz="3000" spc="108">
                <a:solidFill>
                  <a:srgbClr val="104579"/>
                </a:solidFill>
                <a:latin typeface="Arimo"/>
                <a:ea typeface="Arimo"/>
                <a:cs typeface="Arimo"/>
                <a:sym typeface="Arimo"/>
              </a:rPr>
              <a:t>Dữ liệu từ năm 2018–2023</a:t>
            </a:r>
          </a:p>
        </p:txBody>
      </p:sp>
    </p:spTree>
  </p:cSld>
  <p:clrMapOvr>
    <a:masterClrMapping/>
  </p:clrMapOvr>
  <p:transition spd="fast">
    <p:fade/>
  </p:transition>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83287" y="-1338874"/>
            <a:ext cx="19819639" cy="12900629"/>
            <a:chOff x="0" y="0"/>
            <a:chExt cx="26426185" cy="17200838"/>
          </a:xfrm>
        </p:grpSpPr>
        <p:sp>
          <p:nvSpPr>
            <p:cNvPr name="Freeform 3" id="3"/>
            <p:cNvSpPr/>
            <p:nvPr/>
          </p:nvSpPr>
          <p:spPr>
            <a:xfrm flipH="false" flipV="false" rot="0">
              <a:off x="0" y="1785165"/>
              <a:ext cx="24895049" cy="14191553"/>
            </a:xfrm>
            <a:custGeom>
              <a:avLst/>
              <a:gdLst/>
              <a:ahLst/>
              <a:cxnLst/>
              <a:rect r="r" b="b" t="t" l="l"/>
              <a:pathLst>
                <a:path h="14191553" w="24895049">
                  <a:moveTo>
                    <a:pt x="0" y="0"/>
                  </a:moveTo>
                  <a:lnTo>
                    <a:pt x="24895049" y="0"/>
                  </a:lnTo>
                  <a:lnTo>
                    <a:pt x="24895049" y="14191554"/>
                  </a:lnTo>
                  <a:lnTo>
                    <a:pt x="0" y="14191554"/>
                  </a:lnTo>
                  <a:lnTo>
                    <a:pt x="0" y="0"/>
                  </a:lnTo>
                  <a:close/>
                </a:path>
              </a:pathLst>
            </a:custGeom>
            <a:blipFill>
              <a:blip r:embed="rId2"/>
              <a:stretch>
                <a:fillRect l="-4939" t="-11172" r="-7311" b="0"/>
              </a:stretch>
            </a:blipFill>
          </p:spPr>
        </p:sp>
        <p:sp>
          <p:nvSpPr>
            <p:cNvPr name="Freeform 4" id="4"/>
            <p:cNvSpPr/>
            <p:nvPr/>
          </p:nvSpPr>
          <p:spPr>
            <a:xfrm flipH="true" flipV="false" rot="0">
              <a:off x="511049" y="1785165"/>
              <a:ext cx="13222020" cy="15415673"/>
            </a:xfrm>
            <a:custGeom>
              <a:avLst/>
              <a:gdLst/>
              <a:ahLst/>
              <a:cxnLst/>
              <a:rect r="r" b="b" t="t" l="l"/>
              <a:pathLst>
                <a:path h="15415673" w="13222020">
                  <a:moveTo>
                    <a:pt x="13222020" y="0"/>
                  </a:moveTo>
                  <a:lnTo>
                    <a:pt x="0" y="0"/>
                  </a:lnTo>
                  <a:lnTo>
                    <a:pt x="0" y="15415673"/>
                  </a:lnTo>
                  <a:lnTo>
                    <a:pt x="13222020" y="15415673"/>
                  </a:lnTo>
                  <a:lnTo>
                    <a:pt x="13222020" y="0"/>
                  </a:lnTo>
                  <a:close/>
                </a:path>
              </a:pathLst>
            </a:custGeom>
            <a:blipFill>
              <a:blip r:embed="rId3"/>
              <a:stretch>
                <a:fillRect l="-12500" t="0" r="-12499" b="0"/>
              </a:stretch>
            </a:blipFill>
          </p:spPr>
        </p:sp>
        <p:grpSp>
          <p:nvGrpSpPr>
            <p:cNvPr name="Group 5" id="5"/>
            <p:cNvGrpSpPr/>
            <p:nvPr/>
          </p:nvGrpSpPr>
          <p:grpSpPr>
            <a:xfrm rot="0">
              <a:off x="1882649" y="3156765"/>
              <a:ext cx="21324463" cy="10972800"/>
              <a:chOff x="0" y="0"/>
              <a:chExt cx="4212240" cy="2167467"/>
            </a:xfrm>
          </p:grpSpPr>
          <p:sp>
            <p:nvSpPr>
              <p:cNvPr name="Freeform 6" id="6"/>
              <p:cNvSpPr/>
              <p:nvPr/>
            </p:nvSpPr>
            <p:spPr>
              <a:xfrm flipH="false" flipV="false" rot="0">
                <a:off x="0" y="0"/>
                <a:ext cx="4212239" cy="2167467"/>
              </a:xfrm>
              <a:custGeom>
                <a:avLst/>
                <a:gdLst/>
                <a:ahLst/>
                <a:cxnLst/>
                <a:rect r="r" b="b" t="t" l="l"/>
                <a:pathLst>
                  <a:path h="2167467" w="4212239">
                    <a:moveTo>
                      <a:pt x="36789" y="0"/>
                    </a:moveTo>
                    <a:lnTo>
                      <a:pt x="4175450" y="0"/>
                    </a:lnTo>
                    <a:cubicBezTo>
                      <a:pt x="4185207" y="0"/>
                      <a:pt x="4194565" y="3876"/>
                      <a:pt x="4201464" y="10775"/>
                    </a:cubicBezTo>
                    <a:cubicBezTo>
                      <a:pt x="4208363" y="17675"/>
                      <a:pt x="4212239" y="27032"/>
                      <a:pt x="4212239" y="36789"/>
                    </a:cubicBezTo>
                    <a:lnTo>
                      <a:pt x="4212239" y="2130677"/>
                    </a:lnTo>
                    <a:cubicBezTo>
                      <a:pt x="4212239" y="2150996"/>
                      <a:pt x="4195768" y="2167467"/>
                      <a:pt x="4175450" y="2167467"/>
                    </a:cubicBezTo>
                    <a:lnTo>
                      <a:pt x="36789" y="2167467"/>
                    </a:lnTo>
                    <a:cubicBezTo>
                      <a:pt x="27032" y="2167467"/>
                      <a:pt x="17675" y="2163591"/>
                      <a:pt x="10775" y="2156691"/>
                    </a:cubicBezTo>
                    <a:cubicBezTo>
                      <a:pt x="3876" y="2149792"/>
                      <a:pt x="0" y="2140434"/>
                      <a:pt x="0" y="2130677"/>
                    </a:cubicBezTo>
                    <a:lnTo>
                      <a:pt x="0" y="36789"/>
                    </a:lnTo>
                    <a:cubicBezTo>
                      <a:pt x="0" y="27032"/>
                      <a:pt x="3876" y="17675"/>
                      <a:pt x="10775" y="10775"/>
                    </a:cubicBezTo>
                    <a:cubicBezTo>
                      <a:pt x="17675" y="3876"/>
                      <a:pt x="27032" y="0"/>
                      <a:pt x="36789" y="0"/>
                    </a:cubicBezTo>
                    <a:close/>
                  </a:path>
                </a:pathLst>
              </a:custGeom>
              <a:solidFill>
                <a:srgbClr val="FFFFFF">
                  <a:alpha val="60784"/>
                </a:srgbClr>
              </a:solidFill>
              <a:ln w="38100" cap="rnd">
                <a:solidFill>
                  <a:srgbClr val="2D8BBA">
                    <a:alpha val="60784"/>
                  </a:srgbClr>
                </a:solidFill>
                <a:prstDash val="solid"/>
                <a:round/>
              </a:ln>
            </p:spPr>
          </p:sp>
          <p:sp>
            <p:nvSpPr>
              <p:cNvPr name="TextBox 7" id="7"/>
              <p:cNvSpPr txBox="true"/>
              <p:nvPr/>
            </p:nvSpPr>
            <p:spPr>
              <a:xfrm>
                <a:off x="0" y="-47625"/>
                <a:ext cx="4212240" cy="2215092"/>
              </a:xfrm>
              <a:prstGeom prst="rect">
                <a:avLst/>
              </a:prstGeom>
            </p:spPr>
            <p:txBody>
              <a:bodyPr anchor="ctr" rtlCol="false" tIns="50800" lIns="50800" bIns="50800" rIns="50800"/>
              <a:lstStyle/>
              <a:p>
                <a:pPr algn="ctr">
                  <a:lnSpc>
                    <a:spcPts val="3525"/>
                  </a:lnSpc>
                </a:pPr>
              </a:p>
            </p:txBody>
          </p:sp>
        </p:grpSp>
        <p:sp>
          <p:nvSpPr>
            <p:cNvPr name="Freeform 8" id="8"/>
            <p:cNvSpPr/>
            <p:nvPr/>
          </p:nvSpPr>
          <p:spPr>
            <a:xfrm flipH="false" flipV="true" rot="0">
              <a:off x="13130838" y="0"/>
              <a:ext cx="13295346" cy="15501165"/>
            </a:xfrm>
            <a:custGeom>
              <a:avLst/>
              <a:gdLst/>
              <a:ahLst/>
              <a:cxnLst/>
              <a:rect r="r" b="b" t="t" l="l"/>
              <a:pathLst>
                <a:path h="15501165" w="13295346">
                  <a:moveTo>
                    <a:pt x="0" y="15501165"/>
                  </a:moveTo>
                  <a:lnTo>
                    <a:pt x="13295347" y="15501165"/>
                  </a:lnTo>
                  <a:lnTo>
                    <a:pt x="13295347" y="0"/>
                  </a:lnTo>
                  <a:lnTo>
                    <a:pt x="0" y="0"/>
                  </a:lnTo>
                  <a:lnTo>
                    <a:pt x="0" y="15501165"/>
                  </a:lnTo>
                  <a:close/>
                </a:path>
              </a:pathLst>
            </a:custGeom>
            <a:blipFill>
              <a:blip r:embed="rId3"/>
              <a:stretch>
                <a:fillRect l="-12500" t="0" r="-12499" b="0"/>
              </a:stretch>
            </a:blipFill>
          </p:spPr>
        </p:sp>
      </p:grpSp>
      <p:sp>
        <p:nvSpPr>
          <p:cNvPr name="TextBox 9" id="9"/>
          <p:cNvSpPr txBox="true"/>
          <p:nvPr/>
        </p:nvSpPr>
        <p:spPr>
          <a:xfrm rot="0">
            <a:off x="4416582" y="4466721"/>
            <a:ext cx="9454837" cy="936625"/>
          </a:xfrm>
          <a:prstGeom prst="rect">
            <a:avLst/>
          </a:prstGeom>
        </p:spPr>
        <p:txBody>
          <a:bodyPr anchor="t" rtlCol="false" tIns="0" lIns="0" bIns="0" rIns="0">
            <a:spAutoFit/>
          </a:bodyPr>
          <a:lstStyle/>
          <a:p>
            <a:pPr algn="ctr">
              <a:lnSpc>
                <a:spcPts val="7699"/>
              </a:lnSpc>
              <a:spcBef>
                <a:spcPct val="0"/>
              </a:spcBef>
            </a:pPr>
            <a:r>
              <a:rPr lang="en-US" b="true" sz="5499">
                <a:solidFill>
                  <a:srgbClr val="104579"/>
                </a:solidFill>
                <a:latin typeface="Garet Bold"/>
                <a:ea typeface="Garet Bold"/>
                <a:cs typeface="Garet Bold"/>
                <a:sym typeface="Garet Bold"/>
              </a:rPr>
              <a:t>PHẦN 2. BỘ DỮ LIỆU</a:t>
            </a:r>
          </a:p>
        </p:txBody>
      </p:sp>
    </p:spTree>
  </p:cSld>
  <p:clrMapOvr>
    <a:masterClrMapping/>
  </p:clrMapOvr>
  <p:transition spd="fast">
    <p:fade/>
  </p:transition>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15337" y="-1551346"/>
            <a:ext cx="19819639" cy="12900629"/>
            <a:chOff x="0" y="0"/>
            <a:chExt cx="26426185" cy="17200838"/>
          </a:xfrm>
        </p:grpSpPr>
        <p:sp>
          <p:nvSpPr>
            <p:cNvPr name="Freeform 3" id="3"/>
            <p:cNvSpPr/>
            <p:nvPr/>
          </p:nvSpPr>
          <p:spPr>
            <a:xfrm flipH="false" flipV="false" rot="0">
              <a:off x="0" y="1785165"/>
              <a:ext cx="24895049" cy="14191553"/>
            </a:xfrm>
            <a:custGeom>
              <a:avLst/>
              <a:gdLst/>
              <a:ahLst/>
              <a:cxnLst/>
              <a:rect r="r" b="b" t="t" l="l"/>
              <a:pathLst>
                <a:path h="14191553" w="24895049">
                  <a:moveTo>
                    <a:pt x="0" y="0"/>
                  </a:moveTo>
                  <a:lnTo>
                    <a:pt x="24895049" y="0"/>
                  </a:lnTo>
                  <a:lnTo>
                    <a:pt x="24895049" y="14191554"/>
                  </a:lnTo>
                  <a:lnTo>
                    <a:pt x="0" y="14191554"/>
                  </a:lnTo>
                  <a:lnTo>
                    <a:pt x="0" y="0"/>
                  </a:lnTo>
                  <a:close/>
                </a:path>
              </a:pathLst>
            </a:custGeom>
            <a:blipFill>
              <a:blip r:embed="rId2"/>
              <a:stretch>
                <a:fillRect l="-4939" t="-11172" r="-7311" b="0"/>
              </a:stretch>
            </a:blipFill>
          </p:spPr>
        </p:sp>
        <p:sp>
          <p:nvSpPr>
            <p:cNvPr name="Freeform 4" id="4"/>
            <p:cNvSpPr/>
            <p:nvPr/>
          </p:nvSpPr>
          <p:spPr>
            <a:xfrm flipH="true" flipV="false" rot="0">
              <a:off x="511049" y="1785165"/>
              <a:ext cx="13222020" cy="15415673"/>
            </a:xfrm>
            <a:custGeom>
              <a:avLst/>
              <a:gdLst/>
              <a:ahLst/>
              <a:cxnLst/>
              <a:rect r="r" b="b" t="t" l="l"/>
              <a:pathLst>
                <a:path h="15415673" w="13222020">
                  <a:moveTo>
                    <a:pt x="13222020" y="0"/>
                  </a:moveTo>
                  <a:lnTo>
                    <a:pt x="0" y="0"/>
                  </a:lnTo>
                  <a:lnTo>
                    <a:pt x="0" y="15415673"/>
                  </a:lnTo>
                  <a:lnTo>
                    <a:pt x="13222020" y="15415673"/>
                  </a:lnTo>
                  <a:lnTo>
                    <a:pt x="13222020" y="0"/>
                  </a:lnTo>
                  <a:close/>
                </a:path>
              </a:pathLst>
            </a:custGeom>
            <a:blipFill>
              <a:blip r:embed="rId3"/>
              <a:stretch>
                <a:fillRect l="-12500" t="0" r="-12499" b="0"/>
              </a:stretch>
            </a:blipFill>
          </p:spPr>
        </p:sp>
        <p:grpSp>
          <p:nvGrpSpPr>
            <p:cNvPr name="Group 5" id="5"/>
            <p:cNvGrpSpPr/>
            <p:nvPr/>
          </p:nvGrpSpPr>
          <p:grpSpPr>
            <a:xfrm rot="0">
              <a:off x="1882649" y="3156765"/>
              <a:ext cx="21324463" cy="10972800"/>
              <a:chOff x="0" y="0"/>
              <a:chExt cx="4212240" cy="2167467"/>
            </a:xfrm>
          </p:grpSpPr>
          <p:sp>
            <p:nvSpPr>
              <p:cNvPr name="Freeform 6" id="6"/>
              <p:cNvSpPr/>
              <p:nvPr/>
            </p:nvSpPr>
            <p:spPr>
              <a:xfrm flipH="false" flipV="false" rot="0">
                <a:off x="0" y="0"/>
                <a:ext cx="4212239" cy="2167467"/>
              </a:xfrm>
              <a:custGeom>
                <a:avLst/>
                <a:gdLst/>
                <a:ahLst/>
                <a:cxnLst/>
                <a:rect r="r" b="b" t="t" l="l"/>
                <a:pathLst>
                  <a:path h="2167467" w="4212239">
                    <a:moveTo>
                      <a:pt x="36789" y="0"/>
                    </a:moveTo>
                    <a:lnTo>
                      <a:pt x="4175450" y="0"/>
                    </a:lnTo>
                    <a:cubicBezTo>
                      <a:pt x="4185207" y="0"/>
                      <a:pt x="4194565" y="3876"/>
                      <a:pt x="4201464" y="10775"/>
                    </a:cubicBezTo>
                    <a:cubicBezTo>
                      <a:pt x="4208363" y="17675"/>
                      <a:pt x="4212239" y="27032"/>
                      <a:pt x="4212239" y="36789"/>
                    </a:cubicBezTo>
                    <a:lnTo>
                      <a:pt x="4212239" y="2130677"/>
                    </a:lnTo>
                    <a:cubicBezTo>
                      <a:pt x="4212239" y="2150996"/>
                      <a:pt x="4195768" y="2167467"/>
                      <a:pt x="4175450" y="2167467"/>
                    </a:cubicBezTo>
                    <a:lnTo>
                      <a:pt x="36789" y="2167467"/>
                    </a:lnTo>
                    <a:cubicBezTo>
                      <a:pt x="27032" y="2167467"/>
                      <a:pt x="17675" y="2163591"/>
                      <a:pt x="10775" y="2156691"/>
                    </a:cubicBezTo>
                    <a:cubicBezTo>
                      <a:pt x="3876" y="2149792"/>
                      <a:pt x="0" y="2140434"/>
                      <a:pt x="0" y="2130677"/>
                    </a:cubicBezTo>
                    <a:lnTo>
                      <a:pt x="0" y="36789"/>
                    </a:lnTo>
                    <a:cubicBezTo>
                      <a:pt x="0" y="27032"/>
                      <a:pt x="3876" y="17675"/>
                      <a:pt x="10775" y="10775"/>
                    </a:cubicBezTo>
                    <a:cubicBezTo>
                      <a:pt x="17675" y="3876"/>
                      <a:pt x="27032" y="0"/>
                      <a:pt x="36789" y="0"/>
                    </a:cubicBezTo>
                    <a:close/>
                  </a:path>
                </a:pathLst>
              </a:custGeom>
              <a:solidFill>
                <a:srgbClr val="FFFFFF">
                  <a:alpha val="60784"/>
                </a:srgbClr>
              </a:solidFill>
              <a:ln w="38100" cap="rnd">
                <a:solidFill>
                  <a:srgbClr val="2D8BBA">
                    <a:alpha val="60784"/>
                  </a:srgbClr>
                </a:solidFill>
                <a:prstDash val="solid"/>
                <a:round/>
              </a:ln>
            </p:spPr>
          </p:sp>
          <p:sp>
            <p:nvSpPr>
              <p:cNvPr name="TextBox 7" id="7"/>
              <p:cNvSpPr txBox="true"/>
              <p:nvPr/>
            </p:nvSpPr>
            <p:spPr>
              <a:xfrm>
                <a:off x="0" y="-47625"/>
                <a:ext cx="4212240" cy="2215092"/>
              </a:xfrm>
              <a:prstGeom prst="rect">
                <a:avLst/>
              </a:prstGeom>
            </p:spPr>
            <p:txBody>
              <a:bodyPr anchor="ctr" rtlCol="false" tIns="50800" lIns="50800" bIns="50800" rIns="50800"/>
              <a:lstStyle/>
              <a:p>
                <a:pPr algn="ctr">
                  <a:lnSpc>
                    <a:spcPts val="3525"/>
                  </a:lnSpc>
                </a:pPr>
              </a:p>
            </p:txBody>
          </p:sp>
        </p:grpSp>
        <p:sp>
          <p:nvSpPr>
            <p:cNvPr name="Freeform 8" id="8"/>
            <p:cNvSpPr/>
            <p:nvPr/>
          </p:nvSpPr>
          <p:spPr>
            <a:xfrm flipH="false" flipV="true" rot="0">
              <a:off x="13130838" y="0"/>
              <a:ext cx="13295346" cy="15501165"/>
            </a:xfrm>
            <a:custGeom>
              <a:avLst/>
              <a:gdLst/>
              <a:ahLst/>
              <a:cxnLst/>
              <a:rect r="r" b="b" t="t" l="l"/>
              <a:pathLst>
                <a:path h="15501165" w="13295346">
                  <a:moveTo>
                    <a:pt x="0" y="15501165"/>
                  </a:moveTo>
                  <a:lnTo>
                    <a:pt x="13295347" y="15501165"/>
                  </a:lnTo>
                  <a:lnTo>
                    <a:pt x="13295347" y="0"/>
                  </a:lnTo>
                  <a:lnTo>
                    <a:pt x="0" y="0"/>
                  </a:lnTo>
                  <a:lnTo>
                    <a:pt x="0" y="15501165"/>
                  </a:lnTo>
                  <a:close/>
                </a:path>
              </a:pathLst>
            </a:custGeom>
            <a:blipFill>
              <a:blip r:embed="rId3"/>
              <a:stretch>
                <a:fillRect l="-12500" t="0" r="-12499" b="0"/>
              </a:stretch>
            </a:blipFill>
          </p:spPr>
        </p:sp>
      </p:grpSp>
      <p:sp>
        <p:nvSpPr>
          <p:cNvPr name="Freeform 9" id="9"/>
          <p:cNvSpPr/>
          <p:nvPr/>
        </p:nvSpPr>
        <p:spPr>
          <a:xfrm flipH="false" flipV="false" rot="0">
            <a:off x="1325764" y="2590005"/>
            <a:ext cx="10813151" cy="5422595"/>
          </a:xfrm>
          <a:custGeom>
            <a:avLst/>
            <a:gdLst/>
            <a:ahLst/>
            <a:cxnLst/>
            <a:rect r="r" b="b" t="t" l="l"/>
            <a:pathLst>
              <a:path h="5422595" w="10813151">
                <a:moveTo>
                  <a:pt x="0" y="0"/>
                </a:moveTo>
                <a:lnTo>
                  <a:pt x="10813150" y="0"/>
                </a:lnTo>
                <a:lnTo>
                  <a:pt x="10813150" y="5422595"/>
                </a:lnTo>
                <a:lnTo>
                  <a:pt x="0" y="5422595"/>
                </a:lnTo>
                <a:lnTo>
                  <a:pt x="0" y="0"/>
                </a:lnTo>
                <a:close/>
              </a:path>
            </a:pathLst>
          </a:custGeom>
          <a:blipFill>
            <a:blip r:embed="rId4"/>
            <a:stretch>
              <a:fillRect l="0" t="0" r="0" b="0"/>
            </a:stretch>
          </a:blipFill>
        </p:spPr>
      </p:sp>
      <p:sp>
        <p:nvSpPr>
          <p:cNvPr name="TextBox 10" id="10"/>
          <p:cNvSpPr txBox="true"/>
          <p:nvPr/>
        </p:nvSpPr>
        <p:spPr>
          <a:xfrm rot="0">
            <a:off x="7581252" y="9360313"/>
            <a:ext cx="3074441" cy="570402"/>
          </a:xfrm>
          <a:prstGeom prst="rect">
            <a:avLst/>
          </a:prstGeom>
        </p:spPr>
        <p:txBody>
          <a:bodyPr anchor="t" rtlCol="false" tIns="0" lIns="0" bIns="0" rIns="0">
            <a:spAutoFit/>
          </a:bodyPr>
          <a:lstStyle/>
          <a:p>
            <a:pPr algn="ctr">
              <a:lnSpc>
                <a:spcPts val="4785"/>
              </a:lnSpc>
              <a:spcBef>
                <a:spcPct val="0"/>
              </a:spcBef>
            </a:pPr>
            <a:r>
              <a:rPr lang="en-US" b="true" sz="3418">
                <a:solidFill>
                  <a:srgbClr val="104579"/>
                </a:solidFill>
                <a:latin typeface="Amaranth Bold"/>
                <a:ea typeface="Amaranth Bold"/>
                <a:cs typeface="Amaranth Bold"/>
                <a:sym typeface="Amaranth Bold"/>
              </a:rPr>
              <a:t>05</a:t>
            </a:r>
          </a:p>
        </p:txBody>
      </p:sp>
      <p:sp>
        <p:nvSpPr>
          <p:cNvPr name="TextBox 11" id="11"/>
          <p:cNvSpPr txBox="true"/>
          <p:nvPr/>
        </p:nvSpPr>
        <p:spPr>
          <a:xfrm rot="0">
            <a:off x="5869163" y="1185809"/>
            <a:ext cx="7214407" cy="863600"/>
          </a:xfrm>
          <a:prstGeom prst="rect">
            <a:avLst/>
          </a:prstGeom>
        </p:spPr>
        <p:txBody>
          <a:bodyPr anchor="t" rtlCol="false" tIns="0" lIns="0" bIns="0" rIns="0">
            <a:spAutoFit/>
          </a:bodyPr>
          <a:lstStyle/>
          <a:p>
            <a:pPr algn="l">
              <a:lnSpc>
                <a:spcPts val="7000"/>
              </a:lnSpc>
              <a:spcBef>
                <a:spcPct val="0"/>
              </a:spcBef>
            </a:pPr>
            <a:r>
              <a:rPr lang="en-US" b="true" sz="5000">
                <a:solidFill>
                  <a:srgbClr val="104579"/>
                </a:solidFill>
                <a:latin typeface="Garet Bold"/>
                <a:ea typeface="Garet Bold"/>
                <a:cs typeface="Garet Bold"/>
                <a:sym typeface="Garet Bold"/>
              </a:rPr>
              <a:t>BẢNG DỮ LIỆU PM2.5</a:t>
            </a:r>
          </a:p>
        </p:txBody>
      </p:sp>
      <p:sp>
        <p:nvSpPr>
          <p:cNvPr name="TextBox 12" id="12"/>
          <p:cNvSpPr txBox="true"/>
          <p:nvPr/>
        </p:nvSpPr>
        <p:spPr>
          <a:xfrm rot="0">
            <a:off x="12177014" y="2605777"/>
            <a:ext cx="5482754" cy="4800600"/>
          </a:xfrm>
          <a:prstGeom prst="rect">
            <a:avLst/>
          </a:prstGeom>
        </p:spPr>
        <p:txBody>
          <a:bodyPr anchor="t" rtlCol="false" tIns="0" lIns="0" bIns="0" rIns="0">
            <a:spAutoFit/>
          </a:bodyPr>
          <a:lstStyle/>
          <a:p>
            <a:pPr algn="l">
              <a:lnSpc>
                <a:spcPts val="4200"/>
              </a:lnSpc>
              <a:spcBef>
                <a:spcPct val="0"/>
              </a:spcBef>
            </a:pPr>
            <a:r>
              <a:rPr lang="en-US" sz="3000">
                <a:solidFill>
                  <a:srgbClr val="104579"/>
                </a:solidFill>
                <a:latin typeface="Arimo"/>
                <a:ea typeface="Arimo"/>
                <a:cs typeface="Arimo"/>
                <a:sym typeface="Arimo"/>
              </a:rPr>
              <a:t>Dữ liệu bao gồm: </a:t>
            </a:r>
          </a:p>
          <a:p>
            <a:pPr algn="l" marL="647700" indent="-323850" lvl="1">
              <a:lnSpc>
                <a:spcPts val="4200"/>
              </a:lnSpc>
              <a:buFont typeface="Arial"/>
              <a:buChar char="•"/>
            </a:pPr>
            <a:r>
              <a:rPr lang="en-US" sz="3000">
                <a:solidFill>
                  <a:srgbClr val="104579"/>
                </a:solidFill>
                <a:latin typeface="Arimo"/>
                <a:ea typeface="Arimo"/>
                <a:cs typeface="Arimo"/>
                <a:sym typeface="Arimo"/>
              </a:rPr>
              <a:t>Thông tin thời gian</a:t>
            </a:r>
          </a:p>
          <a:p>
            <a:pPr algn="l" marL="647700" indent="-323850" lvl="1">
              <a:lnSpc>
                <a:spcPts val="4200"/>
              </a:lnSpc>
              <a:buFont typeface="Arial"/>
              <a:buChar char="•"/>
            </a:pPr>
            <a:r>
              <a:rPr lang="en-US" sz="3000">
                <a:solidFill>
                  <a:srgbClr val="104579"/>
                </a:solidFill>
                <a:latin typeface="Arimo"/>
                <a:ea typeface="Arimo"/>
                <a:cs typeface="Arimo"/>
                <a:sym typeface="Arimo"/>
              </a:rPr>
              <a:t>Hướng gió (wd_s) </a:t>
            </a:r>
          </a:p>
          <a:p>
            <a:pPr algn="l" marL="647700" indent="-323850" lvl="1">
              <a:lnSpc>
                <a:spcPts val="4200"/>
              </a:lnSpc>
              <a:buFont typeface="Arial"/>
              <a:buChar char="•"/>
            </a:pPr>
            <a:r>
              <a:rPr lang="en-US" sz="3000">
                <a:solidFill>
                  <a:srgbClr val="104579"/>
                </a:solidFill>
                <a:latin typeface="Arimo"/>
                <a:ea typeface="Arimo"/>
                <a:cs typeface="Arimo"/>
                <a:sym typeface="Arimo"/>
              </a:rPr>
              <a:t>Tốc độ gió (ws_s)</a:t>
            </a:r>
          </a:p>
          <a:p>
            <a:pPr algn="l" marL="647700" indent="-323850" lvl="1">
              <a:lnSpc>
                <a:spcPts val="4200"/>
              </a:lnSpc>
              <a:buFont typeface="Arial"/>
              <a:buChar char="•"/>
            </a:pPr>
            <a:r>
              <a:rPr lang="en-US" sz="3000">
                <a:solidFill>
                  <a:srgbClr val="104579"/>
                </a:solidFill>
                <a:latin typeface="Arimo"/>
                <a:ea typeface="Arimo"/>
                <a:cs typeface="Arimo"/>
                <a:sym typeface="Arimo"/>
              </a:rPr>
              <a:t>Lượng mưa (Rainfall_s)</a:t>
            </a:r>
          </a:p>
          <a:p>
            <a:pPr algn="l" marL="647700" indent="-323850" lvl="1">
              <a:lnSpc>
                <a:spcPts val="4200"/>
              </a:lnSpc>
              <a:buFont typeface="Arial"/>
              <a:buChar char="•"/>
            </a:pPr>
            <a:r>
              <a:rPr lang="en-US" sz="3000">
                <a:solidFill>
                  <a:srgbClr val="104579"/>
                </a:solidFill>
                <a:latin typeface="Arimo"/>
                <a:ea typeface="Arimo"/>
                <a:cs typeface="Arimo"/>
                <a:sym typeface="Arimo"/>
              </a:rPr>
              <a:t>Độ ẩm (lowleaf_s)</a:t>
            </a:r>
          </a:p>
          <a:p>
            <a:pPr algn="l" marL="647700" indent="-323850" lvl="1">
              <a:lnSpc>
                <a:spcPts val="4200"/>
              </a:lnSpc>
              <a:spcBef>
                <a:spcPct val="0"/>
              </a:spcBef>
              <a:buFont typeface="Arial"/>
              <a:buChar char="•"/>
            </a:pPr>
            <a:r>
              <a:rPr lang="en-US" sz="3000">
                <a:solidFill>
                  <a:srgbClr val="104579"/>
                </a:solidFill>
                <a:latin typeface="Arimo"/>
                <a:ea typeface="Arimo"/>
                <a:cs typeface="Arimo"/>
                <a:sym typeface="Arimo"/>
              </a:rPr>
              <a:t>Nhiệt độ (temp_s)</a:t>
            </a:r>
          </a:p>
          <a:p>
            <a:pPr algn="l" marL="647700" indent="-323850" lvl="1">
              <a:lnSpc>
                <a:spcPts val="4200"/>
              </a:lnSpc>
              <a:buFont typeface="Arial"/>
              <a:buChar char="•"/>
            </a:pPr>
            <a:r>
              <a:rPr lang="en-US" sz="3000">
                <a:solidFill>
                  <a:srgbClr val="104579"/>
                </a:solidFill>
                <a:latin typeface="Arimo"/>
                <a:ea typeface="Arimo"/>
                <a:cs typeface="Arimo"/>
                <a:sym typeface="Arimo"/>
              </a:rPr>
              <a:t>Bức xạ (uvb_s) </a:t>
            </a:r>
          </a:p>
          <a:p>
            <a:pPr algn="l" marL="647700" indent="-323850" lvl="1">
              <a:lnSpc>
                <a:spcPts val="4200"/>
              </a:lnSpc>
              <a:buFont typeface="Arial"/>
              <a:buChar char="•"/>
            </a:pPr>
            <a:r>
              <a:rPr lang="en-US" sz="3000">
                <a:solidFill>
                  <a:srgbClr val="104579"/>
                </a:solidFill>
                <a:latin typeface="Arimo"/>
                <a:ea typeface="Arimo"/>
                <a:cs typeface="Arimo"/>
                <a:sym typeface="Arimo"/>
              </a:rPr>
              <a:t>Chỉ số PM2.5</a:t>
            </a:r>
          </a:p>
        </p:txBody>
      </p:sp>
      <p:sp>
        <p:nvSpPr>
          <p:cNvPr name="TextBox 13" id="13"/>
          <p:cNvSpPr txBox="true"/>
          <p:nvPr/>
        </p:nvSpPr>
        <p:spPr>
          <a:xfrm rot="0">
            <a:off x="5185460" y="8065711"/>
            <a:ext cx="3093759" cy="299720"/>
          </a:xfrm>
          <a:prstGeom prst="rect">
            <a:avLst/>
          </a:prstGeom>
        </p:spPr>
        <p:txBody>
          <a:bodyPr anchor="t" rtlCol="false" tIns="0" lIns="0" bIns="0" rIns="0">
            <a:spAutoFit/>
          </a:bodyPr>
          <a:lstStyle/>
          <a:p>
            <a:pPr algn="l">
              <a:lnSpc>
                <a:spcPts val="2380"/>
              </a:lnSpc>
            </a:pPr>
            <a:r>
              <a:rPr lang="en-US" b="true" sz="1700" i="true">
                <a:solidFill>
                  <a:srgbClr val="104579"/>
                </a:solidFill>
                <a:latin typeface="Arimo Bold Italics"/>
                <a:ea typeface="Arimo Bold Italics"/>
                <a:cs typeface="Arimo Bold Italics"/>
                <a:sym typeface="Arimo Bold Italics"/>
              </a:rPr>
              <a:t>Bộ dữ liệu PM2.5</a:t>
            </a:r>
            <a:r>
              <a:rPr lang="en-US" b="true" sz="1700" i="true">
                <a:solidFill>
                  <a:srgbClr val="104579"/>
                </a:solidFill>
                <a:latin typeface="Arimo Bold Italics"/>
                <a:ea typeface="Arimo Bold Italics"/>
                <a:cs typeface="Arimo Bold Italics"/>
                <a:sym typeface="Arimo Bold Italics"/>
              </a:rPr>
              <a:t> (</a:t>
            </a:r>
            <a:r>
              <a:rPr lang="en-US" b="true" sz="1700" i="true">
                <a:solidFill>
                  <a:srgbClr val="104579"/>
                </a:solidFill>
                <a:latin typeface="Arimo Bold Italics"/>
                <a:ea typeface="Arimo Bold Italics"/>
                <a:cs typeface="Arimo Bold Italics"/>
                <a:sym typeface="Arimo Bold Italics"/>
              </a:rPr>
              <a:t>2018–2023)</a:t>
            </a:r>
          </a:p>
        </p:txBody>
      </p:sp>
    </p:spTree>
  </p:cSld>
  <p:clrMapOvr>
    <a:masterClrMapping/>
  </p:clrMapOvr>
  <p:transition spd="fast">
    <p:fade/>
  </p:transition>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15337" y="-1492425"/>
            <a:ext cx="19819639" cy="12900629"/>
            <a:chOff x="0" y="0"/>
            <a:chExt cx="26426185" cy="17200838"/>
          </a:xfrm>
        </p:grpSpPr>
        <p:sp>
          <p:nvSpPr>
            <p:cNvPr name="Freeform 3" id="3"/>
            <p:cNvSpPr/>
            <p:nvPr/>
          </p:nvSpPr>
          <p:spPr>
            <a:xfrm flipH="false" flipV="false" rot="0">
              <a:off x="0" y="1785165"/>
              <a:ext cx="24895049" cy="14191553"/>
            </a:xfrm>
            <a:custGeom>
              <a:avLst/>
              <a:gdLst/>
              <a:ahLst/>
              <a:cxnLst/>
              <a:rect r="r" b="b" t="t" l="l"/>
              <a:pathLst>
                <a:path h="14191553" w="24895049">
                  <a:moveTo>
                    <a:pt x="0" y="0"/>
                  </a:moveTo>
                  <a:lnTo>
                    <a:pt x="24895049" y="0"/>
                  </a:lnTo>
                  <a:lnTo>
                    <a:pt x="24895049" y="14191554"/>
                  </a:lnTo>
                  <a:lnTo>
                    <a:pt x="0" y="14191554"/>
                  </a:lnTo>
                  <a:lnTo>
                    <a:pt x="0" y="0"/>
                  </a:lnTo>
                  <a:close/>
                </a:path>
              </a:pathLst>
            </a:custGeom>
            <a:blipFill>
              <a:blip r:embed="rId2"/>
              <a:stretch>
                <a:fillRect l="-4939" t="-11172" r="-7311" b="0"/>
              </a:stretch>
            </a:blipFill>
          </p:spPr>
        </p:sp>
        <p:sp>
          <p:nvSpPr>
            <p:cNvPr name="Freeform 4" id="4"/>
            <p:cNvSpPr/>
            <p:nvPr/>
          </p:nvSpPr>
          <p:spPr>
            <a:xfrm flipH="true" flipV="false" rot="0">
              <a:off x="511049" y="1785165"/>
              <a:ext cx="13222020" cy="15415673"/>
            </a:xfrm>
            <a:custGeom>
              <a:avLst/>
              <a:gdLst/>
              <a:ahLst/>
              <a:cxnLst/>
              <a:rect r="r" b="b" t="t" l="l"/>
              <a:pathLst>
                <a:path h="15415673" w="13222020">
                  <a:moveTo>
                    <a:pt x="13222020" y="0"/>
                  </a:moveTo>
                  <a:lnTo>
                    <a:pt x="0" y="0"/>
                  </a:lnTo>
                  <a:lnTo>
                    <a:pt x="0" y="15415673"/>
                  </a:lnTo>
                  <a:lnTo>
                    <a:pt x="13222020" y="15415673"/>
                  </a:lnTo>
                  <a:lnTo>
                    <a:pt x="13222020" y="0"/>
                  </a:lnTo>
                  <a:close/>
                </a:path>
              </a:pathLst>
            </a:custGeom>
            <a:blipFill>
              <a:blip r:embed="rId3"/>
              <a:stretch>
                <a:fillRect l="-12500" t="0" r="-12499" b="0"/>
              </a:stretch>
            </a:blipFill>
          </p:spPr>
        </p:sp>
        <p:grpSp>
          <p:nvGrpSpPr>
            <p:cNvPr name="Group 5" id="5"/>
            <p:cNvGrpSpPr/>
            <p:nvPr/>
          </p:nvGrpSpPr>
          <p:grpSpPr>
            <a:xfrm rot="0">
              <a:off x="1882649" y="3156765"/>
              <a:ext cx="21324463" cy="10972800"/>
              <a:chOff x="0" y="0"/>
              <a:chExt cx="4212240" cy="2167467"/>
            </a:xfrm>
          </p:grpSpPr>
          <p:sp>
            <p:nvSpPr>
              <p:cNvPr name="Freeform 6" id="6"/>
              <p:cNvSpPr/>
              <p:nvPr/>
            </p:nvSpPr>
            <p:spPr>
              <a:xfrm flipH="false" flipV="false" rot="0">
                <a:off x="0" y="0"/>
                <a:ext cx="4212239" cy="2167467"/>
              </a:xfrm>
              <a:custGeom>
                <a:avLst/>
                <a:gdLst/>
                <a:ahLst/>
                <a:cxnLst/>
                <a:rect r="r" b="b" t="t" l="l"/>
                <a:pathLst>
                  <a:path h="2167467" w="4212239">
                    <a:moveTo>
                      <a:pt x="36789" y="0"/>
                    </a:moveTo>
                    <a:lnTo>
                      <a:pt x="4175450" y="0"/>
                    </a:lnTo>
                    <a:cubicBezTo>
                      <a:pt x="4185207" y="0"/>
                      <a:pt x="4194565" y="3876"/>
                      <a:pt x="4201464" y="10775"/>
                    </a:cubicBezTo>
                    <a:cubicBezTo>
                      <a:pt x="4208363" y="17675"/>
                      <a:pt x="4212239" y="27032"/>
                      <a:pt x="4212239" y="36789"/>
                    </a:cubicBezTo>
                    <a:lnTo>
                      <a:pt x="4212239" y="2130677"/>
                    </a:lnTo>
                    <a:cubicBezTo>
                      <a:pt x="4212239" y="2150996"/>
                      <a:pt x="4195768" y="2167467"/>
                      <a:pt x="4175450" y="2167467"/>
                    </a:cubicBezTo>
                    <a:lnTo>
                      <a:pt x="36789" y="2167467"/>
                    </a:lnTo>
                    <a:cubicBezTo>
                      <a:pt x="27032" y="2167467"/>
                      <a:pt x="17675" y="2163591"/>
                      <a:pt x="10775" y="2156691"/>
                    </a:cubicBezTo>
                    <a:cubicBezTo>
                      <a:pt x="3876" y="2149792"/>
                      <a:pt x="0" y="2140434"/>
                      <a:pt x="0" y="2130677"/>
                    </a:cubicBezTo>
                    <a:lnTo>
                      <a:pt x="0" y="36789"/>
                    </a:lnTo>
                    <a:cubicBezTo>
                      <a:pt x="0" y="27032"/>
                      <a:pt x="3876" y="17675"/>
                      <a:pt x="10775" y="10775"/>
                    </a:cubicBezTo>
                    <a:cubicBezTo>
                      <a:pt x="17675" y="3876"/>
                      <a:pt x="27032" y="0"/>
                      <a:pt x="36789" y="0"/>
                    </a:cubicBezTo>
                    <a:close/>
                  </a:path>
                </a:pathLst>
              </a:custGeom>
              <a:solidFill>
                <a:srgbClr val="FFFFFF">
                  <a:alpha val="60784"/>
                </a:srgbClr>
              </a:solidFill>
              <a:ln w="38100" cap="rnd">
                <a:solidFill>
                  <a:srgbClr val="2D8BBA">
                    <a:alpha val="60784"/>
                  </a:srgbClr>
                </a:solidFill>
                <a:prstDash val="solid"/>
                <a:round/>
              </a:ln>
            </p:spPr>
          </p:sp>
          <p:sp>
            <p:nvSpPr>
              <p:cNvPr name="TextBox 7" id="7"/>
              <p:cNvSpPr txBox="true"/>
              <p:nvPr/>
            </p:nvSpPr>
            <p:spPr>
              <a:xfrm>
                <a:off x="0" y="-47625"/>
                <a:ext cx="4212240" cy="2215092"/>
              </a:xfrm>
              <a:prstGeom prst="rect">
                <a:avLst/>
              </a:prstGeom>
            </p:spPr>
            <p:txBody>
              <a:bodyPr anchor="ctr" rtlCol="false" tIns="50800" lIns="50800" bIns="50800" rIns="50800"/>
              <a:lstStyle/>
              <a:p>
                <a:pPr algn="ctr">
                  <a:lnSpc>
                    <a:spcPts val="3525"/>
                  </a:lnSpc>
                </a:pPr>
              </a:p>
            </p:txBody>
          </p:sp>
        </p:grpSp>
        <p:sp>
          <p:nvSpPr>
            <p:cNvPr name="Freeform 8" id="8"/>
            <p:cNvSpPr/>
            <p:nvPr/>
          </p:nvSpPr>
          <p:spPr>
            <a:xfrm flipH="false" flipV="true" rot="0">
              <a:off x="13130838" y="0"/>
              <a:ext cx="13295346" cy="15501165"/>
            </a:xfrm>
            <a:custGeom>
              <a:avLst/>
              <a:gdLst/>
              <a:ahLst/>
              <a:cxnLst/>
              <a:rect r="r" b="b" t="t" l="l"/>
              <a:pathLst>
                <a:path h="15501165" w="13295346">
                  <a:moveTo>
                    <a:pt x="0" y="15501165"/>
                  </a:moveTo>
                  <a:lnTo>
                    <a:pt x="13295347" y="15501165"/>
                  </a:lnTo>
                  <a:lnTo>
                    <a:pt x="13295347" y="0"/>
                  </a:lnTo>
                  <a:lnTo>
                    <a:pt x="0" y="0"/>
                  </a:lnTo>
                  <a:lnTo>
                    <a:pt x="0" y="15501165"/>
                  </a:lnTo>
                  <a:close/>
                </a:path>
              </a:pathLst>
            </a:custGeom>
            <a:blipFill>
              <a:blip r:embed="rId3"/>
              <a:stretch>
                <a:fillRect l="-12500" t="0" r="-12499" b="0"/>
              </a:stretch>
            </a:blipFill>
          </p:spPr>
        </p:sp>
      </p:grpSp>
      <p:sp>
        <p:nvSpPr>
          <p:cNvPr name="TextBox 9" id="9"/>
          <p:cNvSpPr txBox="true"/>
          <p:nvPr/>
        </p:nvSpPr>
        <p:spPr>
          <a:xfrm rot="0">
            <a:off x="7581252" y="9360313"/>
            <a:ext cx="3074441" cy="570402"/>
          </a:xfrm>
          <a:prstGeom prst="rect">
            <a:avLst/>
          </a:prstGeom>
        </p:spPr>
        <p:txBody>
          <a:bodyPr anchor="t" rtlCol="false" tIns="0" lIns="0" bIns="0" rIns="0">
            <a:spAutoFit/>
          </a:bodyPr>
          <a:lstStyle/>
          <a:p>
            <a:pPr algn="ctr">
              <a:lnSpc>
                <a:spcPts val="4785"/>
              </a:lnSpc>
              <a:spcBef>
                <a:spcPct val="0"/>
              </a:spcBef>
            </a:pPr>
            <a:r>
              <a:rPr lang="en-US" b="true" sz="3418">
                <a:solidFill>
                  <a:srgbClr val="104579"/>
                </a:solidFill>
                <a:latin typeface="Amaranth Bold"/>
                <a:ea typeface="Amaranth Bold"/>
                <a:cs typeface="Amaranth Bold"/>
                <a:sym typeface="Amaranth Bold"/>
              </a:rPr>
              <a:t>06</a:t>
            </a:r>
          </a:p>
        </p:txBody>
      </p:sp>
      <p:sp>
        <p:nvSpPr>
          <p:cNvPr name="TextBox 10" id="10"/>
          <p:cNvSpPr txBox="true"/>
          <p:nvPr/>
        </p:nvSpPr>
        <p:spPr>
          <a:xfrm rot="0">
            <a:off x="5745598" y="1090357"/>
            <a:ext cx="6796805" cy="863600"/>
          </a:xfrm>
          <a:prstGeom prst="rect">
            <a:avLst/>
          </a:prstGeom>
        </p:spPr>
        <p:txBody>
          <a:bodyPr anchor="t" rtlCol="false" tIns="0" lIns="0" bIns="0" rIns="0">
            <a:spAutoFit/>
          </a:bodyPr>
          <a:lstStyle/>
          <a:p>
            <a:pPr algn="l">
              <a:lnSpc>
                <a:spcPts val="7000"/>
              </a:lnSpc>
              <a:spcBef>
                <a:spcPct val="0"/>
              </a:spcBef>
            </a:pPr>
            <a:r>
              <a:rPr lang="en-US" b="true" sz="5000">
                <a:solidFill>
                  <a:srgbClr val="104579"/>
                </a:solidFill>
                <a:latin typeface="Garet Bold"/>
                <a:ea typeface="Garet Bold"/>
                <a:cs typeface="Garet Bold"/>
                <a:sym typeface="Garet Bold"/>
              </a:rPr>
              <a:t>BẢNG DỮ LIỆU AQI</a:t>
            </a:r>
          </a:p>
        </p:txBody>
      </p:sp>
      <p:sp>
        <p:nvSpPr>
          <p:cNvPr name="TextBox 11" id="11"/>
          <p:cNvSpPr txBox="true"/>
          <p:nvPr/>
        </p:nvSpPr>
        <p:spPr>
          <a:xfrm rot="0">
            <a:off x="12627537" y="2242242"/>
            <a:ext cx="4880283" cy="6400801"/>
          </a:xfrm>
          <a:prstGeom prst="rect">
            <a:avLst/>
          </a:prstGeom>
        </p:spPr>
        <p:txBody>
          <a:bodyPr anchor="t" rtlCol="false" tIns="0" lIns="0" bIns="0" rIns="0">
            <a:spAutoFit/>
          </a:bodyPr>
          <a:lstStyle/>
          <a:p>
            <a:pPr algn="l">
              <a:lnSpc>
                <a:spcPts val="4200"/>
              </a:lnSpc>
              <a:spcBef>
                <a:spcPct val="0"/>
              </a:spcBef>
            </a:pPr>
            <a:r>
              <a:rPr lang="en-US" sz="3000">
                <a:solidFill>
                  <a:srgbClr val="104579"/>
                </a:solidFill>
                <a:latin typeface="Arimo"/>
                <a:ea typeface="Arimo"/>
                <a:cs typeface="Arimo"/>
                <a:sym typeface="Arimo"/>
              </a:rPr>
              <a:t>Dữ liệu bao gồm: </a:t>
            </a:r>
          </a:p>
          <a:p>
            <a:pPr algn="l" marL="647700" indent="-323850" lvl="1">
              <a:lnSpc>
                <a:spcPts val="4200"/>
              </a:lnSpc>
              <a:buFont typeface="Arial"/>
              <a:buChar char="•"/>
            </a:pPr>
            <a:r>
              <a:rPr lang="en-US" sz="3000">
                <a:solidFill>
                  <a:srgbClr val="104579"/>
                </a:solidFill>
                <a:latin typeface="Arimo"/>
                <a:ea typeface="Arimo"/>
                <a:cs typeface="Arimo"/>
                <a:sym typeface="Arimo"/>
              </a:rPr>
              <a:t>Thông tin thời gian</a:t>
            </a:r>
          </a:p>
          <a:p>
            <a:pPr algn="l" marL="647700" indent="-323850" lvl="1">
              <a:lnSpc>
                <a:spcPts val="4200"/>
              </a:lnSpc>
              <a:buFont typeface="Arial"/>
              <a:buChar char="•"/>
            </a:pPr>
            <a:r>
              <a:rPr lang="en-US" sz="3000">
                <a:solidFill>
                  <a:srgbClr val="104579"/>
                </a:solidFill>
                <a:latin typeface="Arimo"/>
                <a:ea typeface="Arimo"/>
                <a:cs typeface="Arimo"/>
                <a:sym typeface="Arimo"/>
              </a:rPr>
              <a:t>Hướng gió (wd) </a:t>
            </a:r>
          </a:p>
          <a:p>
            <a:pPr algn="l" marL="647700" indent="-323850" lvl="1">
              <a:lnSpc>
                <a:spcPts val="4200"/>
              </a:lnSpc>
              <a:buFont typeface="Arial"/>
              <a:buChar char="•"/>
            </a:pPr>
            <a:r>
              <a:rPr lang="en-US" sz="3000">
                <a:solidFill>
                  <a:srgbClr val="104579"/>
                </a:solidFill>
                <a:latin typeface="Arimo"/>
                <a:ea typeface="Arimo"/>
                <a:cs typeface="Arimo"/>
                <a:sym typeface="Arimo"/>
              </a:rPr>
              <a:t>Tốc độ gió (ws)</a:t>
            </a:r>
          </a:p>
          <a:p>
            <a:pPr algn="l" marL="647700" indent="-323850" lvl="1">
              <a:lnSpc>
                <a:spcPts val="4200"/>
              </a:lnSpc>
              <a:buFont typeface="Arial"/>
              <a:buChar char="•"/>
            </a:pPr>
            <a:r>
              <a:rPr lang="en-US" sz="3000">
                <a:solidFill>
                  <a:srgbClr val="104579"/>
                </a:solidFill>
                <a:latin typeface="Arimo"/>
                <a:ea typeface="Arimo"/>
                <a:cs typeface="Arimo"/>
                <a:sym typeface="Arimo"/>
              </a:rPr>
              <a:t>Lượng mưa (Rainfall)</a:t>
            </a:r>
          </a:p>
          <a:p>
            <a:pPr algn="l" marL="647700" indent="-323850" lvl="1">
              <a:lnSpc>
                <a:spcPts val="4200"/>
              </a:lnSpc>
              <a:buFont typeface="Arial"/>
              <a:buChar char="•"/>
            </a:pPr>
            <a:r>
              <a:rPr lang="en-US" sz="3000">
                <a:solidFill>
                  <a:srgbClr val="104579"/>
                </a:solidFill>
                <a:latin typeface="Arimo"/>
                <a:ea typeface="Arimo"/>
                <a:cs typeface="Arimo"/>
                <a:sym typeface="Arimo"/>
              </a:rPr>
              <a:t>Độ ẩm (lowleaf)</a:t>
            </a:r>
          </a:p>
          <a:p>
            <a:pPr algn="l" marL="647700" indent="-323850" lvl="1">
              <a:lnSpc>
                <a:spcPts val="4200"/>
              </a:lnSpc>
              <a:buFont typeface="Arial"/>
              <a:buChar char="•"/>
            </a:pPr>
            <a:r>
              <a:rPr lang="en-US" sz="3000">
                <a:solidFill>
                  <a:srgbClr val="104579"/>
                </a:solidFill>
                <a:latin typeface="Arimo"/>
                <a:ea typeface="Arimo"/>
                <a:cs typeface="Arimo"/>
                <a:sym typeface="Arimo"/>
              </a:rPr>
              <a:t>Nhiệt độ (temp)</a:t>
            </a:r>
          </a:p>
          <a:p>
            <a:pPr algn="l" marL="647700" indent="-323850" lvl="1">
              <a:lnSpc>
                <a:spcPts val="4200"/>
              </a:lnSpc>
              <a:buFont typeface="Arial"/>
              <a:buChar char="•"/>
            </a:pPr>
            <a:r>
              <a:rPr lang="en-US" sz="3000">
                <a:solidFill>
                  <a:srgbClr val="104579"/>
                </a:solidFill>
                <a:latin typeface="Arimo"/>
                <a:ea typeface="Arimo"/>
                <a:cs typeface="Arimo"/>
                <a:sym typeface="Arimo"/>
              </a:rPr>
              <a:t>Bức xạ (uvb) </a:t>
            </a:r>
          </a:p>
          <a:p>
            <a:pPr algn="l" marL="647700" indent="-323850" lvl="1">
              <a:lnSpc>
                <a:spcPts val="4200"/>
              </a:lnSpc>
              <a:buFont typeface="Arial"/>
              <a:buChar char="•"/>
            </a:pPr>
            <a:r>
              <a:rPr lang="en-US" sz="3000">
                <a:solidFill>
                  <a:srgbClr val="104579"/>
                </a:solidFill>
                <a:latin typeface="Arimo"/>
                <a:ea typeface="Arimo"/>
                <a:cs typeface="Arimo"/>
                <a:sym typeface="Arimo"/>
              </a:rPr>
              <a:t>Chỉ số PM2.5</a:t>
            </a:r>
          </a:p>
          <a:p>
            <a:pPr algn="l" marL="647700" indent="-323850" lvl="1">
              <a:lnSpc>
                <a:spcPts val="4200"/>
              </a:lnSpc>
              <a:buFont typeface="Arial"/>
              <a:buChar char="•"/>
            </a:pPr>
            <a:r>
              <a:rPr lang="en-US" sz="3000">
                <a:solidFill>
                  <a:srgbClr val="104579"/>
                </a:solidFill>
                <a:latin typeface="Arimo"/>
                <a:ea typeface="Arimo"/>
                <a:cs typeface="Arimo"/>
                <a:sym typeface="Arimo"/>
              </a:rPr>
              <a:t>Chỉ số AQI</a:t>
            </a:r>
          </a:p>
          <a:p>
            <a:pPr algn="l" marL="647700" indent="-323850" lvl="1">
              <a:lnSpc>
                <a:spcPts val="4200"/>
              </a:lnSpc>
              <a:buFont typeface="Arial"/>
              <a:buChar char="•"/>
            </a:pPr>
            <a:r>
              <a:rPr lang="en-US" sz="3000">
                <a:solidFill>
                  <a:srgbClr val="104579"/>
                </a:solidFill>
                <a:latin typeface="Arimo"/>
                <a:ea typeface="Arimo"/>
                <a:cs typeface="Arimo"/>
                <a:sym typeface="Arimo"/>
              </a:rPr>
              <a:t>Phân loại chỉ số AQI</a:t>
            </a:r>
          </a:p>
          <a:p>
            <a:pPr algn="l">
              <a:lnSpc>
                <a:spcPts val="4200"/>
              </a:lnSpc>
            </a:pPr>
          </a:p>
        </p:txBody>
      </p:sp>
      <p:sp>
        <p:nvSpPr>
          <p:cNvPr name="TextBox 12" id="12"/>
          <p:cNvSpPr txBox="true"/>
          <p:nvPr/>
        </p:nvSpPr>
        <p:spPr>
          <a:xfrm rot="0">
            <a:off x="5373325" y="8595418"/>
            <a:ext cx="3136231" cy="299720"/>
          </a:xfrm>
          <a:prstGeom prst="rect">
            <a:avLst/>
          </a:prstGeom>
        </p:spPr>
        <p:txBody>
          <a:bodyPr anchor="t" rtlCol="false" tIns="0" lIns="0" bIns="0" rIns="0">
            <a:spAutoFit/>
          </a:bodyPr>
          <a:lstStyle/>
          <a:p>
            <a:pPr algn="l">
              <a:lnSpc>
                <a:spcPts val="2380"/>
              </a:lnSpc>
            </a:pPr>
            <a:r>
              <a:rPr lang="en-US" b="true" sz="1700" i="true">
                <a:solidFill>
                  <a:srgbClr val="104579"/>
                </a:solidFill>
                <a:latin typeface="Arimo Bold Italics"/>
                <a:ea typeface="Arimo Bold Italics"/>
                <a:cs typeface="Arimo Bold Italics"/>
                <a:sym typeface="Arimo Bold Italics"/>
              </a:rPr>
              <a:t>Bộ</a:t>
            </a:r>
            <a:r>
              <a:rPr lang="en-US" b="true" sz="1700" i="true">
                <a:solidFill>
                  <a:srgbClr val="104579"/>
                </a:solidFill>
                <a:latin typeface="Arimo Bold Italics"/>
                <a:ea typeface="Arimo Bold Italics"/>
                <a:cs typeface="Arimo Bold Italics"/>
                <a:sym typeface="Arimo Bold Italics"/>
              </a:rPr>
              <a:t> dữ liệu AQI (2018 - 2023)</a:t>
            </a:r>
          </a:p>
        </p:txBody>
      </p:sp>
      <p:sp>
        <p:nvSpPr>
          <p:cNvPr name="Freeform 13" id="13"/>
          <p:cNvSpPr/>
          <p:nvPr/>
        </p:nvSpPr>
        <p:spPr>
          <a:xfrm flipH="false" flipV="false" rot="0">
            <a:off x="1460377" y="2046276"/>
            <a:ext cx="11082026" cy="6506431"/>
          </a:xfrm>
          <a:custGeom>
            <a:avLst/>
            <a:gdLst/>
            <a:ahLst/>
            <a:cxnLst/>
            <a:rect r="r" b="b" t="t" l="l"/>
            <a:pathLst>
              <a:path h="6506431" w="11082026">
                <a:moveTo>
                  <a:pt x="0" y="0"/>
                </a:moveTo>
                <a:lnTo>
                  <a:pt x="11082025" y="0"/>
                </a:lnTo>
                <a:lnTo>
                  <a:pt x="11082025" y="6506431"/>
                </a:lnTo>
                <a:lnTo>
                  <a:pt x="0" y="6506431"/>
                </a:lnTo>
                <a:lnTo>
                  <a:pt x="0" y="0"/>
                </a:lnTo>
                <a:close/>
              </a:path>
            </a:pathLst>
          </a:custGeom>
          <a:blipFill>
            <a:blip r:embed="rId4"/>
            <a:stretch>
              <a:fillRect l="0" t="0" r="-1005" b="0"/>
            </a:stretch>
          </a:blipFill>
        </p:spPr>
      </p:sp>
    </p:spTree>
  </p:cSld>
  <p:clrMapOvr>
    <a:masterClrMapping/>
  </p:clrMapOvr>
  <p:transition spd="fast">
    <p:fade/>
  </p:transition>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83287" y="-1338874"/>
            <a:ext cx="19819639" cy="12900629"/>
            <a:chOff x="0" y="0"/>
            <a:chExt cx="26426185" cy="17200838"/>
          </a:xfrm>
        </p:grpSpPr>
        <p:sp>
          <p:nvSpPr>
            <p:cNvPr name="Freeform 3" id="3"/>
            <p:cNvSpPr/>
            <p:nvPr/>
          </p:nvSpPr>
          <p:spPr>
            <a:xfrm flipH="false" flipV="false" rot="0">
              <a:off x="0" y="1785165"/>
              <a:ext cx="24895049" cy="14191553"/>
            </a:xfrm>
            <a:custGeom>
              <a:avLst/>
              <a:gdLst/>
              <a:ahLst/>
              <a:cxnLst/>
              <a:rect r="r" b="b" t="t" l="l"/>
              <a:pathLst>
                <a:path h="14191553" w="24895049">
                  <a:moveTo>
                    <a:pt x="0" y="0"/>
                  </a:moveTo>
                  <a:lnTo>
                    <a:pt x="24895049" y="0"/>
                  </a:lnTo>
                  <a:lnTo>
                    <a:pt x="24895049" y="14191554"/>
                  </a:lnTo>
                  <a:lnTo>
                    <a:pt x="0" y="14191554"/>
                  </a:lnTo>
                  <a:lnTo>
                    <a:pt x="0" y="0"/>
                  </a:lnTo>
                  <a:close/>
                </a:path>
              </a:pathLst>
            </a:custGeom>
            <a:blipFill>
              <a:blip r:embed="rId2"/>
              <a:stretch>
                <a:fillRect l="-4939" t="-11172" r="-7311" b="0"/>
              </a:stretch>
            </a:blipFill>
          </p:spPr>
        </p:sp>
        <p:sp>
          <p:nvSpPr>
            <p:cNvPr name="Freeform 4" id="4"/>
            <p:cNvSpPr/>
            <p:nvPr/>
          </p:nvSpPr>
          <p:spPr>
            <a:xfrm flipH="true" flipV="false" rot="0">
              <a:off x="511049" y="1785165"/>
              <a:ext cx="13222020" cy="15415673"/>
            </a:xfrm>
            <a:custGeom>
              <a:avLst/>
              <a:gdLst/>
              <a:ahLst/>
              <a:cxnLst/>
              <a:rect r="r" b="b" t="t" l="l"/>
              <a:pathLst>
                <a:path h="15415673" w="13222020">
                  <a:moveTo>
                    <a:pt x="13222020" y="0"/>
                  </a:moveTo>
                  <a:lnTo>
                    <a:pt x="0" y="0"/>
                  </a:lnTo>
                  <a:lnTo>
                    <a:pt x="0" y="15415673"/>
                  </a:lnTo>
                  <a:lnTo>
                    <a:pt x="13222020" y="15415673"/>
                  </a:lnTo>
                  <a:lnTo>
                    <a:pt x="13222020" y="0"/>
                  </a:lnTo>
                  <a:close/>
                </a:path>
              </a:pathLst>
            </a:custGeom>
            <a:blipFill>
              <a:blip r:embed="rId3"/>
              <a:stretch>
                <a:fillRect l="-12500" t="0" r="-12499" b="0"/>
              </a:stretch>
            </a:blipFill>
          </p:spPr>
        </p:sp>
        <p:grpSp>
          <p:nvGrpSpPr>
            <p:cNvPr name="Group 5" id="5"/>
            <p:cNvGrpSpPr/>
            <p:nvPr/>
          </p:nvGrpSpPr>
          <p:grpSpPr>
            <a:xfrm rot="0">
              <a:off x="1882649" y="3156765"/>
              <a:ext cx="21324463" cy="10972800"/>
              <a:chOff x="0" y="0"/>
              <a:chExt cx="4212240" cy="2167467"/>
            </a:xfrm>
          </p:grpSpPr>
          <p:sp>
            <p:nvSpPr>
              <p:cNvPr name="Freeform 6" id="6"/>
              <p:cNvSpPr/>
              <p:nvPr/>
            </p:nvSpPr>
            <p:spPr>
              <a:xfrm flipH="false" flipV="false" rot="0">
                <a:off x="0" y="0"/>
                <a:ext cx="4212239" cy="2167467"/>
              </a:xfrm>
              <a:custGeom>
                <a:avLst/>
                <a:gdLst/>
                <a:ahLst/>
                <a:cxnLst/>
                <a:rect r="r" b="b" t="t" l="l"/>
                <a:pathLst>
                  <a:path h="2167467" w="4212239">
                    <a:moveTo>
                      <a:pt x="36789" y="0"/>
                    </a:moveTo>
                    <a:lnTo>
                      <a:pt x="4175450" y="0"/>
                    </a:lnTo>
                    <a:cubicBezTo>
                      <a:pt x="4185207" y="0"/>
                      <a:pt x="4194565" y="3876"/>
                      <a:pt x="4201464" y="10775"/>
                    </a:cubicBezTo>
                    <a:cubicBezTo>
                      <a:pt x="4208363" y="17675"/>
                      <a:pt x="4212239" y="27032"/>
                      <a:pt x="4212239" y="36789"/>
                    </a:cubicBezTo>
                    <a:lnTo>
                      <a:pt x="4212239" y="2130677"/>
                    </a:lnTo>
                    <a:cubicBezTo>
                      <a:pt x="4212239" y="2150996"/>
                      <a:pt x="4195768" y="2167467"/>
                      <a:pt x="4175450" y="2167467"/>
                    </a:cubicBezTo>
                    <a:lnTo>
                      <a:pt x="36789" y="2167467"/>
                    </a:lnTo>
                    <a:cubicBezTo>
                      <a:pt x="27032" y="2167467"/>
                      <a:pt x="17675" y="2163591"/>
                      <a:pt x="10775" y="2156691"/>
                    </a:cubicBezTo>
                    <a:cubicBezTo>
                      <a:pt x="3876" y="2149792"/>
                      <a:pt x="0" y="2140434"/>
                      <a:pt x="0" y="2130677"/>
                    </a:cubicBezTo>
                    <a:lnTo>
                      <a:pt x="0" y="36789"/>
                    </a:lnTo>
                    <a:cubicBezTo>
                      <a:pt x="0" y="27032"/>
                      <a:pt x="3876" y="17675"/>
                      <a:pt x="10775" y="10775"/>
                    </a:cubicBezTo>
                    <a:cubicBezTo>
                      <a:pt x="17675" y="3876"/>
                      <a:pt x="27032" y="0"/>
                      <a:pt x="36789" y="0"/>
                    </a:cubicBezTo>
                    <a:close/>
                  </a:path>
                </a:pathLst>
              </a:custGeom>
              <a:solidFill>
                <a:srgbClr val="FFFFFF">
                  <a:alpha val="60784"/>
                </a:srgbClr>
              </a:solidFill>
              <a:ln w="38100" cap="rnd">
                <a:solidFill>
                  <a:srgbClr val="2D8BBA">
                    <a:alpha val="60784"/>
                  </a:srgbClr>
                </a:solidFill>
                <a:prstDash val="solid"/>
                <a:round/>
              </a:ln>
            </p:spPr>
          </p:sp>
          <p:sp>
            <p:nvSpPr>
              <p:cNvPr name="TextBox 7" id="7"/>
              <p:cNvSpPr txBox="true"/>
              <p:nvPr/>
            </p:nvSpPr>
            <p:spPr>
              <a:xfrm>
                <a:off x="0" y="-47625"/>
                <a:ext cx="4212240" cy="2215092"/>
              </a:xfrm>
              <a:prstGeom prst="rect">
                <a:avLst/>
              </a:prstGeom>
            </p:spPr>
            <p:txBody>
              <a:bodyPr anchor="ctr" rtlCol="false" tIns="50800" lIns="50800" bIns="50800" rIns="50800"/>
              <a:lstStyle/>
              <a:p>
                <a:pPr algn="ctr">
                  <a:lnSpc>
                    <a:spcPts val="3525"/>
                  </a:lnSpc>
                </a:pPr>
              </a:p>
            </p:txBody>
          </p:sp>
        </p:grpSp>
        <p:sp>
          <p:nvSpPr>
            <p:cNvPr name="Freeform 8" id="8"/>
            <p:cNvSpPr/>
            <p:nvPr/>
          </p:nvSpPr>
          <p:spPr>
            <a:xfrm flipH="false" flipV="true" rot="0">
              <a:off x="13130838" y="0"/>
              <a:ext cx="13295346" cy="15501165"/>
            </a:xfrm>
            <a:custGeom>
              <a:avLst/>
              <a:gdLst/>
              <a:ahLst/>
              <a:cxnLst/>
              <a:rect r="r" b="b" t="t" l="l"/>
              <a:pathLst>
                <a:path h="15501165" w="13295346">
                  <a:moveTo>
                    <a:pt x="0" y="15501165"/>
                  </a:moveTo>
                  <a:lnTo>
                    <a:pt x="13295347" y="15501165"/>
                  </a:lnTo>
                  <a:lnTo>
                    <a:pt x="13295347" y="0"/>
                  </a:lnTo>
                  <a:lnTo>
                    <a:pt x="0" y="0"/>
                  </a:lnTo>
                  <a:lnTo>
                    <a:pt x="0" y="15501165"/>
                  </a:lnTo>
                  <a:close/>
                </a:path>
              </a:pathLst>
            </a:custGeom>
            <a:blipFill>
              <a:blip r:embed="rId3"/>
              <a:stretch>
                <a:fillRect l="-12500" t="0" r="-12499" b="0"/>
              </a:stretch>
            </a:blipFill>
          </p:spPr>
        </p:sp>
      </p:grpSp>
      <p:sp>
        <p:nvSpPr>
          <p:cNvPr name="TextBox 9" id="9"/>
          <p:cNvSpPr txBox="true"/>
          <p:nvPr/>
        </p:nvSpPr>
        <p:spPr>
          <a:xfrm rot="0">
            <a:off x="3083082" y="4590740"/>
            <a:ext cx="11825503" cy="936625"/>
          </a:xfrm>
          <a:prstGeom prst="rect">
            <a:avLst/>
          </a:prstGeom>
        </p:spPr>
        <p:txBody>
          <a:bodyPr anchor="t" rtlCol="false" tIns="0" lIns="0" bIns="0" rIns="0">
            <a:spAutoFit/>
          </a:bodyPr>
          <a:lstStyle/>
          <a:p>
            <a:pPr algn="ctr">
              <a:lnSpc>
                <a:spcPts val="7699"/>
              </a:lnSpc>
              <a:spcBef>
                <a:spcPct val="0"/>
              </a:spcBef>
            </a:pPr>
            <a:r>
              <a:rPr lang="en-US" b="true" sz="5499">
                <a:solidFill>
                  <a:srgbClr val="104579"/>
                </a:solidFill>
                <a:latin typeface="Garet Bold"/>
                <a:ea typeface="Garet Bold"/>
                <a:cs typeface="Garet Bold"/>
                <a:sym typeface="Garet Bold"/>
              </a:rPr>
              <a:t>PHẦN 3. PHƯƠNG PHÁP ĐỀ XUẤT</a:t>
            </a:r>
          </a:p>
        </p:txBody>
      </p:sp>
    </p:spTree>
  </p:cSld>
  <p:clrMapOvr>
    <a:masterClrMapping/>
  </p:clrMapOvr>
  <p:transition spd="fast">
    <p:fade/>
  </p:transition>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11665" y="-1438197"/>
            <a:ext cx="19819639" cy="12900629"/>
            <a:chOff x="0" y="0"/>
            <a:chExt cx="26426185" cy="17200838"/>
          </a:xfrm>
        </p:grpSpPr>
        <p:sp>
          <p:nvSpPr>
            <p:cNvPr name="Freeform 3" id="3"/>
            <p:cNvSpPr/>
            <p:nvPr/>
          </p:nvSpPr>
          <p:spPr>
            <a:xfrm flipH="false" flipV="false" rot="0">
              <a:off x="0" y="1785165"/>
              <a:ext cx="24895049" cy="14191553"/>
            </a:xfrm>
            <a:custGeom>
              <a:avLst/>
              <a:gdLst/>
              <a:ahLst/>
              <a:cxnLst/>
              <a:rect r="r" b="b" t="t" l="l"/>
              <a:pathLst>
                <a:path h="14191553" w="24895049">
                  <a:moveTo>
                    <a:pt x="0" y="0"/>
                  </a:moveTo>
                  <a:lnTo>
                    <a:pt x="24895049" y="0"/>
                  </a:lnTo>
                  <a:lnTo>
                    <a:pt x="24895049" y="14191554"/>
                  </a:lnTo>
                  <a:lnTo>
                    <a:pt x="0" y="14191554"/>
                  </a:lnTo>
                  <a:lnTo>
                    <a:pt x="0" y="0"/>
                  </a:lnTo>
                  <a:close/>
                </a:path>
              </a:pathLst>
            </a:custGeom>
            <a:blipFill>
              <a:blip r:embed="rId2"/>
              <a:stretch>
                <a:fillRect l="-4939" t="-11172" r="-7311" b="0"/>
              </a:stretch>
            </a:blipFill>
          </p:spPr>
        </p:sp>
        <p:sp>
          <p:nvSpPr>
            <p:cNvPr name="Freeform 4" id="4"/>
            <p:cNvSpPr/>
            <p:nvPr/>
          </p:nvSpPr>
          <p:spPr>
            <a:xfrm flipH="true" flipV="false" rot="0">
              <a:off x="511049" y="1785165"/>
              <a:ext cx="13222020" cy="15415673"/>
            </a:xfrm>
            <a:custGeom>
              <a:avLst/>
              <a:gdLst/>
              <a:ahLst/>
              <a:cxnLst/>
              <a:rect r="r" b="b" t="t" l="l"/>
              <a:pathLst>
                <a:path h="15415673" w="13222020">
                  <a:moveTo>
                    <a:pt x="13222020" y="0"/>
                  </a:moveTo>
                  <a:lnTo>
                    <a:pt x="0" y="0"/>
                  </a:lnTo>
                  <a:lnTo>
                    <a:pt x="0" y="15415673"/>
                  </a:lnTo>
                  <a:lnTo>
                    <a:pt x="13222020" y="15415673"/>
                  </a:lnTo>
                  <a:lnTo>
                    <a:pt x="13222020" y="0"/>
                  </a:lnTo>
                  <a:close/>
                </a:path>
              </a:pathLst>
            </a:custGeom>
            <a:blipFill>
              <a:blip r:embed="rId3"/>
              <a:stretch>
                <a:fillRect l="-12500" t="0" r="-12499" b="0"/>
              </a:stretch>
            </a:blipFill>
          </p:spPr>
        </p:sp>
        <p:grpSp>
          <p:nvGrpSpPr>
            <p:cNvPr name="Group 5" id="5"/>
            <p:cNvGrpSpPr/>
            <p:nvPr/>
          </p:nvGrpSpPr>
          <p:grpSpPr>
            <a:xfrm rot="0">
              <a:off x="1882649" y="3156765"/>
              <a:ext cx="21324463" cy="10972800"/>
              <a:chOff x="0" y="0"/>
              <a:chExt cx="4212240" cy="2167467"/>
            </a:xfrm>
          </p:grpSpPr>
          <p:sp>
            <p:nvSpPr>
              <p:cNvPr name="Freeform 6" id="6"/>
              <p:cNvSpPr/>
              <p:nvPr/>
            </p:nvSpPr>
            <p:spPr>
              <a:xfrm flipH="false" flipV="false" rot="0">
                <a:off x="0" y="0"/>
                <a:ext cx="4212239" cy="2167467"/>
              </a:xfrm>
              <a:custGeom>
                <a:avLst/>
                <a:gdLst/>
                <a:ahLst/>
                <a:cxnLst/>
                <a:rect r="r" b="b" t="t" l="l"/>
                <a:pathLst>
                  <a:path h="2167467" w="4212239">
                    <a:moveTo>
                      <a:pt x="36789" y="0"/>
                    </a:moveTo>
                    <a:lnTo>
                      <a:pt x="4175450" y="0"/>
                    </a:lnTo>
                    <a:cubicBezTo>
                      <a:pt x="4185207" y="0"/>
                      <a:pt x="4194565" y="3876"/>
                      <a:pt x="4201464" y="10775"/>
                    </a:cubicBezTo>
                    <a:cubicBezTo>
                      <a:pt x="4208363" y="17675"/>
                      <a:pt x="4212239" y="27032"/>
                      <a:pt x="4212239" y="36789"/>
                    </a:cubicBezTo>
                    <a:lnTo>
                      <a:pt x="4212239" y="2130677"/>
                    </a:lnTo>
                    <a:cubicBezTo>
                      <a:pt x="4212239" y="2150996"/>
                      <a:pt x="4195768" y="2167467"/>
                      <a:pt x="4175450" y="2167467"/>
                    </a:cubicBezTo>
                    <a:lnTo>
                      <a:pt x="36789" y="2167467"/>
                    </a:lnTo>
                    <a:cubicBezTo>
                      <a:pt x="27032" y="2167467"/>
                      <a:pt x="17675" y="2163591"/>
                      <a:pt x="10775" y="2156691"/>
                    </a:cubicBezTo>
                    <a:cubicBezTo>
                      <a:pt x="3876" y="2149792"/>
                      <a:pt x="0" y="2140434"/>
                      <a:pt x="0" y="2130677"/>
                    </a:cubicBezTo>
                    <a:lnTo>
                      <a:pt x="0" y="36789"/>
                    </a:lnTo>
                    <a:cubicBezTo>
                      <a:pt x="0" y="27032"/>
                      <a:pt x="3876" y="17675"/>
                      <a:pt x="10775" y="10775"/>
                    </a:cubicBezTo>
                    <a:cubicBezTo>
                      <a:pt x="17675" y="3876"/>
                      <a:pt x="27032" y="0"/>
                      <a:pt x="36789" y="0"/>
                    </a:cubicBezTo>
                    <a:close/>
                  </a:path>
                </a:pathLst>
              </a:custGeom>
              <a:solidFill>
                <a:srgbClr val="FFFFFF">
                  <a:alpha val="60784"/>
                </a:srgbClr>
              </a:solidFill>
              <a:ln w="38100" cap="rnd">
                <a:solidFill>
                  <a:srgbClr val="2D8BBA">
                    <a:alpha val="60784"/>
                  </a:srgbClr>
                </a:solidFill>
                <a:prstDash val="solid"/>
                <a:round/>
              </a:ln>
            </p:spPr>
          </p:sp>
          <p:sp>
            <p:nvSpPr>
              <p:cNvPr name="TextBox 7" id="7"/>
              <p:cNvSpPr txBox="true"/>
              <p:nvPr/>
            </p:nvSpPr>
            <p:spPr>
              <a:xfrm>
                <a:off x="0" y="-47625"/>
                <a:ext cx="4212240" cy="2215092"/>
              </a:xfrm>
              <a:prstGeom prst="rect">
                <a:avLst/>
              </a:prstGeom>
            </p:spPr>
            <p:txBody>
              <a:bodyPr anchor="ctr" rtlCol="false" tIns="50800" lIns="50800" bIns="50800" rIns="50800"/>
              <a:lstStyle/>
              <a:p>
                <a:pPr algn="ctr">
                  <a:lnSpc>
                    <a:spcPts val="3525"/>
                  </a:lnSpc>
                </a:pPr>
              </a:p>
            </p:txBody>
          </p:sp>
        </p:grpSp>
        <p:sp>
          <p:nvSpPr>
            <p:cNvPr name="Freeform 8" id="8"/>
            <p:cNvSpPr/>
            <p:nvPr/>
          </p:nvSpPr>
          <p:spPr>
            <a:xfrm flipH="false" flipV="true" rot="0">
              <a:off x="13130838" y="0"/>
              <a:ext cx="13295346" cy="15501165"/>
            </a:xfrm>
            <a:custGeom>
              <a:avLst/>
              <a:gdLst/>
              <a:ahLst/>
              <a:cxnLst/>
              <a:rect r="r" b="b" t="t" l="l"/>
              <a:pathLst>
                <a:path h="15501165" w="13295346">
                  <a:moveTo>
                    <a:pt x="0" y="15501165"/>
                  </a:moveTo>
                  <a:lnTo>
                    <a:pt x="13295347" y="15501165"/>
                  </a:lnTo>
                  <a:lnTo>
                    <a:pt x="13295347" y="0"/>
                  </a:lnTo>
                  <a:lnTo>
                    <a:pt x="0" y="0"/>
                  </a:lnTo>
                  <a:lnTo>
                    <a:pt x="0" y="15501165"/>
                  </a:lnTo>
                  <a:close/>
                </a:path>
              </a:pathLst>
            </a:custGeom>
            <a:blipFill>
              <a:blip r:embed="rId3"/>
              <a:stretch>
                <a:fillRect l="-12500" t="0" r="-12499" b="0"/>
              </a:stretch>
            </a:blipFill>
          </p:spPr>
        </p:sp>
      </p:grpSp>
      <p:sp>
        <p:nvSpPr>
          <p:cNvPr name="TextBox 9" id="9"/>
          <p:cNvSpPr txBox="true"/>
          <p:nvPr/>
        </p:nvSpPr>
        <p:spPr>
          <a:xfrm rot="0">
            <a:off x="7581252" y="9360313"/>
            <a:ext cx="3074441" cy="570402"/>
          </a:xfrm>
          <a:prstGeom prst="rect">
            <a:avLst/>
          </a:prstGeom>
        </p:spPr>
        <p:txBody>
          <a:bodyPr anchor="t" rtlCol="false" tIns="0" lIns="0" bIns="0" rIns="0">
            <a:spAutoFit/>
          </a:bodyPr>
          <a:lstStyle/>
          <a:p>
            <a:pPr algn="ctr">
              <a:lnSpc>
                <a:spcPts val="4785"/>
              </a:lnSpc>
              <a:spcBef>
                <a:spcPct val="0"/>
              </a:spcBef>
            </a:pPr>
            <a:r>
              <a:rPr lang="en-US" b="true" sz="3418">
                <a:solidFill>
                  <a:srgbClr val="104579"/>
                </a:solidFill>
                <a:latin typeface="Amaranth Bold"/>
                <a:ea typeface="Amaranth Bold"/>
                <a:cs typeface="Amaranth Bold"/>
                <a:sym typeface="Amaranth Bold"/>
              </a:rPr>
              <a:t>07</a:t>
            </a:r>
          </a:p>
        </p:txBody>
      </p:sp>
      <p:sp>
        <p:nvSpPr>
          <p:cNvPr name="TextBox 10" id="10"/>
          <p:cNvSpPr txBox="true"/>
          <p:nvPr/>
        </p:nvSpPr>
        <p:spPr>
          <a:xfrm rot="0">
            <a:off x="3782505" y="1462197"/>
            <a:ext cx="10671935" cy="863600"/>
          </a:xfrm>
          <a:prstGeom prst="rect">
            <a:avLst/>
          </a:prstGeom>
        </p:spPr>
        <p:txBody>
          <a:bodyPr anchor="t" rtlCol="false" tIns="0" lIns="0" bIns="0" rIns="0">
            <a:spAutoFit/>
          </a:bodyPr>
          <a:lstStyle/>
          <a:p>
            <a:pPr algn="ctr">
              <a:lnSpc>
                <a:spcPts val="7000"/>
              </a:lnSpc>
              <a:spcBef>
                <a:spcPct val="0"/>
              </a:spcBef>
            </a:pPr>
            <a:r>
              <a:rPr lang="en-US" b="true" sz="5000">
                <a:solidFill>
                  <a:srgbClr val="104579"/>
                </a:solidFill>
                <a:latin typeface="Garet Bold"/>
                <a:ea typeface="Garet Bold"/>
                <a:cs typeface="Garet Bold"/>
                <a:sym typeface="Garet Bold"/>
              </a:rPr>
              <a:t>BÀI TOÁN HỒI QUY</a:t>
            </a:r>
          </a:p>
        </p:txBody>
      </p:sp>
      <p:sp>
        <p:nvSpPr>
          <p:cNvPr name="TextBox 11" id="11"/>
          <p:cNvSpPr txBox="true"/>
          <p:nvPr/>
        </p:nvSpPr>
        <p:spPr>
          <a:xfrm rot="0">
            <a:off x="2708545" y="2851844"/>
            <a:ext cx="7464721" cy="1704975"/>
          </a:xfrm>
          <a:prstGeom prst="rect">
            <a:avLst/>
          </a:prstGeom>
        </p:spPr>
        <p:txBody>
          <a:bodyPr anchor="t" rtlCol="false" tIns="0" lIns="0" bIns="0" rIns="0">
            <a:spAutoFit/>
          </a:bodyPr>
          <a:lstStyle/>
          <a:p>
            <a:pPr algn="l" marL="647700" indent="-323850" lvl="1">
              <a:lnSpc>
                <a:spcPts val="4500"/>
              </a:lnSpc>
              <a:buFont typeface="Arial"/>
              <a:buChar char="•"/>
            </a:pPr>
            <a:r>
              <a:rPr lang="en-US" sz="3000">
                <a:solidFill>
                  <a:srgbClr val="104579"/>
                </a:solidFill>
                <a:latin typeface="Arimo"/>
                <a:ea typeface="Arimo"/>
                <a:cs typeface="Arimo"/>
                <a:sym typeface="Arimo"/>
              </a:rPr>
              <a:t>MỤC TIÊU:  </a:t>
            </a:r>
          </a:p>
          <a:p>
            <a:pPr algn="just" marL="1295400" indent="-431800" lvl="2">
              <a:lnSpc>
                <a:spcPts val="4500"/>
              </a:lnSpc>
              <a:buFont typeface="Arial"/>
              <a:buChar char="⚬"/>
            </a:pPr>
            <a:r>
              <a:rPr lang="en-US" sz="3000">
                <a:solidFill>
                  <a:srgbClr val="104579"/>
                </a:solidFill>
                <a:latin typeface="Arimo"/>
                <a:ea typeface="Arimo"/>
                <a:cs typeface="Arimo"/>
                <a:sym typeface="Arimo"/>
              </a:rPr>
              <a:t>Dự đoán nồng độ PM2.5.</a:t>
            </a:r>
          </a:p>
          <a:p>
            <a:pPr algn="just" marL="1295400" indent="-431800" lvl="2">
              <a:lnSpc>
                <a:spcPts val="4500"/>
              </a:lnSpc>
              <a:buFont typeface="Arial"/>
              <a:buChar char="⚬"/>
            </a:pPr>
            <a:r>
              <a:rPr lang="en-US" sz="3000">
                <a:solidFill>
                  <a:srgbClr val="104579"/>
                </a:solidFill>
                <a:latin typeface="Arimo"/>
                <a:ea typeface="Arimo"/>
                <a:cs typeface="Arimo"/>
                <a:sym typeface="Arimo"/>
              </a:rPr>
              <a:t>Dự đoán chỉ số AQI dạng số.</a:t>
            </a:r>
          </a:p>
        </p:txBody>
      </p:sp>
      <p:sp>
        <p:nvSpPr>
          <p:cNvPr name="TextBox 12" id="12"/>
          <p:cNvSpPr txBox="true"/>
          <p:nvPr/>
        </p:nvSpPr>
        <p:spPr>
          <a:xfrm rot="0">
            <a:off x="7204299" y="4907342"/>
            <a:ext cx="7250141" cy="3419475"/>
          </a:xfrm>
          <a:prstGeom prst="rect">
            <a:avLst/>
          </a:prstGeom>
        </p:spPr>
        <p:txBody>
          <a:bodyPr anchor="t" rtlCol="false" tIns="0" lIns="0" bIns="0" rIns="0">
            <a:spAutoFit/>
          </a:bodyPr>
          <a:lstStyle/>
          <a:p>
            <a:pPr algn="l" marL="647700" indent="-323850" lvl="1">
              <a:lnSpc>
                <a:spcPts val="4500"/>
              </a:lnSpc>
              <a:buFont typeface="Arial"/>
              <a:buChar char="•"/>
            </a:pPr>
            <a:r>
              <a:rPr lang="en-US" sz="3000">
                <a:solidFill>
                  <a:srgbClr val="104579"/>
                </a:solidFill>
                <a:latin typeface="Arimo"/>
                <a:ea typeface="Arimo"/>
                <a:cs typeface="Arimo"/>
                <a:sym typeface="Arimo"/>
              </a:rPr>
              <a:t>CÁC MÔ HÌNH SỬ DỤNG: </a:t>
            </a:r>
          </a:p>
          <a:p>
            <a:pPr algn="l" marL="1295400" indent="-431800" lvl="2">
              <a:lnSpc>
                <a:spcPts val="4500"/>
              </a:lnSpc>
              <a:buFont typeface="Arial"/>
              <a:buChar char="⚬"/>
            </a:pPr>
            <a:r>
              <a:rPr lang="en-US" sz="3000">
                <a:solidFill>
                  <a:srgbClr val="104579"/>
                </a:solidFill>
                <a:latin typeface="Arimo"/>
                <a:ea typeface="Arimo"/>
                <a:cs typeface="Arimo"/>
                <a:sym typeface="Arimo"/>
              </a:rPr>
              <a:t>Linear Regression</a:t>
            </a:r>
          </a:p>
          <a:p>
            <a:pPr algn="l" marL="1295400" indent="-431800" lvl="2">
              <a:lnSpc>
                <a:spcPts val="4500"/>
              </a:lnSpc>
              <a:buFont typeface="Arial"/>
              <a:buChar char="⚬"/>
            </a:pPr>
            <a:r>
              <a:rPr lang="en-US" sz="3000">
                <a:solidFill>
                  <a:srgbClr val="104579"/>
                </a:solidFill>
                <a:latin typeface="Arimo"/>
                <a:ea typeface="Arimo"/>
                <a:cs typeface="Arimo"/>
                <a:sym typeface="Arimo"/>
              </a:rPr>
              <a:t>SVR</a:t>
            </a:r>
          </a:p>
          <a:p>
            <a:pPr algn="l" marL="1295400" indent="-431800" lvl="2">
              <a:lnSpc>
                <a:spcPts val="4500"/>
              </a:lnSpc>
              <a:buFont typeface="Arial"/>
              <a:buChar char="⚬"/>
            </a:pPr>
            <a:r>
              <a:rPr lang="en-US" sz="3000">
                <a:solidFill>
                  <a:srgbClr val="104579"/>
                </a:solidFill>
                <a:latin typeface="Arimo"/>
                <a:ea typeface="Arimo"/>
                <a:cs typeface="Arimo"/>
                <a:sym typeface="Arimo"/>
              </a:rPr>
              <a:t>Random Forest</a:t>
            </a:r>
          </a:p>
          <a:p>
            <a:pPr algn="l" marL="1295400" indent="-431800" lvl="2">
              <a:lnSpc>
                <a:spcPts val="4500"/>
              </a:lnSpc>
              <a:buFont typeface="Arial"/>
              <a:buChar char="⚬"/>
            </a:pPr>
            <a:r>
              <a:rPr lang="en-US" sz="3000">
                <a:solidFill>
                  <a:srgbClr val="104579"/>
                </a:solidFill>
                <a:latin typeface="Arimo"/>
                <a:ea typeface="Arimo"/>
                <a:cs typeface="Arimo"/>
                <a:sym typeface="Arimo"/>
              </a:rPr>
              <a:t>CNN</a:t>
            </a:r>
          </a:p>
          <a:p>
            <a:pPr algn="l" marL="1295400" indent="-431800" lvl="2">
              <a:lnSpc>
                <a:spcPts val="4500"/>
              </a:lnSpc>
              <a:buFont typeface="Arial"/>
              <a:buChar char="⚬"/>
            </a:pPr>
            <a:r>
              <a:rPr lang="en-US" sz="3000">
                <a:solidFill>
                  <a:srgbClr val="104579"/>
                </a:solidFill>
                <a:latin typeface="Arimo"/>
                <a:ea typeface="Arimo"/>
                <a:cs typeface="Arimo"/>
                <a:sym typeface="Arimo"/>
              </a:rPr>
              <a:t>CNN-LSTM</a:t>
            </a:r>
          </a:p>
        </p:txBody>
      </p:sp>
    </p:spTree>
  </p:cSld>
  <p:clrMapOvr>
    <a:masterClrMapping/>
  </p:clrMapOvr>
  <p:transition spd="fast">
    <p:fade/>
  </p:transition>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83287" y="-1338874"/>
            <a:ext cx="19819639" cy="12900629"/>
            <a:chOff x="0" y="0"/>
            <a:chExt cx="26426185" cy="17200838"/>
          </a:xfrm>
        </p:grpSpPr>
        <p:sp>
          <p:nvSpPr>
            <p:cNvPr name="Freeform 3" id="3"/>
            <p:cNvSpPr/>
            <p:nvPr/>
          </p:nvSpPr>
          <p:spPr>
            <a:xfrm flipH="false" flipV="false" rot="0">
              <a:off x="0" y="1785165"/>
              <a:ext cx="24895049" cy="14191553"/>
            </a:xfrm>
            <a:custGeom>
              <a:avLst/>
              <a:gdLst/>
              <a:ahLst/>
              <a:cxnLst/>
              <a:rect r="r" b="b" t="t" l="l"/>
              <a:pathLst>
                <a:path h="14191553" w="24895049">
                  <a:moveTo>
                    <a:pt x="0" y="0"/>
                  </a:moveTo>
                  <a:lnTo>
                    <a:pt x="24895049" y="0"/>
                  </a:lnTo>
                  <a:lnTo>
                    <a:pt x="24895049" y="14191554"/>
                  </a:lnTo>
                  <a:lnTo>
                    <a:pt x="0" y="14191554"/>
                  </a:lnTo>
                  <a:lnTo>
                    <a:pt x="0" y="0"/>
                  </a:lnTo>
                  <a:close/>
                </a:path>
              </a:pathLst>
            </a:custGeom>
            <a:blipFill>
              <a:blip r:embed="rId2"/>
              <a:stretch>
                <a:fillRect l="-4939" t="-11172" r="-7311" b="0"/>
              </a:stretch>
            </a:blipFill>
          </p:spPr>
        </p:sp>
        <p:sp>
          <p:nvSpPr>
            <p:cNvPr name="Freeform 4" id="4"/>
            <p:cNvSpPr/>
            <p:nvPr/>
          </p:nvSpPr>
          <p:spPr>
            <a:xfrm flipH="true" flipV="false" rot="0">
              <a:off x="511049" y="1785165"/>
              <a:ext cx="13222020" cy="15415673"/>
            </a:xfrm>
            <a:custGeom>
              <a:avLst/>
              <a:gdLst/>
              <a:ahLst/>
              <a:cxnLst/>
              <a:rect r="r" b="b" t="t" l="l"/>
              <a:pathLst>
                <a:path h="15415673" w="13222020">
                  <a:moveTo>
                    <a:pt x="13222020" y="0"/>
                  </a:moveTo>
                  <a:lnTo>
                    <a:pt x="0" y="0"/>
                  </a:lnTo>
                  <a:lnTo>
                    <a:pt x="0" y="15415673"/>
                  </a:lnTo>
                  <a:lnTo>
                    <a:pt x="13222020" y="15415673"/>
                  </a:lnTo>
                  <a:lnTo>
                    <a:pt x="13222020" y="0"/>
                  </a:lnTo>
                  <a:close/>
                </a:path>
              </a:pathLst>
            </a:custGeom>
            <a:blipFill>
              <a:blip r:embed="rId3"/>
              <a:stretch>
                <a:fillRect l="-12500" t="0" r="-12499" b="0"/>
              </a:stretch>
            </a:blipFill>
          </p:spPr>
        </p:sp>
        <p:grpSp>
          <p:nvGrpSpPr>
            <p:cNvPr name="Group 5" id="5"/>
            <p:cNvGrpSpPr/>
            <p:nvPr/>
          </p:nvGrpSpPr>
          <p:grpSpPr>
            <a:xfrm rot="0">
              <a:off x="1882649" y="3156765"/>
              <a:ext cx="21324463" cy="10972800"/>
              <a:chOff x="0" y="0"/>
              <a:chExt cx="4212240" cy="2167467"/>
            </a:xfrm>
          </p:grpSpPr>
          <p:sp>
            <p:nvSpPr>
              <p:cNvPr name="Freeform 6" id="6"/>
              <p:cNvSpPr/>
              <p:nvPr/>
            </p:nvSpPr>
            <p:spPr>
              <a:xfrm flipH="false" flipV="false" rot="0">
                <a:off x="0" y="0"/>
                <a:ext cx="4212239" cy="2167467"/>
              </a:xfrm>
              <a:custGeom>
                <a:avLst/>
                <a:gdLst/>
                <a:ahLst/>
                <a:cxnLst/>
                <a:rect r="r" b="b" t="t" l="l"/>
                <a:pathLst>
                  <a:path h="2167467" w="4212239">
                    <a:moveTo>
                      <a:pt x="36789" y="0"/>
                    </a:moveTo>
                    <a:lnTo>
                      <a:pt x="4175450" y="0"/>
                    </a:lnTo>
                    <a:cubicBezTo>
                      <a:pt x="4185207" y="0"/>
                      <a:pt x="4194565" y="3876"/>
                      <a:pt x="4201464" y="10775"/>
                    </a:cubicBezTo>
                    <a:cubicBezTo>
                      <a:pt x="4208363" y="17675"/>
                      <a:pt x="4212239" y="27032"/>
                      <a:pt x="4212239" y="36789"/>
                    </a:cubicBezTo>
                    <a:lnTo>
                      <a:pt x="4212239" y="2130677"/>
                    </a:lnTo>
                    <a:cubicBezTo>
                      <a:pt x="4212239" y="2150996"/>
                      <a:pt x="4195768" y="2167467"/>
                      <a:pt x="4175450" y="2167467"/>
                    </a:cubicBezTo>
                    <a:lnTo>
                      <a:pt x="36789" y="2167467"/>
                    </a:lnTo>
                    <a:cubicBezTo>
                      <a:pt x="27032" y="2167467"/>
                      <a:pt x="17675" y="2163591"/>
                      <a:pt x="10775" y="2156691"/>
                    </a:cubicBezTo>
                    <a:cubicBezTo>
                      <a:pt x="3876" y="2149792"/>
                      <a:pt x="0" y="2140434"/>
                      <a:pt x="0" y="2130677"/>
                    </a:cubicBezTo>
                    <a:lnTo>
                      <a:pt x="0" y="36789"/>
                    </a:lnTo>
                    <a:cubicBezTo>
                      <a:pt x="0" y="27032"/>
                      <a:pt x="3876" y="17675"/>
                      <a:pt x="10775" y="10775"/>
                    </a:cubicBezTo>
                    <a:cubicBezTo>
                      <a:pt x="17675" y="3876"/>
                      <a:pt x="27032" y="0"/>
                      <a:pt x="36789" y="0"/>
                    </a:cubicBezTo>
                    <a:close/>
                  </a:path>
                </a:pathLst>
              </a:custGeom>
              <a:solidFill>
                <a:srgbClr val="FFFFFF">
                  <a:alpha val="60784"/>
                </a:srgbClr>
              </a:solidFill>
              <a:ln w="38100" cap="rnd">
                <a:solidFill>
                  <a:srgbClr val="2D8BBA">
                    <a:alpha val="60784"/>
                  </a:srgbClr>
                </a:solidFill>
                <a:prstDash val="solid"/>
                <a:round/>
              </a:ln>
            </p:spPr>
          </p:sp>
          <p:sp>
            <p:nvSpPr>
              <p:cNvPr name="TextBox 7" id="7"/>
              <p:cNvSpPr txBox="true"/>
              <p:nvPr/>
            </p:nvSpPr>
            <p:spPr>
              <a:xfrm>
                <a:off x="0" y="-47625"/>
                <a:ext cx="4212240" cy="2215092"/>
              </a:xfrm>
              <a:prstGeom prst="rect">
                <a:avLst/>
              </a:prstGeom>
            </p:spPr>
            <p:txBody>
              <a:bodyPr anchor="ctr" rtlCol="false" tIns="50800" lIns="50800" bIns="50800" rIns="50800"/>
              <a:lstStyle/>
              <a:p>
                <a:pPr algn="ctr">
                  <a:lnSpc>
                    <a:spcPts val="3525"/>
                  </a:lnSpc>
                </a:pPr>
              </a:p>
            </p:txBody>
          </p:sp>
        </p:grpSp>
        <p:sp>
          <p:nvSpPr>
            <p:cNvPr name="Freeform 8" id="8"/>
            <p:cNvSpPr/>
            <p:nvPr/>
          </p:nvSpPr>
          <p:spPr>
            <a:xfrm flipH="false" flipV="true" rot="0">
              <a:off x="13130838" y="0"/>
              <a:ext cx="13295346" cy="15501165"/>
            </a:xfrm>
            <a:custGeom>
              <a:avLst/>
              <a:gdLst/>
              <a:ahLst/>
              <a:cxnLst/>
              <a:rect r="r" b="b" t="t" l="l"/>
              <a:pathLst>
                <a:path h="15501165" w="13295346">
                  <a:moveTo>
                    <a:pt x="0" y="15501165"/>
                  </a:moveTo>
                  <a:lnTo>
                    <a:pt x="13295347" y="15501165"/>
                  </a:lnTo>
                  <a:lnTo>
                    <a:pt x="13295347" y="0"/>
                  </a:lnTo>
                  <a:lnTo>
                    <a:pt x="0" y="0"/>
                  </a:lnTo>
                  <a:lnTo>
                    <a:pt x="0" y="15501165"/>
                  </a:lnTo>
                  <a:close/>
                </a:path>
              </a:pathLst>
            </a:custGeom>
            <a:blipFill>
              <a:blip r:embed="rId3"/>
              <a:stretch>
                <a:fillRect l="-12500" t="0" r="-12499" b="0"/>
              </a:stretch>
            </a:blipFill>
          </p:spPr>
        </p:sp>
      </p:grpSp>
      <p:sp>
        <p:nvSpPr>
          <p:cNvPr name="TextBox 9" id="9"/>
          <p:cNvSpPr txBox="true"/>
          <p:nvPr/>
        </p:nvSpPr>
        <p:spPr>
          <a:xfrm rot="0">
            <a:off x="7581252" y="9360313"/>
            <a:ext cx="3074441" cy="570402"/>
          </a:xfrm>
          <a:prstGeom prst="rect">
            <a:avLst/>
          </a:prstGeom>
        </p:spPr>
        <p:txBody>
          <a:bodyPr anchor="t" rtlCol="false" tIns="0" lIns="0" bIns="0" rIns="0">
            <a:spAutoFit/>
          </a:bodyPr>
          <a:lstStyle/>
          <a:p>
            <a:pPr algn="ctr">
              <a:lnSpc>
                <a:spcPts val="4785"/>
              </a:lnSpc>
              <a:spcBef>
                <a:spcPct val="0"/>
              </a:spcBef>
            </a:pPr>
            <a:r>
              <a:rPr lang="en-US" b="true" sz="3418">
                <a:solidFill>
                  <a:srgbClr val="104579"/>
                </a:solidFill>
                <a:latin typeface="Amaranth Bold"/>
                <a:ea typeface="Amaranth Bold"/>
                <a:cs typeface="Amaranth Bold"/>
                <a:sym typeface="Amaranth Bold"/>
              </a:rPr>
              <a:t>08</a:t>
            </a:r>
          </a:p>
        </p:txBody>
      </p:sp>
      <p:sp>
        <p:nvSpPr>
          <p:cNvPr name="TextBox 10" id="10"/>
          <p:cNvSpPr txBox="true"/>
          <p:nvPr/>
        </p:nvSpPr>
        <p:spPr>
          <a:xfrm rot="0">
            <a:off x="3782505" y="1503194"/>
            <a:ext cx="10671935" cy="863600"/>
          </a:xfrm>
          <a:prstGeom prst="rect">
            <a:avLst/>
          </a:prstGeom>
        </p:spPr>
        <p:txBody>
          <a:bodyPr anchor="t" rtlCol="false" tIns="0" lIns="0" bIns="0" rIns="0">
            <a:spAutoFit/>
          </a:bodyPr>
          <a:lstStyle/>
          <a:p>
            <a:pPr algn="ctr">
              <a:lnSpc>
                <a:spcPts val="7000"/>
              </a:lnSpc>
              <a:spcBef>
                <a:spcPct val="0"/>
              </a:spcBef>
            </a:pPr>
            <a:r>
              <a:rPr lang="en-US" b="true" sz="5000">
                <a:solidFill>
                  <a:srgbClr val="104579"/>
                </a:solidFill>
                <a:latin typeface="Garet Bold"/>
                <a:ea typeface="Garet Bold"/>
                <a:cs typeface="Garet Bold"/>
                <a:sym typeface="Garet Bold"/>
              </a:rPr>
              <a:t>ĐÁNH GIÁ HIỆU SUẤT</a:t>
            </a:r>
          </a:p>
        </p:txBody>
      </p:sp>
      <p:sp>
        <p:nvSpPr>
          <p:cNvPr name="TextBox 11" id="11"/>
          <p:cNvSpPr txBox="true"/>
          <p:nvPr/>
        </p:nvSpPr>
        <p:spPr>
          <a:xfrm rot="0">
            <a:off x="2774222" y="4005838"/>
            <a:ext cx="12030104" cy="2847975"/>
          </a:xfrm>
          <a:prstGeom prst="rect">
            <a:avLst/>
          </a:prstGeom>
        </p:spPr>
        <p:txBody>
          <a:bodyPr anchor="t" rtlCol="false" tIns="0" lIns="0" bIns="0" rIns="0">
            <a:spAutoFit/>
          </a:bodyPr>
          <a:lstStyle/>
          <a:p>
            <a:pPr algn="l" marL="647700" indent="-323850" lvl="1">
              <a:lnSpc>
                <a:spcPts val="4500"/>
              </a:lnSpc>
              <a:buFont typeface="Arial"/>
              <a:buChar char="•"/>
            </a:pPr>
            <a:r>
              <a:rPr lang="en-US" sz="3000">
                <a:solidFill>
                  <a:srgbClr val="104579"/>
                </a:solidFill>
                <a:latin typeface="Arimo"/>
                <a:ea typeface="Arimo"/>
                <a:cs typeface="Arimo"/>
                <a:sym typeface="Arimo"/>
              </a:rPr>
              <a:t>BA CHỈ SỐ ĐÁNH GIÁ ĐIỂN HÌNH, BAO GỒM:</a:t>
            </a:r>
          </a:p>
          <a:p>
            <a:pPr algn="l" marL="1295400" indent="-431800" lvl="2">
              <a:lnSpc>
                <a:spcPts val="4500"/>
              </a:lnSpc>
              <a:buFont typeface="Arial"/>
              <a:buChar char="⚬"/>
            </a:pPr>
            <a:r>
              <a:rPr lang="en-US" sz="3000">
                <a:solidFill>
                  <a:srgbClr val="104579"/>
                </a:solidFill>
                <a:latin typeface="Arimo"/>
                <a:ea typeface="Arimo"/>
                <a:cs typeface="Arimo"/>
                <a:sym typeface="Arimo"/>
              </a:rPr>
              <a:t>RMSE – SAI SỐ CĂN BẬC HAI TRUNG BÌNH BÌNH PHƯƠNG</a:t>
            </a:r>
          </a:p>
          <a:p>
            <a:pPr algn="l" marL="1295400" indent="-431800" lvl="2">
              <a:lnSpc>
                <a:spcPts val="4500"/>
              </a:lnSpc>
              <a:buFont typeface="Arial"/>
              <a:buChar char="⚬"/>
            </a:pPr>
            <a:r>
              <a:rPr lang="en-US" sz="3000">
                <a:solidFill>
                  <a:srgbClr val="104579"/>
                </a:solidFill>
                <a:latin typeface="Arimo"/>
                <a:ea typeface="Arimo"/>
                <a:cs typeface="Arimo"/>
                <a:sym typeface="Arimo"/>
              </a:rPr>
              <a:t>MAE – SAI SỐ TUYỆT ĐỐI TRUNG BÌNH</a:t>
            </a:r>
          </a:p>
          <a:p>
            <a:pPr algn="l" marL="1295400" indent="-431800" lvl="2">
              <a:lnSpc>
                <a:spcPts val="4500"/>
              </a:lnSpc>
              <a:buFont typeface="Arial"/>
              <a:buChar char="⚬"/>
            </a:pPr>
            <a:r>
              <a:rPr lang="en-US" sz="3000">
                <a:solidFill>
                  <a:srgbClr val="104579"/>
                </a:solidFill>
                <a:latin typeface="Arimo"/>
                <a:ea typeface="Arimo"/>
                <a:cs typeface="Arimo"/>
                <a:sym typeface="Arimo"/>
              </a:rPr>
              <a:t>R² – HỆ SỐ XÁC ĐỊNH</a:t>
            </a:r>
          </a:p>
          <a:p>
            <a:pPr algn="l">
              <a:lnSpc>
                <a:spcPts val="4500"/>
              </a:lnSpc>
            </a:pPr>
          </a:p>
        </p:txBody>
      </p:sp>
    </p:spTree>
  </p:cSld>
  <p:clrMapOvr>
    <a:masterClrMapping/>
  </p:clrMapOvr>
  <p:transition spd="fast">
    <p:fade/>
  </p:transition>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510988" y="-1338874"/>
            <a:ext cx="19819639" cy="12900629"/>
            <a:chOff x="0" y="0"/>
            <a:chExt cx="26426185" cy="17200838"/>
          </a:xfrm>
        </p:grpSpPr>
        <p:sp>
          <p:nvSpPr>
            <p:cNvPr name="Freeform 3" id="3"/>
            <p:cNvSpPr/>
            <p:nvPr/>
          </p:nvSpPr>
          <p:spPr>
            <a:xfrm flipH="false" flipV="false" rot="0">
              <a:off x="0" y="1785165"/>
              <a:ext cx="24895049" cy="14191553"/>
            </a:xfrm>
            <a:custGeom>
              <a:avLst/>
              <a:gdLst/>
              <a:ahLst/>
              <a:cxnLst/>
              <a:rect r="r" b="b" t="t" l="l"/>
              <a:pathLst>
                <a:path h="14191553" w="24895049">
                  <a:moveTo>
                    <a:pt x="0" y="0"/>
                  </a:moveTo>
                  <a:lnTo>
                    <a:pt x="24895049" y="0"/>
                  </a:lnTo>
                  <a:lnTo>
                    <a:pt x="24895049" y="14191554"/>
                  </a:lnTo>
                  <a:lnTo>
                    <a:pt x="0" y="14191554"/>
                  </a:lnTo>
                  <a:lnTo>
                    <a:pt x="0" y="0"/>
                  </a:lnTo>
                  <a:close/>
                </a:path>
              </a:pathLst>
            </a:custGeom>
            <a:blipFill>
              <a:blip r:embed="rId2"/>
              <a:stretch>
                <a:fillRect l="-4939" t="-11172" r="-7311" b="0"/>
              </a:stretch>
            </a:blipFill>
          </p:spPr>
        </p:sp>
        <p:sp>
          <p:nvSpPr>
            <p:cNvPr name="Freeform 4" id="4"/>
            <p:cNvSpPr/>
            <p:nvPr/>
          </p:nvSpPr>
          <p:spPr>
            <a:xfrm flipH="true" flipV="false" rot="0">
              <a:off x="511049" y="1785165"/>
              <a:ext cx="13222020" cy="15415673"/>
            </a:xfrm>
            <a:custGeom>
              <a:avLst/>
              <a:gdLst/>
              <a:ahLst/>
              <a:cxnLst/>
              <a:rect r="r" b="b" t="t" l="l"/>
              <a:pathLst>
                <a:path h="15415673" w="13222020">
                  <a:moveTo>
                    <a:pt x="13222020" y="0"/>
                  </a:moveTo>
                  <a:lnTo>
                    <a:pt x="0" y="0"/>
                  </a:lnTo>
                  <a:lnTo>
                    <a:pt x="0" y="15415673"/>
                  </a:lnTo>
                  <a:lnTo>
                    <a:pt x="13222020" y="15415673"/>
                  </a:lnTo>
                  <a:lnTo>
                    <a:pt x="13222020" y="0"/>
                  </a:lnTo>
                  <a:close/>
                </a:path>
              </a:pathLst>
            </a:custGeom>
            <a:blipFill>
              <a:blip r:embed="rId3"/>
              <a:stretch>
                <a:fillRect l="-12500" t="0" r="-12499" b="0"/>
              </a:stretch>
            </a:blipFill>
          </p:spPr>
        </p:sp>
        <p:grpSp>
          <p:nvGrpSpPr>
            <p:cNvPr name="Group 5" id="5"/>
            <p:cNvGrpSpPr/>
            <p:nvPr/>
          </p:nvGrpSpPr>
          <p:grpSpPr>
            <a:xfrm rot="0">
              <a:off x="1882649" y="3156765"/>
              <a:ext cx="21324463" cy="10972800"/>
              <a:chOff x="0" y="0"/>
              <a:chExt cx="4212240" cy="2167467"/>
            </a:xfrm>
          </p:grpSpPr>
          <p:sp>
            <p:nvSpPr>
              <p:cNvPr name="Freeform 6" id="6"/>
              <p:cNvSpPr/>
              <p:nvPr/>
            </p:nvSpPr>
            <p:spPr>
              <a:xfrm flipH="false" flipV="false" rot="0">
                <a:off x="0" y="0"/>
                <a:ext cx="4212239" cy="2167467"/>
              </a:xfrm>
              <a:custGeom>
                <a:avLst/>
                <a:gdLst/>
                <a:ahLst/>
                <a:cxnLst/>
                <a:rect r="r" b="b" t="t" l="l"/>
                <a:pathLst>
                  <a:path h="2167467" w="4212239">
                    <a:moveTo>
                      <a:pt x="36789" y="0"/>
                    </a:moveTo>
                    <a:lnTo>
                      <a:pt x="4175450" y="0"/>
                    </a:lnTo>
                    <a:cubicBezTo>
                      <a:pt x="4185207" y="0"/>
                      <a:pt x="4194565" y="3876"/>
                      <a:pt x="4201464" y="10775"/>
                    </a:cubicBezTo>
                    <a:cubicBezTo>
                      <a:pt x="4208363" y="17675"/>
                      <a:pt x="4212239" y="27032"/>
                      <a:pt x="4212239" y="36789"/>
                    </a:cubicBezTo>
                    <a:lnTo>
                      <a:pt x="4212239" y="2130677"/>
                    </a:lnTo>
                    <a:cubicBezTo>
                      <a:pt x="4212239" y="2150996"/>
                      <a:pt x="4195768" y="2167467"/>
                      <a:pt x="4175450" y="2167467"/>
                    </a:cubicBezTo>
                    <a:lnTo>
                      <a:pt x="36789" y="2167467"/>
                    </a:lnTo>
                    <a:cubicBezTo>
                      <a:pt x="27032" y="2167467"/>
                      <a:pt x="17675" y="2163591"/>
                      <a:pt x="10775" y="2156691"/>
                    </a:cubicBezTo>
                    <a:cubicBezTo>
                      <a:pt x="3876" y="2149792"/>
                      <a:pt x="0" y="2140434"/>
                      <a:pt x="0" y="2130677"/>
                    </a:cubicBezTo>
                    <a:lnTo>
                      <a:pt x="0" y="36789"/>
                    </a:lnTo>
                    <a:cubicBezTo>
                      <a:pt x="0" y="27032"/>
                      <a:pt x="3876" y="17675"/>
                      <a:pt x="10775" y="10775"/>
                    </a:cubicBezTo>
                    <a:cubicBezTo>
                      <a:pt x="17675" y="3876"/>
                      <a:pt x="27032" y="0"/>
                      <a:pt x="36789" y="0"/>
                    </a:cubicBezTo>
                    <a:close/>
                  </a:path>
                </a:pathLst>
              </a:custGeom>
              <a:solidFill>
                <a:srgbClr val="FFFFFF">
                  <a:alpha val="60784"/>
                </a:srgbClr>
              </a:solidFill>
              <a:ln w="38100" cap="rnd">
                <a:solidFill>
                  <a:srgbClr val="2D8BBA">
                    <a:alpha val="60784"/>
                  </a:srgbClr>
                </a:solidFill>
                <a:prstDash val="solid"/>
                <a:round/>
              </a:ln>
            </p:spPr>
          </p:sp>
          <p:sp>
            <p:nvSpPr>
              <p:cNvPr name="TextBox 7" id="7"/>
              <p:cNvSpPr txBox="true"/>
              <p:nvPr/>
            </p:nvSpPr>
            <p:spPr>
              <a:xfrm>
                <a:off x="0" y="-47625"/>
                <a:ext cx="4212240" cy="2215092"/>
              </a:xfrm>
              <a:prstGeom prst="rect">
                <a:avLst/>
              </a:prstGeom>
            </p:spPr>
            <p:txBody>
              <a:bodyPr anchor="ctr" rtlCol="false" tIns="50800" lIns="50800" bIns="50800" rIns="50800"/>
              <a:lstStyle/>
              <a:p>
                <a:pPr algn="ctr">
                  <a:lnSpc>
                    <a:spcPts val="3525"/>
                  </a:lnSpc>
                </a:pPr>
              </a:p>
            </p:txBody>
          </p:sp>
        </p:grpSp>
        <p:sp>
          <p:nvSpPr>
            <p:cNvPr name="Freeform 8" id="8"/>
            <p:cNvSpPr/>
            <p:nvPr/>
          </p:nvSpPr>
          <p:spPr>
            <a:xfrm flipH="false" flipV="true" rot="0">
              <a:off x="13130838" y="0"/>
              <a:ext cx="13295346" cy="15501165"/>
            </a:xfrm>
            <a:custGeom>
              <a:avLst/>
              <a:gdLst/>
              <a:ahLst/>
              <a:cxnLst/>
              <a:rect r="r" b="b" t="t" l="l"/>
              <a:pathLst>
                <a:path h="15501165" w="13295346">
                  <a:moveTo>
                    <a:pt x="0" y="15501165"/>
                  </a:moveTo>
                  <a:lnTo>
                    <a:pt x="13295347" y="15501165"/>
                  </a:lnTo>
                  <a:lnTo>
                    <a:pt x="13295347" y="0"/>
                  </a:lnTo>
                  <a:lnTo>
                    <a:pt x="0" y="0"/>
                  </a:lnTo>
                  <a:lnTo>
                    <a:pt x="0" y="15501165"/>
                  </a:lnTo>
                  <a:close/>
                </a:path>
              </a:pathLst>
            </a:custGeom>
            <a:blipFill>
              <a:blip r:embed="rId3"/>
              <a:stretch>
                <a:fillRect l="-12500" t="0" r="-12499" b="0"/>
              </a:stretch>
            </a:blipFill>
          </p:spPr>
        </p:sp>
      </p:grpSp>
      <p:sp>
        <p:nvSpPr>
          <p:cNvPr name="TextBox 9" id="9"/>
          <p:cNvSpPr txBox="true"/>
          <p:nvPr/>
        </p:nvSpPr>
        <p:spPr>
          <a:xfrm rot="0">
            <a:off x="7581252" y="9360313"/>
            <a:ext cx="3074441" cy="570402"/>
          </a:xfrm>
          <a:prstGeom prst="rect">
            <a:avLst/>
          </a:prstGeom>
        </p:spPr>
        <p:txBody>
          <a:bodyPr anchor="t" rtlCol="false" tIns="0" lIns="0" bIns="0" rIns="0">
            <a:spAutoFit/>
          </a:bodyPr>
          <a:lstStyle/>
          <a:p>
            <a:pPr algn="ctr">
              <a:lnSpc>
                <a:spcPts val="4785"/>
              </a:lnSpc>
              <a:spcBef>
                <a:spcPct val="0"/>
              </a:spcBef>
            </a:pPr>
            <a:r>
              <a:rPr lang="en-US" b="true" sz="3418">
                <a:solidFill>
                  <a:srgbClr val="104579"/>
                </a:solidFill>
                <a:latin typeface="Amaranth Bold"/>
                <a:ea typeface="Amaranth Bold"/>
                <a:cs typeface="Amaranth Bold"/>
                <a:sym typeface="Amaranth Bold"/>
              </a:rPr>
              <a:t>09</a:t>
            </a:r>
          </a:p>
        </p:txBody>
      </p:sp>
      <p:sp>
        <p:nvSpPr>
          <p:cNvPr name="TextBox 10" id="10"/>
          <p:cNvSpPr txBox="true"/>
          <p:nvPr/>
        </p:nvSpPr>
        <p:spPr>
          <a:xfrm rot="0">
            <a:off x="3782505" y="1462197"/>
            <a:ext cx="10671935" cy="863600"/>
          </a:xfrm>
          <a:prstGeom prst="rect">
            <a:avLst/>
          </a:prstGeom>
        </p:spPr>
        <p:txBody>
          <a:bodyPr anchor="t" rtlCol="false" tIns="0" lIns="0" bIns="0" rIns="0">
            <a:spAutoFit/>
          </a:bodyPr>
          <a:lstStyle/>
          <a:p>
            <a:pPr algn="ctr">
              <a:lnSpc>
                <a:spcPts val="7000"/>
              </a:lnSpc>
              <a:spcBef>
                <a:spcPct val="0"/>
              </a:spcBef>
            </a:pPr>
            <a:r>
              <a:rPr lang="en-US" b="true" sz="5000">
                <a:solidFill>
                  <a:srgbClr val="104579"/>
                </a:solidFill>
                <a:latin typeface="Garet Bold"/>
                <a:ea typeface="Garet Bold"/>
                <a:cs typeface="Garet Bold"/>
                <a:sym typeface="Garet Bold"/>
              </a:rPr>
              <a:t>BÀI TOÁN PHÂN LOẠI</a:t>
            </a:r>
          </a:p>
        </p:txBody>
      </p:sp>
      <p:sp>
        <p:nvSpPr>
          <p:cNvPr name="TextBox 11" id="11"/>
          <p:cNvSpPr txBox="true"/>
          <p:nvPr/>
        </p:nvSpPr>
        <p:spPr>
          <a:xfrm rot="0">
            <a:off x="2623411" y="2923485"/>
            <a:ext cx="7372509" cy="318135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104579"/>
                </a:solidFill>
                <a:latin typeface="Garet"/>
                <a:ea typeface="Garet"/>
                <a:cs typeface="Garet"/>
                <a:sym typeface="Garet"/>
              </a:rPr>
              <a:t>Phân</a:t>
            </a:r>
            <a:r>
              <a:rPr lang="en-US" sz="3000">
                <a:solidFill>
                  <a:srgbClr val="104579"/>
                </a:solidFill>
                <a:latin typeface="Garet"/>
                <a:ea typeface="Garet"/>
                <a:cs typeface="Garet"/>
                <a:sym typeface="Garet"/>
              </a:rPr>
              <a:t> loại AQI thành 5 mức : </a:t>
            </a:r>
          </a:p>
          <a:p>
            <a:pPr algn="l" marL="1295400" indent="-431800" lvl="2">
              <a:lnSpc>
                <a:spcPts val="4200"/>
              </a:lnSpc>
              <a:spcBef>
                <a:spcPct val="0"/>
              </a:spcBef>
              <a:buFont typeface="Arial"/>
              <a:buChar char="⚬"/>
            </a:pPr>
            <a:r>
              <a:rPr lang="en-US" sz="3000">
                <a:solidFill>
                  <a:srgbClr val="104579"/>
                </a:solidFill>
                <a:latin typeface="Garet"/>
                <a:ea typeface="Garet"/>
                <a:cs typeface="Garet"/>
                <a:sym typeface="Garet"/>
              </a:rPr>
              <a:t>Good </a:t>
            </a:r>
          </a:p>
          <a:p>
            <a:pPr algn="l" marL="1295400" indent="-431800" lvl="2">
              <a:lnSpc>
                <a:spcPts val="4200"/>
              </a:lnSpc>
              <a:buFont typeface="Arial"/>
              <a:buChar char="⚬"/>
            </a:pPr>
            <a:r>
              <a:rPr lang="en-US" sz="3000">
                <a:solidFill>
                  <a:srgbClr val="104579"/>
                </a:solidFill>
                <a:latin typeface="Garet"/>
                <a:ea typeface="Garet"/>
                <a:cs typeface="Garet"/>
                <a:sym typeface="Garet"/>
              </a:rPr>
              <a:t>Moderate </a:t>
            </a:r>
          </a:p>
          <a:p>
            <a:pPr algn="l" marL="1295400" indent="-431800" lvl="2">
              <a:lnSpc>
                <a:spcPts val="4200"/>
              </a:lnSpc>
              <a:buFont typeface="Arial"/>
              <a:buChar char="⚬"/>
            </a:pPr>
            <a:r>
              <a:rPr lang="en-US" sz="3000">
                <a:solidFill>
                  <a:srgbClr val="104579"/>
                </a:solidFill>
                <a:latin typeface="Garet"/>
                <a:ea typeface="Garet"/>
                <a:cs typeface="Garet"/>
                <a:sym typeface="Garet"/>
              </a:rPr>
              <a:t>Unhealthy for Sensitive Groups </a:t>
            </a:r>
          </a:p>
          <a:p>
            <a:pPr algn="l" marL="1295400" indent="-431800" lvl="2">
              <a:lnSpc>
                <a:spcPts val="4200"/>
              </a:lnSpc>
              <a:buFont typeface="Arial"/>
              <a:buChar char="⚬"/>
            </a:pPr>
            <a:r>
              <a:rPr lang="en-US" sz="3000">
                <a:solidFill>
                  <a:srgbClr val="104579"/>
                </a:solidFill>
                <a:latin typeface="Garet"/>
                <a:ea typeface="Garet"/>
                <a:cs typeface="Garet"/>
                <a:sym typeface="Garet"/>
              </a:rPr>
              <a:t>Unhealthy </a:t>
            </a:r>
          </a:p>
          <a:p>
            <a:pPr algn="l" marL="1295400" indent="-431800" lvl="2">
              <a:lnSpc>
                <a:spcPts val="4200"/>
              </a:lnSpc>
              <a:buFont typeface="Arial"/>
              <a:buChar char="⚬"/>
            </a:pPr>
            <a:r>
              <a:rPr lang="en-US" sz="3000">
                <a:solidFill>
                  <a:srgbClr val="104579"/>
                </a:solidFill>
                <a:latin typeface="Garet"/>
                <a:ea typeface="Garet"/>
                <a:cs typeface="Garet"/>
                <a:sym typeface="Garet"/>
              </a:rPr>
              <a:t>Very Unhealthy </a:t>
            </a:r>
          </a:p>
        </p:txBody>
      </p:sp>
      <p:sp>
        <p:nvSpPr>
          <p:cNvPr name="TextBox 12" id="12"/>
          <p:cNvSpPr txBox="true"/>
          <p:nvPr/>
        </p:nvSpPr>
        <p:spPr>
          <a:xfrm rot="0">
            <a:off x="9018834" y="6028635"/>
            <a:ext cx="6011592" cy="160020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104579"/>
                </a:solidFill>
                <a:latin typeface="Arimo"/>
                <a:ea typeface="Arimo"/>
                <a:cs typeface="Arimo"/>
                <a:sym typeface="Arimo"/>
              </a:rPr>
              <a:t>Các mô hình sử dụng : </a:t>
            </a:r>
          </a:p>
          <a:p>
            <a:pPr algn="l" marL="1295400" indent="-431800" lvl="2">
              <a:lnSpc>
                <a:spcPts val="4200"/>
              </a:lnSpc>
              <a:buFont typeface="Arial"/>
              <a:buChar char="⚬"/>
            </a:pPr>
            <a:r>
              <a:rPr lang="en-US" sz="3000">
                <a:solidFill>
                  <a:srgbClr val="104579"/>
                </a:solidFill>
                <a:latin typeface="Arimo"/>
                <a:ea typeface="Arimo"/>
                <a:cs typeface="Arimo"/>
                <a:sym typeface="Arimo"/>
              </a:rPr>
              <a:t>CNN-LSTM</a:t>
            </a:r>
          </a:p>
          <a:p>
            <a:pPr algn="l" marL="1295400" indent="-431800" lvl="2">
              <a:lnSpc>
                <a:spcPts val="4200"/>
              </a:lnSpc>
              <a:buFont typeface="Arial"/>
              <a:buChar char="⚬"/>
            </a:pPr>
            <a:r>
              <a:rPr lang="en-US" sz="3000">
                <a:solidFill>
                  <a:srgbClr val="104579"/>
                </a:solidFill>
                <a:latin typeface="Arimo"/>
                <a:ea typeface="Arimo"/>
                <a:cs typeface="Arimo"/>
                <a:sym typeface="Arimo"/>
              </a:rPr>
              <a:t>transformer </a:t>
            </a:r>
          </a:p>
        </p:txBody>
      </p:sp>
    </p:spTree>
  </p:cSld>
  <p:clrMapOvr>
    <a:masterClrMapping/>
  </p:clrMapOvr>
  <p:transition spd="fast">
    <p:fade/>
  </p:transition>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429527" y="-1306814"/>
            <a:ext cx="19819639" cy="12900629"/>
            <a:chOff x="0" y="0"/>
            <a:chExt cx="26426185" cy="17200838"/>
          </a:xfrm>
        </p:grpSpPr>
        <p:sp>
          <p:nvSpPr>
            <p:cNvPr name="Freeform 3" id="3"/>
            <p:cNvSpPr/>
            <p:nvPr/>
          </p:nvSpPr>
          <p:spPr>
            <a:xfrm flipH="false" flipV="false" rot="0">
              <a:off x="0" y="1785165"/>
              <a:ext cx="24895049" cy="14191553"/>
            </a:xfrm>
            <a:custGeom>
              <a:avLst/>
              <a:gdLst/>
              <a:ahLst/>
              <a:cxnLst/>
              <a:rect r="r" b="b" t="t" l="l"/>
              <a:pathLst>
                <a:path h="14191553" w="24895049">
                  <a:moveTo>
                    <a:pt x="0" y="0"/>
                  </a:moveTo>
                  <a:lnTo>
                    <a:pt x="24895049" y="0"/>
                  </a:lnTo>
                  <a:lnTo>
                    <a:pt x="24895049" y="14191554"/>
                  </a:lnTo>
                  <a:lnTo>
                    <a:pt x="0" y="14191554"/>
                  </a:lnTo>
                  <a:lnTo>
                    <a:pt x="0" y="0"/>
                  </a:lnTo>
                  <a:close/>
                </a:path>
              </a:pathLst>
            </a:custGeom>
            <a:blipFill>
              <a:blip r:embed="rId2"/>
              <a:stretch>
                <a:fillRect l="-4939" t="-11172" r="-7311" b="0"/>
              </a:stretch>
            </a:blipFill>
          </p:spPr>
        </p:sp>
        <p:sp>
          <p:nvSpPr>
            <p:cNvPr name="Freeform 4" id="4"/>
            <p:cNvSpPr/>
            <p:nvPr/>
          </p:nvSpPr>
          <p:spPr>
            <a:xfrm flipH="true" flipV="false" rot="0">
              <a:off x="511049" y="1785165"/>
              <a:ext cx="13222020" cy="15415673"/>
            </a:xfrm>
            <a:custGeom>
              <a:avLst/>
              <a:gdLst/>
              <a:ahLst/>
              <a:cxnLst/>
              <a:rect r="r" b="b" t="t" l="l"/>
              <a:pathLst>
                <a:path h="15415673" w="13222020">
                  <a:moveTo>
                    <a:pt x="13222020" y="0"/>
                  </a:moveTo>
                  <a:lnTo>
                    <a:pt x="0" y="0"/>
                  </a:lnTo>
                  <a:lnTo>
                    <a:pt x="0" y="15415673"/>
                  </a:lnTo>
                  <a:lnTo>
                    <a:pt x="13222020" y="15415673"/>
                  </a:lnTo>
                  <a:lnTo>
                    <a:pt x="13222020" y="0"/>
                  </a:lnTo>
                  <a:close/>
                </a:path>
              </a:pathLst>
            </a:custGeom>
            <a:blipFill>
              <a:blip r:embed="rId3"/>
              <a:stretch>
                <a:fillRect l="-12500" t="0" r="-12499" b="0"/>
              </a:stretch>
            </a:blipFill>
          </p:spPr>
        </p:sp>
        <p:grpSp>
          <p:nvGrpSpPr>
            <p:cNvPr name="Group 5" id="5"/>
            <p:cNvGrpSpPr/>
            <p:nvPr/>
          </p:nvGrpSpPr>
          <p:grpSpPr>
            <a:xfrm rot="0">
              <a:off x="1882649" y="3156765"/>
              <a:ext cx="21324463" cy="10972800"/>
              <a:chOff x="0" y="0"/>
              <a:chExt cx="4212240" cy="2167467"/>
            </a:xfrm>
          </p:grpSpPr>
          <p:sp>
            <p:nvSpPr>
              <p:cNvPr name="Freeform 6" id="6"/>
              <p:cNvSpPr/>
              <p:nvPr/>
            </p:nvSpPr>
            <p:spPr>
              <a:xfrm flipH="false" flipV="false" rot="0">
                <a:off x="0" y="0"/>
                <a:ext cx="4212239" cy="2167467"/>
              </a:xfrm>
              <a:custGeom>
                <a:avLst/>
                <a:gdLst/>
                <a:ahLst/>
                <a:cxnLst/>
                <a:rect r="r" b="b" t="t" l="l"/>
                <a:pathLst>
                  <a:path h="2167467" w="4212239">
                    <a:moveTo>
                      <a:pt x="36789" y="0"/>
                    </a:moveTo>
                    <a:lnTo>
                      <a:pt x="4175450" y="0"/>
                    </a:lnTo>
                    <a:cubicBezTo>
                      <a:pt x="4185207" y="0"/>
                      <a:pt x="4194565" y="3876"/>
                      <a:pt x="4201464" y="10775"/>
                    </a:cubicBezTo>
                    <a:cubicBezTo>
                      <a:pt x="4208363" y="17675"/>
                      <a:pt x="4212239" y="27032"/>
                      <a:pt x="4212239" y="36789"/>
                    </a:cubicBezTo>
                    <a:lnTo>
                      <a:pt x="4212239" y="2130677"/>
                    </a:lnTo>
                    <a:cubicBezTo>
                      <a:pt x="4212239" y="2150996"/>
                      <a:pt x="4195768" y="2167467"/>
                      <a:pt x="4175450" y="2167467"/>
                    </a:cubicBezTo>
                    <a:lnTo>
                      <a:pt x="36789" y="2167467"/>
                    </a:lnTo>
                    <a:cubicBezTo>
                      <a:pt x="27032" y="2167467"/>
                      <a:pt x="17675" y="2163591"/>
                      <a:pt x="10775" y="2156691"/>
                    </a:cubicBezTo>
                    <a:cubicBezTo>
                      <a:pt x="3876" y="2149792"/>
                      <a:pt x="0" y="2140434"/>
                      <a:pt x="0" y="2130677"/>
                    </a:cubicBezTo>
                    <a:lnTo>
                      <a:pt x="0" y="36789"/>
                    </a:lnTo>
                    <a:cubicBezTo>
                      <a:pt x="0" y="27032"/>
                      <a:pt x="3876" y="17675"/>
                      <a:pt x="10775" y="10775"/>
                    </a:cubicBezTo>
                    <a:cubicBezTo>
                      <a:pt x="17675" y="3876"/>
                      <a:pt x="27032" y="0"/>
                      <a:pt x="36789" y="0"/>
                    </a:cubicBezTo>
                    <a:close/>
                  </a:path>
                </a:pathLst>
              </a:custGeom>
              <a:solidFill>
                <a:srgbClr val="FFFFFF">
                  <a:alpha val="60784"/>
                </a:srgbClr>
              </a:solidFill>
              <a:ln w="38100" cap="rnd">
                <a:solidFill>
                  <a:srgbClr val="2D8BBA">
                    <a:alpha val="60784"/>
                  </a:srgbClr>
                </a:solidFill>
                <a:prstDash val="solid"/>
                <a:round/>
              </a:ln>
            </p:spPr>
          </p:sp>
          <p:sp>
            <p:nvSpPr>
              <p:cNvPr name="TextBox 7" id="7"/>
              <p:cNvSpPr txBox="true"/>
              <p:nvPr/>
            </p:nvSpPr>
            <p:spPr>
              <a:xfrm>
                <a:off x="0" y="-47625"/>
                <a:ext cx="4212240" cy="2215092"/>
              </a:xfrm>
              <a:prstGeom prst="rect">
                <a:avLst/>
              </a:prstGeom>
            </p:spPr>
            <p:txBody>
              <a:bodyPr anchor="ctr" rtlCol="false" tIns="50800" lIns="50800" bIns="50800" rIns="50800"/>
              <a:lstStyle/>
              <a:p>
                <a:pPr algn="l" marL="543692" indent="-271846" lvl="1">
                  <a:lnSpc>
                    <a:spcPts val="3525"/>
                  </a:lnSpc>
                  <a:buFont typeface="Arial"/>
                  <a:buChar char="•"/>
                </a:pPr>
              </a:p>
            </p:txBody>
          </p:sp>
        </p:grpSp>
        <p:sp>
          <p:nvSpPr>
            <p:cNvPr name="Freeform 8" id="8"/>
            <p:cNvSpPr/>
            <p:nvPr/>
          </p:nvSpPr>
          <p:spPr>
            <a:xfrm flipH="false" flipV="true" rot="0">
              <a:off x="13130838" y="0"/>
              <a:ext cx="13295346" cy="15501165"/>
            </a:xfrm>
            <a:custGeom>
              <a:avLst/>
              <a:gdLst/>
              <a:ahLst/>
              <a:cxnLst/>
              <a:rect r="r" b="b" t="t" l="l"/>
              <a:pathLst>
                <a:path h="15501165" w="13295346">
                  <a:moveTo>
                    <a:pt x="0" y="15501165"/>
                  </a:moveTo>
                  <a:lnTo>
                    <a:pt x="13295347" y="15501165"/>
                  </a:lnTo>
                  <a:lnTo>
                    <a:pt x="13295347" y="0"/>
                  </a:lnTo>
                  <a:lnTo>
                    <a:pt x="0" y="0"/>
                  </a:lnTo>
                  <a:lnTo>
                    <a:pt x="0" y="15501165"/>
                  </a:lnTo>
                  <a:close/>
                </a:path>
              </a:pathLst>
            </a:custGeom>
            <a:blipFill>
              <a:blip r:embed="rId3"/>
              <a:stretch>
                <a:fillRect l="-12500" t="0" r="-12499" b="0"/>
              </a:stretch>
            </a:blipFill>
          </p:spPr>
        </p:sp>
      </p:grpSp>
      <p:sp>
        <p:nvSpPr>
          <p:cNvPr name="TextBox 9" id="9"/>
          <p:cNvSpPr txBox="true"/>
          <p:nvPr/>
        </p:nvSpPr>
        <p:spPr>
          <a:xfrm rot="0">
            <a:off x="7581252" y="9360313"/>
            <a:ext cx="3074441" cy="570402"/>
          </a:xfrm>
          <a:prstGeom prst="rect">
            <a:avLst/>
          </a:prstGeom>
        </p:spPr>
        <p:txBody>
          <a:bodyPr anchor="t" rtlCol="false" tIns="0" lIns="0" bIns="0" rIns="0">
            <a:spAutoFit/>
          </a:bodyPr>
          <a:lstStyle/>
          <a:p>
            <a:pPr algn="ctr">
              <a:lnSpc>
                <a:spcPts val="4785"/>
              </a:lnSpc>
              <a:spcBef>
                <a:spcPct val="0"/>
              </a:spcBef>
            </a:pPr>
            <a:r>
              <a:rPr lang="en-US" b="true" sz="3418">
                <a:solidFill>
                  <a:srgbClr val="104579"/>
                </a:solidFill>
                <a:latin typeface="Amaranth Bold"/>
                <a:ea typeface="Amaranth Bold"/>
                <a:cs typeface="Amaranth Bold"/>
                <a:sym typeface="Amaranth Bold"/>
              </a:rPr>
              <a:t>10</a:t>
            </a:r>
          </a:p>
        </p:txBody>
      </p:sp>
      <p:sp>
        <p:nvSpPr>
          <p:cNvPr name="TextBox 10" id="10"/>
          <p:cNvSpPr txBox="true"/>
          <p:nvPr/>
        </p:nvSpPr>
        <p:spPr>
          <a:xfrm rot="0">
            <a:off x="2468899" y="3465524"/>
            <a:ext cx="13350202" cy="373380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104579"/>
                </a:solidFill>
                <a:latin typeface="Arimo"/>
                <a:ea typeface="Arimo"/>
                <a:cs typeface="Arimo"/>
                <a:sym typeface="Arimo"/>
              </a:rPr>
              <a:t>C</a:t>
            </a:r>
            <a:r>
              <a:rPr lang="en-US" sz="3000">
                <a:solidFill>
                  <a:srgbClr val="104579"/>
                </a:solidFill>
                <a:latin typeface="Arimo"/>
                <a:ea typeface="Arimo"/>
                <a:cs typeface="Arimo"/>
                <a:sym typeface="Arimo"/>
              </a:rPr>
              <a:t>hỉ số đánh giá mô hình phân loại:</a:t>
            </a:r>
          </a:p>
          <a:p>
            <a:pPr algn="l" marL="1295400" indent="-431800" lvl="2">
              <a:lnSpc>
                <a:spcPts val="4200"/>
              </a:lnSpc>
              <a:buFont typeface="Arial"/>
              <a:buChar char="⚬"/>
            </a:pPr>
            <a:r>
              <a:rPr lang="en-US" sz="3000">
                <a:solidFill>
                  <a:srgbClr val="104579"/>
                </a:solidFill>
                <a:latin typeface="Arimo"/>
                <a:ea typeface="Arimo"/>
                <a:cs typeface="Arimo"/>
                <a:sym typeface="Arimo"/>
              </a:rPr>
              <a:t>Precision: tỷ lệ dự đoán dương đúng</a:t>
            </a:r>
          </a:p>
          <a:p>
            <a:pPr algn="l" marL="1295400" indent="-431800" lvl="2">
              <a:lnSpc>
                <a:spcPts val="4200"/>
              </a:lnSpc>
              <a:buFont typeface="Arial"/>
              <a:buChar char="⚬"/>
            </a:pPr>
            <a:r>
              <a:rPr lang="en-US" sz="3000">
                <a:solidFill>
                  <a:srgbClr val="104579"/>
                </a:solidFill>
                <a:latin typeface="Arimo"/>
                <a:ea typeface="Arimo"/>
                <a:cs typeface="Arimo"/>
                <a:sym typeface="Arimo"/>
              </a:rPr>
              <a:t>Recall: tỷ lệ phát hiện đúng trên tất cả mẫu thực sự dương</a:t>
            </a:r>
          </a:p>
          <a:p>
            <a:pPr algn="l" marL="1295400" indent="-431800" lvl="2">
              <a:lnSpc>
                <a:spcPts val="4200"/>
              </a:lnSpc>
              <a:buFont typeface="Arial"/>
              <a:buChar char="⚬"/>
            </a:pPr>
            <a:r>
              <a:rPr lang="en-US" sz="3000">
                <a:solidFill>
                  <a:srgbClr val="104579"/>
                </a:solidFill>
                <a:latin typeface="Arimo"/>
                <a:ea typeface="Arimo"/>
                <a:cs typeface="Arimo"/>
                <a:sym typeface="Arimo"/>
              </a:rPr>
              <a:t>F1-score: trung bình điều hòa giữa precision và recall</a:t>
            </a:r>
          </a:p>
          <a:p>
            <a:pPr algn="l" marL="1295400" indent="-431800" lvl="2">
              <a:lnSpc>
                <a:spcPts val="4200"/>
              </a:lnSpc>
              <a:buFont typeface="Arial"/>
              <a:buChar char="⚬"/>
            </a:pPr>
            <a:r>
              <a:rPr lang="en-US" sz="3000">
                <a:solidFill>
                  <a:srgbClr val="104579"/>
                </a:solidFill>
                <a:latin typeface="Arimo"/>
                <a:ea typeface="Arimo"/>
                <a:cs typeface="Arimo"/>
                <a:sym typeface="Arimo"/>
              </a:rPr>
              <a:t>Accuracy: tỷ lệ dự đoán đúng trên toàn bộ mẫu</a:t>
            </a:r>
          </a:p>
          <a:p>
            <a:pPr algn="l" marL="1295400" indent="-431800" lvl="2">
              <a:lnSpc>
                <a:spcPts val="4200"/>
              </a:lnSpc>
              <a:buFont typeface="Arial"/>
              <a:buChar char="⚬"/>
            </a:pPr>
            <a:r>
              <a:rPr lang="en-US" sz="3000">
                <a:solidFill>
                  <a:srgbClr val="104579"/>
                </a:solidFill>
                <a:latin typeface="Arimo"/>
                <a:ea typeface="Arimo"/>
                <a:cs typeface="Arimo"/>
                <a:sym typeface="Arimo"/>
              </a:rPr>
              <a:t>cùng với các giá trị trung bình Macro avg và Weighted avg</a:t>
            </a:r>
          </a:p>
          <a:p>
            <a:pPr algn="just">
              <a:lnSpc>
                <a:spcPts val="4200"/>
              </a:lnSpc>
              <a:spcBef>
                <a:spcPct val="0"/>
              </a:spcBef>
            </a:pPr>
          </a:p>
        </p:txBody>
      </p:sp>
      <p:sp>
        <p:nvSpPr>
          <p:cNvPr name="TextBox 11" id="11"/>
          <p:cNvSpPr txBox="true"/>
          <p:nvPr/>
        </p:nvSpPr>
        <p:spPr>
          <a:xfrm rot="0">
            <a:off x="3782505" y="1503194"/>
            <a:ext cx="10671935" cy="863600"/>
          </a:xfrm>
          <a:prstGeom prst="rect">
            <a:avLst/>
          </a:prstGeom>
        </p:spPr>
        <p:txBody>
          <a:bodyPr anchor="t" rtlCol="false" tIns="0" lIns="0" bIns="0" rIns="0">
            <a:spAutoFit/>
          </a:bodyPr>
          <a:lstStyle/>
          <a:p>
            <a:pPr algn="ctr">
              <a:lnSpc>
                <a:spcPts val="7000"/>
              </a:lnSpc>
              <a:spcBef>
                <a:spcPct val="0"/>
              </a:spcBef>
            </a:pPr>
            <a:r>
              <a:rPr lang="en-US" b="true" sz="5000">
                <a:solidFill>
                  <a:srgbClr val="104579"/>
                </a:solidFill>
                <a:latin typeface="Garet Bold"/>
                <a:ea typeface="Garet Bold"/>
                <a:cs typeface="Garet Bold"/>
                <a:sym typeface="Garet Bold"/>
              </a:rPr>
              <a:t>ĐÁNH GIÁ HIỆU SUẤT</a:t>
            </a:r>
          </a:p>
        </p:txBody>
      </p:sp>
    </p:spTree>
  </p:cSld>
  <p:clrMapOvr>
    <a:masterClrMapping/>
  </p:clrMapOvr>
  <p:transition spd="fast">
    <p:fade/>
  </p:transition>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83287" y="-1338874"/>
            <a:ext cx="19819639" cy="12900629"/>
            <a:chOff x="0" y="0"/>
            <a:chExt cx="26426185" cy="17200838"/>
          </a:xfrm>
        </p:grpSpPr>
        <p:sp>
          <p:nvSpPr>
            <p:cNvPr name="Freeform 3" id="3"/>
            <p:cNvSpPr/>
            <p:nvPr/>
          </p:nvSpPr>
          <p:spPr>
            <a:xfrm flipH="false" flipV="false" rot="0">
              <a:off x="0" y="1785165"/>
              <a:ext cx="24895049" cy="14191553"/>
            </a:xfrm>
            <a:custGeom>
              <a:avLst/>
              <a:gdLst/>
              <a:ahLst/>
              <a:cxnLst/>
              <a:rect r="r" b="b" t="t" l="l"/>
              <a:pathLst>
                <a:path h="14191553" w="24895049">
                  <a:moveTo>
                    <a:pt x="0" y="0"/>
                  </a:moveTo>
                  <a:lnTo>
                    <a:pt x="24895049" y="0"/>
                  </a:lnTo>
                  <a:lnTo>
                    <a:pt x="24895049" y="14191554"/>
                  </a:lnTo>
                  <a:lnTo>
                    <a:pt x="0" y="14191554"/>
                  </a:lnTo>
                  <a:lnTo>
                    <a:pt x="0" y="0"/>
                  </a:lnTo>
                  <a:close/>
                </a:path>
              </a:pathLst>
            </a:custGeom>
            <a:blipFill>
              <a:blip r:embed="rId2"/>
              <a:stretch>
                <a:fillRect l="-4939" t="-11172" r="-7311" b="0"/>
              </a:stretch>
            </a:blipFill>
          </p:spPr>
        </p:sp>
        <p:sp>
          <p:nvSpPr>
            <p:cNvPr name="Freeform 4" id="4"/>
            <p:cNvSpPr/>
            <p:nvPr/>
          </p:nvSpPr>
          <p:spPr>
            <a:xfrm flipH="true" flipV="false" rot="0">
              <a:off x="511049" y="1785165"/>
              <a:ext cx="13222020" cy="15415673"/>
            </a:xfrm>
            <a:custGeom>
              <a:avLst/>
              <a:gdLst/>
              <a:ahLst/>
              <a:cxnLst/>
              <a:rect r="r" b="b" t="t" l="l"/>
              <a:pathLst>
                <a:path h="15415673" w="13222020">
                  <a:moveTo>
                    <a:pt x="13222020" y="0"/>
                  </a:moveTo>
                  <a:lnTo>
                    <a:pt x="0" y="0"/>
                  </a:lnTo>
                  <a:lnTo>
                    <a:pt x="0" y="15415673"/>
                  </a:lnTo>
                  <a:lnTo>
                    <a:pt x="13222020" y="15415673"/>
                  </a:lnTo>
                  <a:lnTo>
                    <a:pt x="13222020" y="0"/>
                  </a:lnTo>
                  <a:close/>
                </a:path>
              </a:pathLst>
            </a:custGeom>
            <a:blipFill>
              <a:blip r:embed="rId3"/>
              <a:stretch>
                <a:fillRect l="-12500" t="0" r="-12499" b="0"/>
              </a:stretch>
            </a:blipFill>
          </p:spPr>
        </p:sp>
        <p:grpSp>
          <p:nvGrpSpPr>
            <p:cNvPr name="Group 5" id="5"/>
            <p:cNvGrpSpPr/>
            <p:nvPr/>
          </p:nvGrpSpPr>
          <p:grpSpPr>
            <a:xfrm rot="0">
              <a:off x="1882649" y="3156765"/>
              <a:ext cx="21324463" cy="10972800"/>
              <a:chOff x="0" y="0"/>
              <a:chExt cx="4212240" cy="2167467"/>
            </a:xfrm>
          </p:grpSpPr>
          <p:sp>
            <p:nvSpPr>
              <p:cNvPr name="Freeform 6" id="6"/>
              <p:cNvSpPr/>
              <p:nvPr/>
            </p:nvSpPr>
            <p:spPr>
              <a:xfrm flipH="false" flipV="false" rot="0">
                <a:off x="0" y="0"/>
                <a:ext cx="4212239" cy="2167467"/>
              </a:xfrm>
              <a:custGeom>
                <a:avLst/>
                <a:gdLst/>
                <a:ahLst/>
                <a:cxnLst/>
                <a:rect r="r" b="b" t="t" l="l"/>
                <a:pathLst>
                  <a:path h="2167467" w="4212239">
                    <a:moveTo>
                      <a:pt x="36789" y="0"/>
                    </a:moveTo>
                    <a:lnTo>
                      <a:pt x="4175450" y="0"/>
                    </a:lnTo>
                    <a:cubicBezTo>
                      <a:pt x="4185207" y="0"/>
                      <a:pt x="4194565" y="3876"/>
                      <a:pt x="4201464" y="10775"/>
                    </a:cubicBezTo>
                    <a:cubicBezTo>
                      <a:pt x="4208363" y="17675"/>
                      <a:pt x="4212239" y="27032"/>
                      <a:pt x="4212239" y="36789"/>
                    </a:cubicBezTo>
                    <a:lnTo>
                      <a:pt x="4212239" y="2130677"/>
                    </a:lnTo>
                    <a:cubicBezTo>
                      <a:pt x="4212239" y="2150996"/>
                      <a:pt x="4195768" y="2167467"/>
                      <a:pt x="4175450" y="2167467"/>
                    </a:cubicBezTo>
                    <a:lnTo>
                      <a:pt x="36789" y="2167467"/>
                    </a:lnTo>
                    <a:cubicBezTo>
                      <a:pt x="27032" y="2167467"/>
                      <a:pt x="17675" y="2163591"/>
                      <a:pt x="10775" y="2156691"/>
                    </a:cubicBezTo>
                    <a:cubicBezTo>
                      <a:pt x="3876" y="2149792"/>
                      <a:pt x="0" y="2140434"/>
                      <a:pt x="0" y="2130677"/>
                    </a:cubicBezTo>
                    <a:lnTo>
                      <a:pt x="0" y="36789"/>
                    </a:lnTo>
                    <a:cubicBezTo>
                      <a:pt x="0" y="27032"/>
                      <a:pt x="3876" y="17675"/>
                      <a:pt x="10775" y="10775"/>
                    </a:cubicBezTo>
                    <a:cubicBezTo>
                      <a:pt x="17675" y="3876"/>
                      <a:pt x="27032" y="0"/>
                      <a:pt x="36789" y="0"/>
                    </a:cubicBezTo>
                    <a:close/>
                  </a:path>
                </a:pathLst>
              </a:custGeom>
              <a:solidFill>
                <a:srgbClr val="FFFFFF">
                  <a:alpha val="60784"/>
                </a:srgbClr>
              </a:solidFill>
              <a:ln w="38100" cap="rnd">
                <a:solidFill>
                  <a:srgbClr val="2D8BBA">
                    <a:alpha val="60784"/>
                  </a:srgbClr>
                </a:solidFill>
                <a:prstDash val="solid"/>
                <a:round/>
              </a:ln>
            </p:spPr>
          </p:sp>
          <p:sp>
            <p:nvSpPr>
              <p:cNvPr name="TextBox 7" id="7"/>
              <p:cNvSpPr txBox="true"/>
              <p:nvPr/>
            </p:nvSpPr>
            <p:spPr>
              <a:xfrm>
                <a:off x="0" y="-47625"/>
                <a:ext cx="4212240" cy="2215092"/>
              </a:xfrm>
              <a:prstGeom prst="rect">
                <a:avLst/>
              </a:prstGeom>
            </p:spPr>
            <p:txBody>
              <a:bodyPr anchor="ctr" rtlCol="false" tIns="50800" lIns="50800" bIns="50800" rIns="50800"/>
              <a:lstStyle/>
              <a:p>
                <a:pPr algn="ctr">
                  <a:lnSpc>
                    <a:spcPts val="3525"/>
                  </a:lnSpc>
                </a:pPr>
              </a:p>
            </p:txBody>
          </p:sp>
        </p:grpSp>
        <p:sp>
          <p:nvSpPr>
            <p:cNvPr name="Freeform 8" id="8"/>
            <p:cNvSpPr/>
            <p:nvPr/>
          </p:nvSpPr>
          <p:spPr>
            <a:xfrm flipH="false" flipV="true" rot="0">
              <a:off x="13130838" y="0"/>
              <a:ext cx="13295346" cy="15501165"/>
            </a:xfrm>
            <a:custGeom>
              <a:avLst/>
              <a:gdLst/>
              <a:ahLst/>
              <a:cxnLst/>
              <a:rect r="r" b="b" t="t" l="l"/>
              <a:pathLst>
                <a:path h="15501165" w="13295346">
                  <a:moveTo>
                    <a:pt x="0" y="15501165"/>
                  </a:moveTo>
                  <a:lnTo>
                    <a:pt x="13295347" y="15501165"/>
                  </a:lnTo>
                  <a:lnTo>
                    <a:pt x="13295347" y="0"/>
                  </a:lnTo>
                  <a:lnTo>
                    <a:pt x="0" y="0"/>
                  </a:lnTo>
                  <a:lnTo>
                    <a:pt x="0" y="15501165"/>
                  </a:lnTo>
                  <a:close/>
                </a:path>
              </a:pathLst>
            </a:custGeom>
            <a:blipFill>
              <a:blip r:embed="rId3"/>
              <a:stretch>
                <a:fillRect l="-12500" t="0" r="-12499" b="0"/>
              </a:stretch>
            </a:blipFill>
          </p:spPr>
        </p:sp>
      </p:grpSp>
      <p:sp>
        <p:nvSpPr>
          <p:cNvPr name="TextBox 9" id="9"/>
          <p:cNvSpPr txBox="true"/>
          <p:nvPr/>
        </p:nvSpPr>
        <p:spPr>
          <a:xfrm rot="0">
            <a:off x="3083082" y="4590740"/>
            <a:ext cx="12883837" cy="936625"/>
          </a:xfrm>
          <a:prstGeom prst="rect">
            <a:avLst/>
          </a:prstGeom>
        </p:spPr>
        <p:txBody>
          <a:bodyPr anchor="t" rtlCol="false" tIns="0" lIns="0" bIns="0" rIns="0">
            <a:spAutoFit/>
          </a:bodyPr>
          <a:lstStyle/>
          <a:p>
            <a:pPr algn="ctr">
              <a:lnSpc>
                <a:spcPts val="7699"/>
              </a:lnSpc>
              <a:spcBef>
                <a:spcPct val="0"/>
              </a:spcBef>
            </a:pPr>
            <a:r>
              <a:rPr lang="en-US" b="true" sz="5499">
                <a:solidFill>
                  <a:srgbClr val="104579"/>
                </a:solidFill>
                <a:latin typeface="Garet Bold"/>
                <a:ea typeface="Garet Bold"/>
                <a:cs typeface="Garet Bold"/>
                <a:sym typeface="Garet Bold"/>
              </a:rPr>
              <a:t>PHẦN 4. THỰC NGHIỆM VÀ KẾT QUẢ</a:t>
            </a:r>
          </a:p>
        </p:txBody>
      </p:sp>
    </p:spTree>
  </p:cSld>
  <p:clrMapOvr>
    <a:masterClrMapping/>
  </p:clrMapOvr>
  <p:transition spd="fast">
    <p:fade/>
  </p:transition>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83287" y="-1338874"/>
            <a:ext cx="20046663" cy="12900629"/>
            <a:chOff x="0" y="0"/>
            <a:chExt cx="26728884" cy="17200838"/>
          </a:xfrm>
        </p:grpSpPr>
        <p:sp>
          <p:nvSpPr>
            <p:cNvPr name="Freeform 3" id="3"/>
            <p:cNvSpPr/>
            <p:nvPr/>
          </p:nvSpPr>
          <p:spPr>
            <a:xfrm flipH="false" flipV="false" rot="0">
              <a:off x="0" y="1785165"/>
              <a:ext cx="24895049" cy="14191553"/>
            </a:xfrm>
            <a:custGeom>
              <a:avLst/>
              <a:gdLst/>
              <a:ahLst/>
              <a:cxnLst/>
              <a:rect r="r" b="b" t="t" l="l"/>
              <a:pathLst>
                <a:path h="14191553" w="24895049">
                  <a:moveTo>
                    <a:pt x="0" y="0"/>
                  </a:moveTo>
                  <a:lnTo>
                    <a:pt x="24895049" y="0"/>
                  </a:lnTo>
                  <a:lnTo>
                    <a:pt x="24895049" y="14191554"/>
                  </a:lnTo>
                  <a:lnTo>
                    <a:pt x="0" y="14191554"/>
                  </a:lnTo>
                  <a:lnTo>
                    <a:pt x="0" y="0"/>
                  </a:lnTo>
                  <a:close/>
                </a:path>
              </a:pathLst>
            </a:custGeom>
            <a:blipFill>
              <a:blip r:embed="rId2"/>
              <a:stretch>
                <a:fillRect l="-4939" t="-11172" r="-7311" b="0"/>
              </a:stretch>
            </a:blipFill>
          </p:spPr>
        </p:sp>
        <p:sp>
          <p:nvSpPr>
            <p:cNvPr name="Freeform 4" id="4"/>
            <p:cNvSpPr/>
            <p:nvPr/>
          </p:nvSpPr>
          <p:spPr>
            <a:xfrm flipH="true" flipV="false" rot="0">
              <a:off x="511049" y="1785165"/>
              <a:ext cx="13222020" cy="15415673"/>
            </a:xfrm>
            <a:custGeom>
              <a:avLst/>
              <a:gdLst/>
              <a:ahLst/>
              <a:cxnLst/>
              <a:rect r="r" b="b" t="t" l="l"/>
              <a:pathLst>
                <a:path h="15415673" w="13222020">
                  <a:moveTo>
                    <a:pt x="13222020" y="0"/>
                  </a:moveTo>
                  <a:lnTo>
                    <a:pt x="0" y="0"/>
                  </a:lnTo>
                  <a:lnTo>
                    <a:pt x="0" y="15415673"/>
                  </a:lnTo>
                  <a:lnTo>
                    <a:pt x="13222020" y="15415673"/>
                  </a:lnTo>
                  <a:lnTo>
                    <a:pt x="13222020" y="0"/>
                  </a:lnTo>
                  <a:close/>
                </a:path>
              </a:pathLst>
            </a:custGeom>
            <a:blipFill>
              <a:blip r:embed="rId3"/>
              <a:stretch>
                <a:fillRect l="-12500" t="0" r="-12499" b="0"/>
              </a:stretch>
            </a:blipFill>
          </p:spPr>
        </p:sp>
        <p:grpSp>
          <p:nvGrpSpPr>
            <p:cNvPr name="Group 5" id="5"/>
            <p:cNvGrpSpPr/>
            <p:nvPr/>
          </p:nvGrpSpPr>
          <p:grpSpPr>
            <a:xfrm rot="0">
              <a:off x="1882649" y="3156765"/>
              <a:ext cx="21324463" cy="10972800"/>
              <a:chOff x="0" y="0"/>
              <a:chExt cx="4212240" cy="2167467"/>
            </a:xfrm>
          </p:grpSpPr>
          <p:sp>
            <p:nvSpPr>
              <p:cNvPr name="Freeform 6" id="6"/>
              <p:cNvSpPr/>
              <p:nvPr/>
            </p:nvSpPr>
            <p:spPr>
              <a:xfrm flipH="false" flipV="false" rot="0">
                <a:off x="0" y="0"/>
                <a:ext cx="4212239" cy="2167467"/>
              </a:xfrm>
              <a:custGeom>
                <a:avLst/>
                <a:gdLst/>
                <a:ahLst/>
                <a:cxnLst/>
                <a:rect r="r" b="b" t="t" l="l"/>
                <a:pathLst>
                  <a:path h="2167467" w="4212239">
                    <a:moveTo>
                      <a:pt x="36789" y="0"/>
                    </a:moveTo>
                    <a:lnTo>
                      <a:pt x="4175450" y="0"/>
                    </a:lnTo>
                    <a:cubicBezTo>
                      <a:pt x="4185207" y="0"/>
                      <a:pt x="4194565" y="3876"/>
                      <a:pt x="4201464" y="10775"/>
                    </a:cubicBezTo>
                    <a:cubicBezTo>
                      <a:pt x="4208363" y="17675"/>
                      <a:pt x="4212239" y="27032"/>
                      <a:pt x="4212239" y="36789"/>
                    </a:cubicBezTo>
                    <a:lnTo>
                      <a:pt x="4212239" y="2130677"/>
                    </a:lnTo>
                    <a:cubicBezTo>
                      <a:pt x="4212239" y="2150996"/>
                      <a:pt x="4195768" y="2167467"/>
                      <a:pt x="4175450" y="2167467"/>
                    </a:cubicBezTo>
                    <a:lnTo>
                      <a:pt x="36789" y="2167467"/>
                    </a:lnTo>
                    <a:cubicBezTo>
                      <a:pt x="27032" y="2167467"/>
                      <a:pt x="17675" y="2163591"/>
                      <a:pt x="10775" y="2156691"/>
                    </a:cubicBezTo>
                    <a:cubicBezTo>
                      <a:pt x="3876" y="2149792"/>
                      <a:pt x="0" y="2140434"/>
                      <a:pt x="0" y="2130677"/>
                    </a:cubicBezTo>
                    <a:lnTo>
                      <a:pt x="0" y="36789"/>
                    </a:lnTo>
                    <a:cubicBezTo>
                      <a:pt x="0" y="27032"/>
                      <a:pt x="3876" y="17675"/>
                      <a:pt x="10775" y="10775"/>
                    </a:cubicBezTo>
                    <a:cubicBezTo>
                      <a:pt x="17675" y="3876"/>
                      <a:pt x="27032" y="0"/>
                      <a:pt x="36789" y="0"/>
                    </a:cubicBezTo>
                    <a:close/>
                  </a:path>
                </a:pathLst>
              </a:custGeom>
              <a:solidFill>
                <a:srgbClr val="FFFFFF">
                  <a:alpha val="60784"/>
                </a:srgbClr>
              </a:solidFill>
              <a:ln w="38100" cap="rnd">
                <a:solidFill>
                  <a:srgbClr val="2D8BBA">
                    <a:alpha val="60784"/>
                  </a:srgbClr>
                </a:solidFill>
                <a:prstDash val="solid"/>
                <a:round/>
              </a:ln>
            </p:spPr>
          </p:sp>
          <p:sp>
            <p:nvSpPr>
              <p:cNvPr name="TextBox 7" id="7"/>
              <p:cNvSpPr txBox="true"/>
              <p:nvPr/>
            </p:nvSpPr>
            <p:spPr>
              <a:xfrm>
                <a:off x="0" y="-47625"/>
                <a:ext cx="4212240" cy="2215092"/>
              </a:xfrm>
              <a:prstGeom prst="rect">
                <a:avLst/>
              </a:prstGeom>
            </p:spPr>
            <p:txBody>
              <a:bodyPr anchor="ctr" rtlCol="false" tIns="50800" lIns="50800" bIns="50800" rIns="50800"/>
              <a:lstStyle/>
              <a:p>
                <a:pPr algn="ctr">
                  <a:lnSpc>
                    <a:spcPts val="3525"/>
                  </a:lnSpc>
                </a:pPr>
              </a:p>
            </p:txBody>
          </p:sp>
        </p:grpSp>
        <p:sp>
          <p:nvSpPr>
            <p:cNvPr name="Freeform 8" id="8"/>
            <p:cNvSpPr/>
            <p:nvPr/>
          </p:nvSpPr>
          <p:spPr>
            <a:xfrm flipH="false" flipV="true" rot="0">
              <a:off x="13433538" y="0"/>
              <a:ext cx="13295346" cy="15501165"/>
            </a:xfrm>
            <a:custGeom>
              <a:avLst/>
              <a:gdLst/>
              <a:ahLst/>
              <a:cxnLst/>
              <a:rect r="r" b="b" t="t" l="l"/>
              <a:pathLst>
                <a:path h="15501165" w="13295346">
                  <a:moveTo>
                    <a:pt x="0" y="15501165"/>
                  </a:moveTo>
                  <a:lnTo>
                    <a:pt x="13295346" y="15501165"/>
                  </a:lnTo>
                  <a:lnTo>
                    <a:pt x="13295346" y="0"/>
                  </a:lnTo>
                  <a:lnTo>
                    <a:pt x="0" y="0"/>
                  </a:lnTo>
                  <a:lnTo>
                    <a:pt x="0" y="15501165"/>
                  </a:lnTo>
                  <a:close/>
                </a:path>
              </a:pathLst>
            </a:custGeom>
            <a:blipFill>
              <a:blip r:embed="rId3"/>
              <a:stretch>
                <a:fillRect l="-12500" t="0" r="-12499" b="0"/>
              </a:stretch>
            </a:blipFill>
          </p:spPr>
        </p:sp>
      </p:grpSp>
      <p:sp>
        <p:nvSpPr>
          <p:cNvPr name="TextBox 9" id="9"/>
          <p:cNvSpPr txBox="true"/>
          <p:nvPr/>
        </p:nvSpPr>
        <p:spPr>
          <a:xfrm rot="0">
            <a:off x="7581252" y="9360313"/>
            <a:ext cx="3074441" cy="570402"/>
          </a:xfrm>
          <a:prstGeom prst="rect">
            <a:avLst/>
          </a:prstGeom>
        </p:spPr>
        <p:txBody>
          <a:bodyPr anchor="t" rtlCol="false" tIns="0" lIns="0" bIns="0" rIns="0">
            <a:spAutoFit/>
          </a:bodyPr>
          <a:lstStyle/>
          <a:p>
            <a:pPr algn="ctr">
              <a:lnSpc>
                <a:spcPts val="4785"/>
              </a:lnSpc>
              <a:spcBef>
                <a:spcPct val="0"/>
              </a:spcBef>
            </a:pPr>
            <a:r>
              <a:rPr lang="en-US" b="true" sz="3418">
                <a:solidFill>
                  <a:srgbClr val="104579"/>
                </a:solidFill>
                <a:latin typeface="Amaranth Bold"/>
                <a:ea typeface="Amaranth Bold"/>
                <a:cs typeface="Amaranth Bold"/>
                <a:sym typeface="Amaranth Bold"/>
              </a:rPr>
              <a:t>11</a:t>
            </a:r>
          </a:p>
        </p:txBody>
      </p:sp>
      <p:sp>
        <p:nvSpPr>
          <p:cNvPr name="TextBox 10" id="10"/>
          <p:cNvSpPr txBox="true"/>
          <p:nvPr/>
        </p:nvSpPr>
        <p:spPr>
          <a:xfrm rot="0">
            <a:off x="3656881" y="3739840"/>
            <a:ext cx="6998812" cy="2667000"/>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104579"/>
                </a:solidFill>
                <a:latin typeface="Arimo"/>
                <a:ea typeface="Arimo"/>
                <a:cs typeface="Arimo"/>
                <a:sym typeface="Arimo"/>
              </a:rPr>
              <a:t>Làm sạch dữ liệu </a:t>
            </a:r>
          </a:p>
          <a:p>
            <a:pPr algn="l" marL="647700" indent="-323850" lvl="1">
              <a:lnSpc>
                <a:spcPts val="4200"/>
              </a:lnSpc>
              <a:buFont typeface="Arial"/>
              <a:buChar char="•"/>
            </a:pPr>
            <a:r>
              <a:rPr lang="en-US" sz="3000">
                <a:solidFill>
                  <a:srgbClr val="104579"/>
                </a:solidFill>
                <a:latin typeface="Arimo"/>
                <a:ea typeface="Arimo"/>
                <a:cs typeface="Arimo"/>
                <a:sym typeface="Arimo"/>
              </a:rPr>
              <a:t>Xử lý giá trị thiếu </a:t>
            </a:r>
          </a:p>
          <a:p>
            <a:pPr algn="l" marL="647700" indent="-323850" lvl="1">
              <a:lnSpc>
                <a:spcPts val="4200"/>
              </a:lnSpc>
              <a:buFont typeface="Arial"/>
              <a:buChar char="•"/>
            </a:pPr>
            <a:r>
              <a:rPr lang="en-US" sz="3000">
                <a:solidFill>
                  <a:srgbClr val="104579"/>
                </a:solidFill>
                <a:latin typeface="Arimo"/>
                <a:ea typeface="Arimo"/>
                <a:cs typeface="Arimo"/>
                <a:sym typeface="Arimo"/>
              </a:rPr>
              <a:t>Chuẩn hóa dữ liệu</a:t>
            </a:r>
          </a:p>
          <a:p>
            <a:pPr algn="l" marL="647700" indent="-323850" lvl="1">
              <a:lnSpc>
                <a:spcPts val="4200"/>
              </a:lnSpc>
              <a:buFont typeface="Arial"/>
              <a:buChar char="•"/>
            </a:pPr>
            <a:r>
              <a:rPr lang="en-US" sz="3000">
                <a:solidFill>
                  <a:srgbClr val="104579"/>
                </a:solidFill>
                <a:latin typeface="Arimo"/>
                <a:ea typeface="Arimo"/>
                <a:cs typeface="Arimo"/>
                <a:sym typeface="Arimo"/>
              </a:rPr>
              <a:t>Mã hóa nhãn AQI </a:t>
            </a:r>
          </a:p>
          <a:p>
            <a:pPr algn="l" marL="647700" indent="-323850" lvl="1">
              <a:lnSpc>
                <a:spcPts val="4200"/>
              </a:lnSpc>
              <a:buFont typeface="Arial"/>
              <a:buChar char="•"/>
            </a:pPr>
            <a:r>
              <a:rPr lang="en-US" sz="3000">
                <a:solidFill>
                  <a:srgbClr val="104579"/>
                </a:solidFill>
                <a:latin typeface="Arimo"/>
                <a:ea typeface="Arimo"/>
                <a:cs typeface="Arimo"/>
                <a:sym typeface="Arimo"/>
              </a:rPr>
              <a:t>Chuyển dữ liệu thành chuỗi thời gian </a:t>
            </a:r>
          </a:p>
        </p:txBody>
      </p:sp>
      <p:sp>
        <p:nvSpPr>
          <p:cNvPr name="TextBox 11" id="11"/>
          <p:cNvSpPr txBox="true"/>
          <p:nvPr/>
        </p:nvSpPr>
        <p:spPr>
          <a:xfrm rot="0">
            <a:off x="3782505" y="1503194"/>
            <a:ext cx="10671935" cy="863600"/>
          </a:xfrm>
          <a:prstGeom prst="rect">
            <a:avLst/>
          </a:prstGeom>
        </p:spPr>
        <p:txBody>
          <a:bodyPr anchor="t" rtlCol="false" tIns="0" lIns="0" bIns="0" rIns="0">
            <a:spAutoFit/>
          </a:bodyPr>
          <a:lstStyle/>
          <a:p>
            <a:pPr algn="ctr">
              <a:lnSpc>
                <a:spcPts val="7000"/>
              </a:lnSpc>
              <a:spcBef>
                <a:spcPct val="0"/>
              </a:spcBef>
            </a:pPr>
            <a:r>
              <a:rPr lang="en-US" b="true" sz="5000">
                <a:solidFill>
                  <a:srgbClr val="104579"/>
                </a:solidFill>
                <a:latin typeface="Garet Bold"/>
                <a:ea typeface="Garet Bold"/>
                <a:cs typeface="Garet Bold"/>
                <a:sym typeface="Garet Bold"/>
              </a:rPr>
              <a:t>TIỀN XỬ LÝ DỮ LIỆU</a:t>
            </a:r>
          </a:p>
        </p:txBody>
      </p:sp>
    </p:spTree>
  </p:cSld>
  <p:clrMapOvr>
    <a:masterClrMapping/>
  </p:clrMapOvr>
  <p:transition spd="fast">
    <p:fade/>
  </p:transition>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2073" y="-1640392"/>
            <a:ext cx="19819639" cy="12900629"/>
            <a:chOff x="0" y="0"/>
            <a:chExt cx="26426185" cy="17200838"/>
          </a:xfrm>
        </p:grpSpPr>
        <p:sp>
          <p:nvSpPr>
            <p:cNvPr name="Freeform 3" id="3"/>
            <p:cNvSpPr/>
            <p:nvPr/>
          </p:nvSpPr>
          <p:spPr>
            <a:xfrm flipH="false" flipV="false" rot="0">
              <a:off x="0" y="1785165"/>
              <a:ext cx="24895049" cy="14191553"/>
            </a:xfrm>
            <a:custGeom>
              <a:avLst/>
              <a:gdLst/>
              <a:ahLst/>
              <a:cxnLst/>
              <a:rect r="r" b="b" t="t" l="l"/>
              <a:pathLst>
                <a:path h="14191553" w="24895049">
                  <a:moveTo>
                    <a:pt x="0" y="0"/>
                  </a:moveTo>
                  <a:lnTo>
                    <a:pt x="24895049" y="0"/>
                  </a:lnTo>
                  <a:lnTo>
                    <a:pt x="24895049" y="14191554"/>
                  </a:lnTo>
                  <a:lnTo>
                    <a:pt x="0" y="14191554"/>
                  </a:lnTo>
                  <a:lnTo>
                    <a:pt x="0" y="0"/>
                  </a:lnTo>
                  <a:close/>
                </a:path>
              </a:pathLst>
            </a:custGeom>
            <a:blipFill>
              <a:blip r:embed="rId2"/>
              <a:stretch>
                <a:fillRect l="-4939" t="-11172" r="-7311" b="0"/>
              </a:stretch>
            </a:blipFill>
          </p:spPr>
        </p:sp>
        <p:sp>
          <p:nvSpPr>
            <p:cNvPr name="Freeform 4" id="4"/>
            <p:cNvSpPr/>
            <p:nvPr/>
          </p:nvSpPr>
          <p:spPr>
            <a:xfrm flipH="true" flipV="false" rot="0">
              <a:off x="511049" y="1785165"/>
              <a:ext cx="13222020" cy="15415673"/>
            </a:xfrm>
            <a:custGeom>
              <a:avLst/>
              <a:gdLst/>
              <a:ahLst/>
              <a:cxnLst/>
              <a:rect r="r" b="b" t="t" l="l"/>
              <a:pathLst>
                <a:path h="15415673" w="13222020">
                  <a:moveTo>
                    <a:pt x="13222020" y="0"/>
                  </a:moveTo>
                  <a:lnTo>
                    <a:pt x="0" y="0"/>
                  </a:lnTo>
                  <a:lnTo>
                    <a:pt x="0" y="15415673"/>
                  </a:lnTo>
                  <a:lnTo>
                    <a:pt x="13222020" y="15415673"/>
                  </a:lnTo>
                  <a:lnTo>
                    <a:pt x="13222020" y="0"/>
                  </a:lnTo>
                  <a:close/>
                </a:path>
              </a:pathLst>
            </a:custGeom>
            <a:blipFill>
              <a:blip r:embed="rId3"/>
              <a:stretch>
                <a:fillRect l="-12500" t="0" r="-12499" b="0"/>
              </a:stretch>
            </a:blipFill>
          </p:spPr>
        </p:sp>
        <p:grpSp>
          <p:nvGrpSpPr>
            <p:cNvPr name="Group 5" id="5"/>
            <p:cNvGrpSpPr/>
            <p:nvPr/>
          </p:nvGrpSpPr>
          <p:grpSpPr>
            <a:xfrm rot="0">
              <a:off x="1882649" y="3156765"/>
              <a:ext cx="21324463" cy="10972800"/>
              <a:chOff x="0" y="0"/>
              <a:chExt cx="4212240" cy="2167467"/>
            </a:xfrm>
          </p:grpSpPr>
          <p:sp>
            <p:nvSpPr>
              <p:cNvPr name="Freeform 6" id="6"/>
              <p:cNvSpPr/>
              <p:nvPr/>
            </p:nvSpPr>
            <p:spPr>
              <a:xfrm flipH="false" flipV="false" rot="0">
                <a:off x="0" y="0"/>
                <a:ext cx="4212239" cy="2167467"/>
              </a:xfrm>
              <a:custGeom>
                <a:avLst/>
                <a:gdLst/>
                <a:ahLst/>
                <a:cxnLst/>
                <a:rect r="r" b="b" t="t" l="l"/>
                <a:pathLst>
                  <a:path h="2167467" w="4212239">
                    <a:moveTo>
                      <a:pt x="36789" y="0"/>
                    </a:moveTo>
                    <a:lnTo>
                      <a:pt x="4175450" y="0"/>
                    </a:lnTo>
                    <a:cubicBezTo>
                      <a:pt x="4185207" y="0"/>
                      <a:pt x="4194565" y="3876"/>
                      <a:pt x="4201464" y="10775"/>
                    </a:cubicBezTo>
                    <a:cubicBezTo>
                      <a:pt x="4208363" y="17675"/>
                      <a:pt x="4212239" y="27032"/>
                      <a:pt x="4212239" y="36789"/>
                    </a:cubicBezTo>
                    <a:lnTo>
                      <a:pt x="4212239" y="2130677"/>
                    </a:lnTo>
                    <a:cubicBezTo>
                      <a:pt x="4212239" y="2150996"/>
                      <a:pt x="4195768" y="2167467"/>
                      <a:pt x="4175450" y="2167467"/>
                    </a:cubicBezTo>
                    <a:lnTo>
                      <a:pt x="36789" y="2167467"/>
                    </a:lnTo>
                    <a:cubicBezTo>
                      <a:pt x="27032" y="2167467"/>
                      <a:pt x="17675" y="2163591"/>
                      <a:pt x="10775" y="2156691"/>
                    </a:cubicBezTo>
                    <a:cubicBezTo>
                      <a:pt x="3876" y="2149792"/>
                      <a:pt x="0" y="2140434"/>
                      <a:pt x="0" y="2130677"/>
                    </a:cubicBezTo>
                    <a:lnTo>
                      <a:pt x="0" y="36789"/>
                    </a:lnTo>
                    <a:cubicBezTo>
                      <a:pt x="0" y="27032"/>
                      <a:pt x="3876" y="17675"/>
                      <a:pt x="10775" y="10775"/>
                    </a:cubicBezTo>
                    <a:cubicBezTo>
                      <a:pt x="17675" y="3876"/>
                      <a:pt x="27032" y="0"/>
                      <a:pt x="36789" y="0"/>
                    </a:cubicBezTo>
                    <a:close/>
                  </a:path>
                </a:pathLst>
              </a:custGeom>
              <a:solidFill>
                <a:srgbClr val="FFFFFF">
                  <a:alpha val="60784"/>
                </a:srgbClr>
              </a:solidFill>
              <a:ln w="38100" cap="rnd">
                <a:solidFill>
                  <a:srgbClr val="2D8BBA">
                    <a:alpha val="60784"/>
                  </a:srgbClr>
                </a:solidFill>
                <a:prstDash val="solid"/>
                <a:round/>
              </a:ln>
            </p:spPr>
          </p:sp>
          <p:sp>
            <p:nvSpPr>
              <p:cNvPr name="TextBox 7" id="7"/>
              <p:cNvSpPr txBox="true"/>
              <p:nvPr/>
            </p:nvSpPr>
            <p:spPr>
              <a:xfrm>
                <a:off x="0" y="-47625"/>
                <a:ext cx="4212240" cy="2215092"/>
              </a:xfrm>
              <a:prstGeom prst="rect">
                <a:avLst/>
              </a:prstGeom>
            </p:spPr>
            <p:txBody>
              <a:bodyPr anchor="ctr" rtlCol="false" tIns="50800" lIns="50800" bIns="50800" rIns="50800"/>
              <a:lstStyle/>
              <a:p>
                <a:pPr algn="ctr">
                  <a:lnSpc>
                    <a:spcPts val="3525"/>
                  </a:lnSpc>
                </a:pPr>
              </a:p>
            </p:txBody>
          </p:sp>
        </p:grpSp>
        <p:sp>
          <p:nvSpPr>
            <p:cNvPr name="Freeform 8" id="8"/>
            <p:cNvSpPr/>
            <p:nvPr/>
          </p:nvSpPr>
          <p:spPr>
            <a:xfrm flipH="false" flipV="true" rot="0">
              <a:off x="13130838" y="0"/>
              <a:ext cx="13295346" cy="15501165"/>
            </a:xfrm>
            <a:custGeom>
              <a:avLst/>
              <a:gdLst/>
              <a:ahLst/>
              <a:cxnLst/>
              <a:rect r="r" b="b" t="t" l="l"/>
              <a:pathLst>
                <a:path h="15501165" w="13295346">
                  <a:moveTo>
                    <a:pt x="0" y="15501165"/>
                  </a:moveTo>
                  <a:lnTo>
                    <a:pt x="13295347" y="15501165"/>
                  </a:lnTo>
                  <a:lnTo>
                    <a:pt x="13295347" y="0"/>
                  </a:lnTo>
                  <a:lnTo>
                    <a:pt x="0" y="0"/>
                  </a:lnTo>
                  <a:lnTo>
                    <a:pt x="0" y="15501165"/>
                  </a:lnTo>
                  <a:close/>
                </a:path>
              </a:pathLst>
            </a:custGeom>
            <a:blipFill>
              <a:blip r:embed="rId3"/>
              <a:stretch>
                <a:fillRect l="-12500" t="0" r="-12499" b="0"/>
              </a:stretch>
            </a:blipFill>
          </p:spPr>
        </p:sp>
      </p:grpSp>
      <p:sp>
        <p:nvSpPr>
          <p:cNvPr name="TextBox 9" id="9"/>
          <p:cNvSpPr txBox="true"/>
          <p:nvPr/>
        </p:nvSpPr>
        <p:spPr>
          <a:xfrm rot="0">
            <a:off x="7638008" y="9246801"/>
            <a:ext cx="3074441" cy="570402"/>
          </a:xfrm>
          <a:prstGeom prst="rect">
            <a:avLst/>
          </a:prstGeom>
        </p:spPr>
        <p:txBody>
          <a:bodyPr anchor="t" rtlCol="false" tIns="0" lIns="0" bIns="0" rIns="0">
            <a:spAutoFit/>
          </a:bodyPr>
          <a:lstStyle/>
          <a:p>
            <a:pPr algn="ctr">
              <a:lnSpc>
                <a:spcPts val="4785"/>
              </a:lnSpc>
              <a:spcBef>
                <a:spcPct val="0"/>
              </a:spcBef>
            </a:pPr>
            <a:r>
              <a:rPr lang="en-US" b="true" sz="3418">
                <a:solidFill>
                  <a:srgbClr val="104579"/>
                </a:solidFill>
                <a:latin typeface="Amaranth Bold"/>
                <a:ea typeface="Amaranth Bold"/>
                <a:cs typeface="Amaranth Bold"/>
                <a:sym typeface="Amaranth Bold"/>
              </a:rPr>
              <a:t>12</a:t>
            </a:r>
          </a:p>
        </p:txBody>
      </p:sp>
      <p:sp>
        <p:nvSpPr>
          <p:cNvPr name="TextBox 10" id="10"/>
          <p:cNvSpPr txBox="true"/>
          <p:nvPr/>
        </p:nvSpPr>
        <p:spPr>
          <a:xfrm rot="0">
            <a:off x="2389596" y="2941189"/>
            <a:ext cx="13508809" cy="4621530"/>
          </a:xfrm>
          <a:prstGeom prst="rect">
            <a:avLst/>
          </a:prstGeom>
        </p:spPr>
        <p:txBody>
          <a:bodyPr anchor="t" rtlCol="false" tIns="0" lIns="0" bIns="0" rIns="0">
            <a:spAutoFit/>
          </a:bodyPr>
          <a:lstStyle/>
          <a:p>
            <a:pPr algn="just" marL="582932" indent="-291466" lvl="1">
              <a:lnSpc>
                <a:spcPts val="4050"/>
              </a:lnSpc>
              <a:buFont typeface="Arial"/>
              <a:buChar char="•"/>
            </a:pPr>
            <a:r>
              <a:rPr lang="en-US" sz="2700">
                <a:solidFill>
                  <a:srgbClr val="104579"/>
                </a:solidFill>
                <a:latin typeface="Arimo"/>
                <a:ea typeface="Arimo"/>
                <a:cs typeface="Arimo"/>
                <a:sym typeface="Arimo"/>
              </a:rPr>
              <a:t>Quá trình huấn luyện và đánh giá mô hình được thực hiện trên môi trường Python.</a:t>
            </a:r>
          </a:p>
          <a:p>
            <a:pPr algn="just" marL="582932" indent="-291466" lvl="1">
              <a:lnSpc>
                <a:spcPts val="4050"/>
              </a:lnSpc>
              <a:buFont typeface="Arial"/>
              <a:buChar char="•"/>
            </a:pPr>
            <a:r>
              <a:rPr lang="en-US" sz="2700">
                <a:solidFill>
                  <a:srgbClr val="104579"/>
                </a:solidFill>
                <a:latin typeface="Arimo"/>
                <a:ea typeface="Arimo"/>
                <a:cs typeface="Arimo"/>
                <a:sym typeface="Arimo"/>
              </a:rPr>
              <a:t>Các thư viện sử dụng gồm:</a:t>
            </a:r>
          </a:p>
          <a:p>
            <a:pPr algn="just" marL="1165863" indent="-388621" lvl="2">
              <a:lnSpc>
                <a:spcPts val="4050"/>
              </a:lnSpc>
              <a:buFont typeface="Arial"/>
              <a:buChar char="⚬"/>
            </a:pPr>
            <a:r>
              <a:rPr lang="en-US" sz="2700">
                <a:solidFill>
                  <a:srgbClr val="104579"/>
                </a:solidFill>
                <a:latin typeface="Arimo"/>
                <a:ea typeface="Arimo"/>
                <a:cs typeface="Arimo"/>
                <a:sym typeface="Arimo"/>
              </a:rPr>
              <a:t>TensorFlow/K</a:t>
            </a:r>
            <a:r>
              <a:rPr lang="en-US" sz="2700">
                <a:solidFill>
                  <a:srgbClr val="104579"/>
                </a:solidFill>
                <a:latin typeface="Arimo"/>
                <a:ea typeface="Arimo"/>
                <a:cs typeface="Arimo"/>
                <a:sym typeface="Arimo"/>
              </a:rPr>
              <a:t>eras (xây dựng và huấn luyện mô hình học sâu).</a:t>
            </a:r>
          </a:p>
          <a:p>
            <a:pPr algn="just" marL="1165863" indent="-388621" lvl="2">
              <a:lnSpc>
                <a:spcPts val="4050"/>
              </a:lnSpc>
              <a:buFont typeface="Arial"/>
              <a:buChar char="⚬"/>
            </a:pPr>
            <a:r>
              <a:rPr lang="en-US" sz="2700">
                <a:solidFill>
                  <a:srgbClr val="104579"/>
                </a:solidFill>
                <a:latin typeface="Arimo"/>
                <a:ea typeface="Arimo"/>
                <a:cs typeface="Arimo"/>
                <a:sym typeface="Arimo"/>
              </a:rPr>
              <a:t>Scikit-learn (tiền xử lý dữ liệu và xây dựng mô hình học máy).</a:t>
            </a:r>
          </a:p>
          <a:p>
            <a:pPr algn="just" marL="582932" indent="-291466" lvl="1">
              <a:lnSpc>
                <a:spcPts val="4050"/>
              </a:lnSpc>
              <a:buFont typeface="Arial"/>
              <a:buChar char="•"/>
            </a:pPr>
            <a:r>
              <a:rPr lang="en-US" sz="2700">
                <a:solidFill>
                  <a:srgbClr val="104579"/>
                </a:solidFill>
                <a:latin typeface="Arimo"/>
                <a:ea typeface="Arimo"/>
                <a:cs typeface="Arimo"/>
                <a:sym typeface="Arimo"/>
              </a:rPr>
              <a:t>Các siêu tham số được lựa chọn thông qua quá trình thử nghiệm và tinh chỉnh nhằm đạt hiệu suất tối ưu.</a:t>
            </a:r>
          </a:p>
          <a:p>
            <a:pPr algn="just" marL="582932" indent="-291466" lvl="1">
              <a:lnSpc>
                <a:spcPts val="4050"/>
              </a:lnSpc>
              <a:buFont typeface="Arial"/>
              <a:buChar char="•"/>
            </a:pPr>
            <a:r>
              <a:rPr lang="en-US" sz="2700">
                <a:solidFill>
                  <a:srgbClr val="104579"/>
                </a:solidFill>
                <a:latin typeface="Arimo"/>
                <a:ea typeface="Arimo"/>
                <a:cs typeface="Arimo"/>
                <a:sym typeface="Arimo"/>
              </a:rPr>
              <a:t>Nghiên cứu thực hiện dự báo với các khoảng thời gian là 6 giờ, 12 giờ và 24 giờ.</a:t>
            </a:r>
          </a:p>
          <a:p>
            <a:pPr algn="just">
              <a:lnSpc>
                <a:spcPts val="4050"/>
              </a:lnSpc>
            </a:pPr>
          </a:p>
          <a:p>
            <a:pPr algn="just">
              <a:lnSpc>
                <a:spcPts val="4050"/>
              </a:lnSpc>
            </a:pPr>
          </a:p>
        </p:txBody>
      </p:sp>
      <p:sp>
        <p:nvSpPr>
          <p:cNvPr name="TextBox 11" id="11"/>
          <p:cNvSpPr txBox="true"/>
          <p:nvPr/>
        </p:nvSpPr>
        <p:spPr>
          <a:xfrm rot="0">
            <a:off x="3839261" y="1389682"/>
            <a:ext cx="10671935" cy="863600"/>
          </a:xfrm>
          <a:prstGeom prst="rect">
            <a:avLst/>
          </a:prstGeom>
        </p:spPr>
        <p:txBody>
          <a:bodyPr anchor="t" rtlCol="false" tIns="0" lIns="0" bIns="0" rIns="0">
            <a:spAutoFit/>
          </a:bodyPr>
          <a:lstStyle/>
          <a:p>
            <a:pPr algn="ctr">
              <a:lnSpc>
                <a:spcPts val="7000"/>
              </a:lnSpc>
              <a:spcBef>
                <a:spcPct val="0"/>
              </a:spcBef>
            </a:pPr>
            <a:r>
              <a:rPr lang="en-US" b="true" sz="5000">
                <a:solidFill>
                  <a:srgbClr val="104579"/>
                </a:solidFill>
                <a:latin typeface="Garet Bold"/>
                <a:ea typeface="Garet Bold"/>
                <a:cs typeface="Garet Bold"/>
                <a:sym typeface="Garet Bold"/>
              </a:rPr>
              <a:t>CẤU HÌNH THỰC NGHIỆM</a:t>
            </a:r>
          </a:p>
        </p:txBody>
      </p:sp>
    </p:spTree>
  </p:cSld>
  <p:clrMapOvr>
    <a:masterClrMapping/>
  </p:clrMapOvr>
  <p:transition spd="fast">
    <p:fade/>
  </p:transition>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83287" y="-1338874"/>
            <a:ext cx="19819639" cy="12900629"/>
            <a:chOff x="0" y="0"/>
            <a:chExt cx="26426185" cy="17200838"/>
          </a:xfrm>
        </p:grpSpPr>
        <p:sp>
          <p:nvSpPr>
            <p:cNvPr name="Freeform 3" id="3"/>
            <p:cNvSpPr/>
            <p:nvPr/>
          </p:nvSpPr>
          <p:spPr>
            <a:xfrm flipH="false" flipV="false" rot="0">
              <a:off x="0" y="1785165"/>
              <a:ext cx="24895049" cy="14191553"/>
            </a:xfrm>
            <a:custGeom>
              <a:avLst/>
              <a:gdLst/>
              <a:ahLst/>
              <a:cxnLst/>
              <a:rect r="r" b="b" t="t" l="l"/>
              <a:pathLst>
                <a:path h="14191553" w="24895049">
                  <a:moveTo>
                    <a:pt x="0" y="0"/>
                  </a:moveTo>
                  <a:lnTo>
                    <a:pt x="24895049" y="0"/>
                  </a:lnTo>
                  <a:lnTo>
                    <a:pt x="24895049" y="14191554"/>
                  </a:lnTo>
                  <a:lnTo>
                    <a:pt x="0" y="14191554"/>
                  </a:lnTo>
                  <a:lnTo>
                    <a:pt x="0" y="0"/>
                  </a:lnTo>
                  <a:close/>
                </a:path>
              </a:pathLst>
            </a:custGeom>
            <a:blipFill>
              <a:blip r:embed="rId2"/>
              <a:stretch>
                <a:fillRect l="-4939" t="-11172" r="-7311" b="0"/>
              </a:stretch>
            </a:blipFill>
          </p:spPr>
        </p:sp>
        <p:sp>
          <p:nvSpPr>
            <p:cNvPr name="Freeform 4" id="4"/>
            <p:cNvSpPr/>
            <p:nvPr/>
          </p:nvSpPr>
          <p:spPr>
            <a:xfrm flipH="true" flipV="false" rot="0">
              <a:off x="511049" y="1785165"/>
              <a:ext cx="13222020" cy="15415673"/>
            </a:xfrm>
            <a:custGeom>
              <a:avLst/>
              <a:gdLst/>
              <a:ahLst/>
              <a:cxnLst/>
              <a:rect r="r" b="b" t="t" l="l"/>
              <a:pathLst>
                <a:path h="15415673" w="13222020">
                  <a:moveTo>
                    <a:pt x="13222020" y="0"/>
                  </a:moveTo>
                  <a:lnTo>
                    <a:pt x="0" y="0"/>
                  </a:lnTo>
                  <a:lnTo>
                    <a:pt x="0" y="15415673"/>
                  </a:lnTo>
                  <a:lnTo>
                    <a:pt x="13222020" y="15415673"/>
                  </a:lnTo>
                  <a:lnTo>
                    <a:pt x="13222020" y="0"/>
                  </a:lnTo>
                  <a:close/>
                </a:path>
              </a:pathLst>
            </a:custGeom>
            <a:blipFill>
              <a:blip r:embed="rId3"/>
              <a:stretch>
                <a:fillRect l="-12500" t="0" r="-12499" b="0"/>
              </a:stretch>
            </a:blipFill>
          </p:spPr>
        </p:sp>
        <p:grpSp>
          <p:nvGrpSpPr>
            <p:cNvPr name="Group 5" id="5"/>
            <p:cNvGrpSpPr/>
            <p:nvPr/>
          </p:nvGrpSpPr>
          <p:grpSpPr>
            <a:xfrm rot="0">
              <a:off x="1882649" y="3156765"/>
              <a:ext cx="21324463" cy="10972800"/>
              <a:chOff x="0" y="0"/>
              <a:chExt cx="4212240" cy="2167467"/>
            </a:xfrm>
          </p:grpSpPr>
          <p:sp>
            <p:nvSpPr>
              <p:cNvPr name="Freeform 6" id="6"/>
              <p:cNvSpPr/>
              <p:nvPr/>
            </p:nvSpPr>
            <p:spPr>
              <a:xfrm flipH="false" flipV="false" rot="0">
                <a:off x="0" y="0"/>
                <a:ext cx="4212239" cy="2167467"/>
              </a:xfrm>
              <a:custGeom>
                <a:avLst/>
                <a:gdLst/>
                <a:ahLst/>
                <a:cxnLst/>
                <a:rect r="r" b="b" t="t" l="l"/>
                <a:pathLst>
                  <a:path h="2167467" w="4212239">
                    <a:moveTo>
                      <a:pt x="36789" y="0"/>
                    </a:moveTo>
                    <a:lnTo>
                      <a:pt x="4175450" y="0"/>
                    </a:lnTo>
                    <a:cubicBezTo>
                      <a:pt x="4185207" y="0"/>
                      <a:pt x="4194565" y="3876"/>
                      <a:pt x="4201464" y="10775"/>
                    </a:cubicBezTo>
                    <a:cubicBezTo>
                      <a:pt x="4208363" y="17675"/>
                      <a:pt x="4212239" y="27032"/>
                      <a:pt x="4212239" y="36789"/>
                    </a:cubicBezTo>
                    <a:lnTo>
                      <a:pt x="4212239" y="2130677"/>
                    </a:lnTo>
                    <a:cubicBezTo>
                      <a:pt x="4212239" y="2150996"/>
                      <a:pt x="4195768" y="2167467"/>
                      <a:pt x="4175450" y="2167467"/>
                    </a:cubicBezTo>
                    <a:lnTo>
                      <a:pt x="36789" y="2167467"/>
                    </a:lnTo>
                    <a:cubicBezTo>
                      <a:pt x="27032" y="2167467"/>
                      <a:pt x="17675" y="2163591"/>
                      <a:pt x="10775" y="2156691"/>
                    </a:cubicBezTo>
                    <a:cubicBezTo>
                      <a:pt x="3876" y="2149792"/>
                      <a:pt x="0" y="2140434"/>
                      <a:pt x="0" y="2130677"/>
                    </a:cubicBezTo>
                    <a:lnTo>
                      <a:pt x="0" y="36789"/>
                    </a:lnTo>
                    <a:cubicBezTo>
                      <a:pt x="0" y="27032"/>
                      <a:pt x="3876" y="17675"/>
                      <a:pt x="10775" y="10775"/>
                    </a:cubicBezTo>
                    <a:cubicBezTo>
                      <a:pt x="17675" y="3876"/>
                      <a:pt x="27032" y="0"/>
                      <a:pt x="36789" y="0"/>
                    </a:cubicBezTo>
                    <a:close/>
                  </a:path>
                </a:pathLst>
              </a:custGeom>
              <a:solidFill>
                <a:srgbClr val="FFFFFF">
                  <a:alpha val="60784"/>
                </a:srgbClr>
              </a:solidFill>
              <a:ln w="38100" cap="rnd">
                <a:solidFill>
                  <a:srgbClr val="2D8BBA">
                    <a:alpha val="60784"/>
                  </a:srgbClr>
                </a:solidFill>
                <a:prstDash val="solid"/>
                <a:round/>
              </a:ln>
            </p:spPr>
          </p:sp>
          <p:sp>
            <p:nvSpPr>
              <p:cNvPr name="TextBox 7" id="7"/>
              <p:cNvSpPr txBox="true"/>
              <p:nvPr/>
            </p:nvSpPr>
            <p:spPr>
              <a:xfrm>
                <a:off x="0" y="-47625"/>
                <a:ext cx="4212240" cy="2215092"/>
              </a:xfrm>
              <a:prstGeom prst="rect">
                <a:avLst/>
              </a:prstGeom>
            </p:spPr>
            <p:txBody>
              <a:bodyPr anchor="ctr" rtlCol="false" tIns="50800" lIns="50800" bIns="50800" rIns="50800"/>
              <a:lstStyle/>
              <a:p>
                <a:pPr algn="ctr">
                  <a:lnSpc>
                    <a:spcPts val="3525"/>
                  </a:lnSpc>
                </a:pPr>
              </a:p>
            </p:txBody>
          </p:sp>
        </p:grpSp>
        <p:sp>
          <p:nvSpPr>
            <p:cNvPr name="Freeform 8" id="8"/>
            <p:cNvSpPr/>
            <p:nvPr/>
          </p:nvSpPr>
          <p:spPr>
            <a:xfrm flipH="false" flipV="true" rot="0">
              <a:off x="13130838" y="0"/>
              <a:ext cx="13295346" cy="15501165"/>
            </a:xfrm>
            <a:custGeom>
              <a:avLst/>
              <a:gdLst/>
              <a:ahLst/>
              <a:cxnLst/>
              <a:rect r="r" b="b" t="t" l="l"/>
              <a:pathLst>
                <a:path h="15501165" w="13295346">
                  <a:moveTo>
                    <a:pt x="0" y="15501165"/>
                  </a:moveTo>
                  <a:lnTo>
                    <a:pt x="13295347" y="15501165"/>
                  </a:lnTo>
                  <a:lnTo>
                    <a:pt x="13295347" y="0"/>
                  </a:lnTo>
                  <a:lnTo>
                    <a:pt x="0" y="0"/>
                  </a:lnTo>
                  <a:lnTo>
                    <a:pt x="0" y="15501165"/>
                  </a:lnTo>
                  <a:close/>
                </a:path>
              </a:pathLst>
            </a:custGeom>
            <a:blipFill>
              <a:blip r:embed="rId3"/>
              <a:stretch>
                <a:fillRect l="-12500" t="0" r="-12499" b="0"/>
              </a:stretch>
            </a:blipFill>
          </p:spPr>
        </p:sp>
      </p:grpSp>
      <p:sp>
        <p:nvSpPr>
          <p:cNvPr name="Freeform 9" id="9"/>
          <p:cNvSpPr/>
          <p:nvPr/>
        </p:nvSpPr>
        <p:spPr>
          <a:xfrm flipH="false" flipV="false" rot="0">
            <a:off x="8204081" y="2253282"/>
            <a:ext cx="8111192" cy="6535084"/>
          </a:xfrm>
          <a:custGeom>
            <a:avLst/>
            <a:gdLst/>
            <a:ahLst/>
            <a:cxnLst/>
            <a:rect r="r" b="b" t="t" l="l"/>
            <a:pathLst>
              <a:path h="6535084" w="8111192">
                <a:moveTo>
                  <a:pt x="0" y="0"/>
                </a:moveTo>
                <a:lnTo>
                  <a:pt x="8111192" y="0"/>
                </a:lnTo>
                <a:lnTo>
                  <a:pt x="8111192" y="6535084"/>
                </a:lnTo>
                <a:lnTo>
                  <a:pt x="0" y="6535084"/>
                </a:lnTo>
                <a:lnTo>
                  <a:pt x="0" y="0"/>
                </a:lnTo>
                <a:close/>
              </a:path>
            </a:pathLst>
          </a:custGeom>
          <a:blipFill>
            <a:blip r:embed="rId4"/>
            <a:stretch>
              <a:fillRect l="0" t="0" r="0" b="0"/>
            </a:stretch>
          </a:blipFill>
        </p:spPr>
      </p:sp>
      <p:sp>
        <p:nvSpPr>
          <p:cNvPr name="TextBox 10" id="10"/>
          <p:cNvSpPr txBox="true"/>
          <p:nvPr/>
        </p:nvSpPr>
        <p:spPr>
          <a:xfrm rot="0">
            <a:off x="7581252" y="9360313"/>
            <a:ext cx="3074441" cy="570402"/>
          </a:xfrm>
          <a:prstGeom prst="rect">
            <a:avLst/>
          </a:prstGeom>
        </p:spPr>
        <p:txBody>
          <a:bodyPr anchor="t" rtlCol="false" tIns="0" lIns="0" bIns="0" rIns="0">
            <a:spAutoFit/>
          </a:bodyPr>
          <a:lstStyle/>
          <a:p>
            <a:pPr algn="ctr">
              <a:lnSpc>
                <a:spcPts val="4785"/>
              </a:lnSpc>
              <a:spcBef>
                <a:spcPct val="0"/>
              </a:spcBef>
            </a:pPr>
            <a:r>
              <a:rPr lang="en-US" b="true" sz="3418">
                <a:solidFill>
                  <a:srgbClr val="104579"/>
                </a:solidFill>
                <a:latin typeface="Amaranth Bold"/>
                <a:ea typeface="Amaranth Bold"/>
                <a:cs typeface="Amaranth Bold"/>
                <a:sym typeface="Amaranth Bold"/>
              </a:rPr>
              <a:t>13</a:t>
            </a:r>
          </a:p>
        </p:txBody>
      </p:sp>
      <p:sp>
        <p:nvSpPr>
          <p:cNvPr name="TextBox 11" id="11"/>
          <p:cNvSpPr txBox="true"/>
          <p:nvPr/>
        </p:nvSpPr>
        <p:spPr>
          <a:xfrm rot="0">
            <a:off x="1277584" y="3070705"/>
            <a:ext cx="6926497" cy="4678989"/>
          </a:xfrm>
          <a:prstGeom prst="rect">
            <a:avLst/>
          </a:prstGeom>
        </p:spPr>
        <p:txBody>
          <a:bodyPr anchor="t" rtlCol="false" tIns="0" lIns="0" bIns="0" rIns="0">
            <a:spAutoFit/>
          </a:bodyPr>
          <a:lstStyle/>
          <a:p>
            <a:pPr algn="l">
              <a:lnSpc>
                <a:spcPts val="3684"/>
              </a:lnSpc>
              <a:spcBef>
                <a:spcPct val="0"/>
              </a:spcBef>
            </a:pPr>
            <a:r>
              <a:rPr lang="en-US" sz="2632">
                <a:solidFill>
                  <a:srgbClr val="104579"/>
                </a:solidFill>
                <a:latin typeface="Arimo"/>
                <a:ea typeface="Arimo"/>
                <a:cs typeface="Arimo"/>
                <a:sym typeface="Arimo"/>
              </a:rPr>
              <a:t>Tập</a:t>
            </a:r>
            <a:r>
              <a:rPr lang="en-US" sz="2632">
                <a:solidFill>
                  <a:srgbClr val="104579"/>
                </a:solidFill>
                <a:latin typeface="Arimo"/>
                <a:ea typeface="Arimo"/>
                <a:cs typeface="Arimo"/>
                <a:sym typeface="Arimo"/>
              </a:rPr>
              <a:t> dữ liệu bao gồm các nhóm đặc trưng đầu vào có ảnh hưởng trực tiếp đến sự hình thành và phát tán bụi mịn:</a:t>
            </a:r>
          </a:p>
          <a:p>
            <a:pPr algn="l" marL="568276" indent="-284138" lvl="1">
              <a:lnSpc>
                <a:spcPts val="3684"/>
              </a:lnSpc>
              <a:buFont typeface="Arial"/>
              <a:buChar char="•"/>
            </a:pPr>
            <a:r>
              <a:rPr lang="en-US" sz="2632">
                <a:solidFill>
                  <a:srgbClr val="104579"/>
                </a:solidFill>
                <a:latin typeface="Arimo"/>
                <a:ea typeface="Arimo"/>
                <a:cs typeface="Arimo"/>
                <a:sym typeface="Arimo"/>
              </a:rPr>
              <a:t>Nhóm biến khí tượng: Nhiệt độ (temp_s), tốc độ gió (ws_s), lượng mưa (Rainfall_s), bức xạ UVB (uvb_s).</a:t>
            </a:r>
          </a:p>
          <a:p>
            <a:pPr algn="l" marL="568276" indent="-284138" lvl="1">
              <a:lnSpc>
                <a:spcPts val="3684"/>
              </a:lnSpc>
              <a:buFont typeface="Arial"/>
              <a:buChar char="•"/>
            </a:pPr>
            <a:r>
              <a:rPr lang="en-US" sz="2632">
                <a:solidFill>
                  <a:srgbClr val="104579"/>
                </a:solidFill>
                <a:latin typeface="Arimo"/>
                <a:ea typeface="Arimo"/>
                <a:cs typeface="Arimo"/>
                <a:sym typeface="Arimo"/>
              </a:rPr>
              <a:t>Nhóm biến sinh cảnh: Chỉ số che phủ của lớp lá thấp (lowleaf_s).</a:t>
            </a:r>
          </a:p>
          <a:p>
            <a:pPr algn="l" marL="568276" indent="-284138" lvl="1">
              <a:lnSpc>
                <a:spcPts val="3684"/>
              </a:lnSpc>
              <a:spcBef>
                <a:spcPct val="0"/>
              </a:spcBef>
              <a:buFont typeface="Arial"/>
              <a:buChar char="•"/>
            </a:pPr>
            <a:r>
              <a:rPr lang="en-US" sz="2632">
                <a:solidFill>
                  <a:srgbClr val="104579"/>
                </a:solidFill>
                <a:latin typeface="Arimo"/>
                <a:ea typeface="Arimo"/>
                <a:cs typeface="Arimo"/>
                <a:sym typeface="Arimo"/>
              </a:rPr>
              <a:t>Biến mục tiêu: Nồng độ PM2.5 (μg/m³)).</a:t>
            </a:r>
          </a:p>
          <a:p>
            <a:pPr algn="ctr">
              <a:lnSpc>
                <a:spcPts val="3684"/>
              </a:lnSpc>
              <a:spcBef>
                <a:spcPct val="0"/>
              </a:spcBef>
            </a:pPr>
          </a:p>
        </p:txBody>
      </p:sp>
      <p:sp>
        <p:nvSpPr>
          <p:cNvPr name="TextBox 12" id="12"/>
          <p:cNvSpPr txBox="true"/>
          <p:nvPr/>
        </p:nvSpPr>
        <p:spPr>
          <a:xfrm rot="0">
            <a:off x="3839261" y="1389682"/>
            <a:ext cx="10671935" cy="863600"/>
          </a:xfrm>
          <a:prstGeom prst="rect">
            <a:avLst/>
          </a:prstGeom>
        </p:spPr>
        <p:txBody>
          <a:bodyPr anchor="t" rtlCol="false" tIns="0" lIns="0" bIns="0" rIns="0">
            <a:spAutoFit/>
          </a:bodyPr>
          <a:lstStyle/>
          <a:p>
            <a:pPr algn="ctr">
              <a:lnSpc>
                <a:spcPts val="7000"/>
              </a:lnSpc>
              <a:spcBef>
                <a:spcPct val="0"/>
              </a:spcBef>
            </a:pPr>
            <a:r>
              <a:rPr lang="en-US" b="true" sz="5000">
                <a:solidFill>
                  <a:srgbClr val="104579"/>
                </a:solidFill>
                <a:latin typeface="Garet Bold"/>
                <a:ea typeface="Garet Bold"/>
                <a:cs typeface="Garet Bold"/>
                <a:sym typeface="Garet Bold"/>
              </a:rPr>
              <a:t>PHÂN TÍCH TƯƠNG QUAN</a:t>
            </a:r>
          </a:p>
        </p:txBody>
      </p:sp>
    </p:spTree>
  </p:cSld>
  <p:clrMapOvr>
    <a:masterClrMapping/>
  </p:clrMapOvr>
  <p:transition spd="fast">
    <p:fade/>
  </p:transition>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465874"/>
            <a:ext cx="19819639" cy="12900629"/>
            <a:chOff x="0" y="0"/>
            <a:chExt cx="26426185" cy="17200838"/>
          </a:xfrm>
        </p:grpSpPr>
        <p:sp>
          <p:nvSpPr>
            <p:cNvPr name="Freeform 3" id="3"/>
            <p:cNvSpPr/>
            <p:nvPr/>
          </p:nvSpPr>
          <p:spPr>
            <a:xfrm flipH="false" flipV="false" rot="0">
              <a:off x="0" y="1785165"/>
              <a:ext cx="24895049" cy="14191553"/>
            </a:xfrm>
            <a:custGeom>
              <a:avLst/>
              <a:gdLst/>
              <a:ahLst/>
              <a:cxnLst/>
              <a:rect r="r" b="b" t="t" l="l"/>
              <a:pathLst>
                <a:path h="14191553" w="24895049">
                  <a:moveTo>
                    <a:pt x="0" y="0"/>
                  </a:moveTo>
                  <a:lnTo>
                    <a:pt x="24895049" y="0"/>
                  </a:lnTo>
                  <a:lnTo>
                    <a:pt x="24895049" y="14191554"/>
                  </a:lnTo>
                  <a:lnTo>
                    <a:pt x="0" y="14191554"/>
                  </a:lnTo>
                  <a:lnTo>
                    <a:pt x="0" y="0"/>
                  </a:lnTo>
                  <a:close/>
                </a:path>
              </a:pathLst>
            </a:custGeom>
            <a:blipFill>
              <a:blip r:embed="rId2"/>
              <a:stretch>
                <a:fillRect l="-4939" t="-11172" r="-7311" b="0"/>
              </a:stretch>
            </a:blipFill>
          </p:spPr>
        </p:sp>
        <p:sp>
          <p:nvSpPr>
            <p:cNvPr name="Freeform 4" id="4"/>
            <p:cNvSpPr/>
            <p:nvPr/>
          </p:nvSpPr>
          <p:spPr>
            <a:xfrm flipH="true" flipV="false" rot="0">
              <a:off x="511049" y="1785165"/>
              <a:ext cx="13222020" cy="15415673"/>
            </a:xfrm>
            <a:custGeom>
              <a:avLst/>
              <a:gdLst/>
              <a:ahLst/>
              <a:cxnLst/>
              <a:rect r="r" b="b" t="t" l="l"/>
              <a:pathLst>
                <a:path h="15415673" w="13222020">
                  <a:moveTo>
                    <a:pt x="13222020" y="0"/>
                  </a:moveTo>
                  <a:lnTo>
                    <a:pt x="0" y="0"/>
                  </a:lnTo>
                  <a:lnTo>
                    <a:pt x="0" y="15415673"/>
                  </a:lnTo>
                  <a:lnTo>
                    <a:pt x="13222020" y="15415673"/>
                  </a:lnTo>
                  <a:lnTo>
                    <a:pt x="13222020" y="0"/>
                  </a:lnTo>
                  <a:close/>
                </a:path>
              </a:pathLst>
            </a:custGeom>
            <a:blipFill>
              <a:blip r:embed="rId3"/>
              <a:stretch>
                <a:fillRect l="-12500" t="0" r="-12499" b="0"/>
              </a:stretch>
            </a:blipFill>
          </p:spPr>
        </p:sp>
        <p:grpSp>
          <p:nvGrpSpPr>
            <p:cNvPr name="Group 5" id="5"/>
            <p:cNvGrpSpPr/>
            <p:nvPr/>
          </p:nvGrpSpPr>
          <p:grpSpPr>
            <a:xfrm rot="0">
              <a:off x="1882649" y="3156765"/>
              <a:ext cx="21324463" cy="10972800"/>
              <a:chOff x="0" y="0"/>
              <a:chExt cx="4212240" cy="2167467"/>
            </a:xfrm>
          </p:grpSpPr>
          <p:sp>
            <p:nvSpPr>
              <p:cNvPr name="Freeform 6" id="6"/>
              <p:cNvSpPr/>
              <p:nvPr/>
            </p:nvSpPr>
            <p:spPr>
              <a:xfrm flipH="false" flipV="false" rot="0">
                <a:off x="0" y="0"/>
                <a:ext cx="4212239" cy="2167467"/>
              </a:xfrm>
              <a:custGeom>
                <a:avLst/>
                <a:gdLst/>
                <a:ahLst/>
                <a:cxnLst/>
                <a:rect r="r" b="b" t="t" l="l"/>
                <a:pathLst>
                  <a:path h="2167467" w="4212239">
                    <a:moveTo>
                      <a:pt x="36789" y="0"/>
                    </a:moveTo>
                    <a:lnTo>
                      <a:pt x="4175450" y="0"/>
                    </a:lnTo>
                    <a:cubicBezTo>
                      <a:pt x="4185207" y="0"/>
                      <a:pt x="4194565" y="3876"/>
                      <a:pt x="4201464" y="10775"/>
                    </a:cubicBezTo>
                    <a:cubicBezTo>
                      <a:pt x="4208363" y="17675"/>
                      <a:pt x="4212239" y="27032"/>
                      <a:pt x="4212239" y="36789"/>
                    </a:cubicBezTo>
                    <a:lnTo>
                      <a:pt x="4212239" y="2130677"/>
                    </a:lnTo>
                    <a:cubicBezTo>
                      <a:pt x="4212239" y="2150996"/>
                      <a:pt x="4195768" y="2167467"/>
                      <a:pt x="4175450" y="2167467"/>
                    </a:cubicBezTo>
                    <a:lnTo>
                      <a:pt x="36789" y="2167467"/>
                    </a:lnTo>
                    <a:cubicBezTo>
                      <a:pt x="27032" y="2167467"/>
                      <a:pt x="17675" y="2163591"/>
                      <a:pt x="10775" y="2156691"/>
                    </a:cubicBezTo>
                    <a:cubicBezTo>
                      <a:pt x="3876" y="2149792"/>
                      <a:pt x="0" y="2140434"/>
                      <a:pt x="0" y="2130677"/>
                    </a:cubicBezTo>
                    <a:lnTo>
                      <a:pt x="0" y="36789"/>
                    </a:lnTo>
                    <a:cubicBezTo>
                      <a:pt x="0" y="27032"/>
                      <a:pt x="3876" y="17675"/>
                      <a:pt x="10775" y="10775"/>
                    </a:cubicBezTo>
                    <a:cubicBezTo>
                      <a:pt x="17675" y="3876"/>
                      <a:pt x="27032" y="0"/>
                      <a:pt x="36789" y="0"/>
                    </a:cubicBezTo>
                    <a:close/>
                  </a:path>
                </a:pathLst>
              </a:custGeom>
              <a:solidFill>
                <a:srgbClr val="FFFFFF">
                  <a:alpha val="60784"/>
                </a:srgbClr>
              </a:solidFill>
              <a:ln w="38100" cap="rnd">
                <a:solidFill>
                  <a:srgbClr val="2D8BBA">
                    <a:alpha val="60784"/>
                  </a:srgbClr>
                </a:solidFill>
                <a:prstDash val="solid"/>
                <a:round/>
              </a:ln>
            </p:spPr>
          </p:sp>
          <p:sp>
            <p:nvSpPr>
              <p:cNvPr name="TextBox 7" id="7"/>
              <p:cNvSpPr txBox="true"/>
              <p:nvPr/>
            </p:nvSpPr>
            <p:spPr>
              <a:xfrm>
                <a:off x="0" y="-47625"/>
                <a:ext cx="4212240" cy="2215092"/>
              </a:xfrm>
              <a:prstGeom prst="rect">
                <a:avLst/>
              </a:prstGeom>
            </p:spPr>
            <p:txBody>
              <a:bodyPr anchor="ctr" rtlCol="false" tIns="50800" lIns="50800" bIns="50800" rIns="50800"/>
              <a:lstStyle/>
              <a:p>
                <a:pPr algn="ctr">
                  <a:lnSpc>
                    <a:spcPts val="3525"/>
                  </a:lnSpc>
                </a:pPr>
              </a:p>
            </p:txBody>
          </p:sp>
        </p:grpSp>
        <p:sp>
          <p:nvSpPr>
            <p:cNvPr name="Freeform 8" id="8"/>
            <p:cNvSpPr/>
            <p:nvPr/>
          </p:nvSpPr>
          <p:spPr>
            <a:xfrm flipH="false" flipV="true" rot="0">
              <a:off x="13130838" y="0"/>
              <a:ext cx="13295346" cy="15501165"/>
            </a:xfrm>
            <a:custGeom>
              <a:avLst/>
              <a:gdLst/>
              <a:ahLst/>
              <a:cxnLst/>
              <a:rect r="r" b="b" t="t" l="l"/>
              <a:pathLst>
                <a:path h="15501165" w="13295346">
                  <a:moveTo>
                    <a:pt x="0" y="15501165"/>
                  </a:moveTo>
                  <a:lnTo>
                    <a:pt x="13295347" y="15501165"/>
                  </a:lnTo>
                  <a:lnTo>
                    <a:pt x="13295347" y="0"/>
                  </a:lnTo>
                  <a:lnTo>
                    <a:pt x="0" y="0"/>
                  </a:lnTo>
                  <a:lnTo>
                    <a:pt x="0" y="15501165"/>
                  </a:lnTo>
                  <a:close/>
                </a:path>
              </a:pathLst>
            </a:custGeom>
            <a:blipFill>
              <a:blip r:embed="rId3"/>
              <a:stretch>
                <a:fillRect l="-12500" t="0" r="-12499" b="0"/>
              </a:stretch>
            </a:blipFill>
          </p:spPr>
        </p:sp>
      </p:grpSp>
      <p:sp>
        <p:nvSpPr>
          <p:cNvPr name="Freeform 9" id="9"/>
          <p:cNvSpPr/>
          <p:nvPr/>
        </p:nvSpPr>
        <p:spPr>
          <a:xfrm flipH="false" flipV="false" rot="0">
            <a:off x="3728659" y="2198973"/>
            <a:ext cx="10893140" cy="2944527"/>
          </a:xfrm>
          <a:custGeom>
            <a:avLst/>
            <a:gdLst/>
            <a:ahLst/>
            <a:cxnLst/>
            <a:rect r="r" b="b" t="t" l="l"/>
            <a:pathLst>
              <a:path h="2944527" w="10893140">
                <a:moveTo>
                  <a:pt x="0" y="0"/>
                </a:moveTo>
                <a:lnTo>
                  <a:pt x="10893140" y="0"/>
                </a:lnTo>
                <a:lnTo>
                  <a:pt x="10893140" y="2944527"/>
                </a:lnTo>
                <a:lnTo>
                  <a:pt x="0" y="2944527"/>
                </a:lnTo>
                <a:lnTo>
                  <a:pt x="0" y="0"/>
                </a:lnTo>
                <a:close/>
              </a:path>
            </a:pathLst>
          </a:custGeom>
          <a:blipFill>
            <a:blip r:embed="rId4"/>
            <a:stretch>
              <a:fillRect l="0" t="0" r="0" b="0"/>
            </a:stretch>
          </a:blipFill>
        </p:spPr>
      </p:sp>
      <p:sp>
        <p:nvSpPr>
          <p:cNvPr name="TextBox 10" id="10"/>
          <p:cNvSpPr txBox="true"/>
          <p:nvPr/>
        </p:nvSpPr>
        <p:spPr>
          <a:xfrm rot="0">
            <a:off x="7581252" y="9360313"/>
            <a:ext cx="3074441" cy="570402"/>
          </a:xfrm>
          <a:prstGeom prst="rect">
            <a:avLst/>
          </a:prstGeom>
        </p:spPr>
        <p:txBody>
          <a:bodyPr anchor="t" rtlCol="false" tIns="0" lIns="0" bIns="0" rIns="0">
            <a:spAutoFit/>
          </a:bodyPr>
          <a:lstStyle/>
          <a:p>
            <a:pPr algn="ctr">
              <a:lnSpc>
                <a:spcPts val="4785"/>
              </a:lnSpc>
              <a:spcBef>
                <a:spcPct val="0"/>
              </a:spcBef>
            </a:pPr>
            <a:r>
              <a:rPr lang="en-US" b="true" sz="3418">
                <a:solidFill>
                  <a:srgbClr val="104579"/>
                </a:solidFill>
                <a:latin typeface="Amaranth Bold"/>
                <a:ea typeface="Amaranth Bold"/>
                <a:cs typeface="Amaranth Bold"/>
                <a:sym typeface="Amaranth Bold"/>
              </a:rPr>
              <a:t>14</a:t>
            </a:r>
          </a:p>
        </p:txBody>
      </p:sp>
      <p:sp>
        <p:nvSpPr>
          <p:cNvPr name="TextBox 11" id="11"/>
          <p:cNvSpPr txBox="true"/>
          <p:nvPr/>
        </p:nvSpPr>
        <p:spPr>
          <a:xfrm rot="0">
            <a:off x="2699477" y="5394236"/>
            <a:ext cx="12951502" cy="2563434"/>
          </a:xfrm>
          <a:prstGeom prst="rect">
            <a:avLst/>
          </a:prstGeom>
        </p:spPr>
        <p:txBody>
          <a:bodyPr anchor="t" rtlCol="false" tIns="0" lIns="0" bIns="0" rIns="0">
            <a:spAutoFit/>
          </a:bodyPr>
          <a:lstStyle/>
          <a:p>
            <a:pPr algn="l" marL="586871" indent="-293436" lvl="1">
              <a:lnSpc>
                <a:spcPts val="4077"/>
              </a:lnSpc>
              <a:buFont typeface="Arial"/>
              <a:buChar char="•"/>
            </a:pPr>
            <a:r>
              <a:rPr lang="en-US" sz="2718">
                <a:solidFill>
                  <a:srgbClr val="104579"/>
                </a:solidFill>
                <a:latin typeface="Arimo"/>
                <a:ea typeface="Arimo"/>
                <a:cs typeface="Arimo"/>
                <a:sym typeface="Arimo"/>
              </a:rPr>
              <a:t>Mô hình CNN đạt hiệu quả tốt nhất với RMSE thấp nhất và R2 cao nhất</a:t>
            </a:r>
          </a:p>
          <a:p>
            <a:pPr algn="l" marL="586871" indent="-293436" lvl="1">
              <a:lnSpc>
                <a:spcPts val="4077"/>
              </a:lnSpc>
              <a:buFont typeface="Arial"/>
              <a:buChar char="•"/>
            </a:pPr>
            <a:r>
              <a:rPr lang="en-US" sz="2718">
                <a:solidFill>
                  <a:srgbClr val="104579"/>
                </a:solidFill>
                <a:latin typeface="Arimo"/>
                <a:ea typeface="Arimo"/>
                <a:cs typeface="Arimo"/>
                <a:sym typeface="Arimo"/>
              </a:rPr>
              <a:t>Mô hình  Linear Regression cho kết quả gần tương đương</a:t>
            </a:r>
          </a:p>
          <a:p>
            <a:pPr algn="l" marL="586871" indent="-293436" lvl="1">
              <a:lnSpc>
                <a:spcPts val="4077"/>
              </a:lnSpc>
              <a:buFont typeface="Arial"/>
              <a:buChar char="•"/>
            </a:pPr>
            <a:r>
              <a:rPr lang="en-US" sz="2718">
                <a:solidFill>
                  <a:srgbClr val="104579"/>
                </a:solidFill>
                <a:latin typeface="Arimo"/>
                <a:ea typeface="Arimo"/>
                <a:cs typeface="Arimo"/>
                <a:sym typeface="Arimo"/>
              </a:rPr>
              <a:t>Các mô hình phức tạp hơn như LSTM_CNN chưa thể hiện được lợi thế </a:t>
            </a:r>
          </a:p>
          <a:p>
            <a:pPr algn="l" marL="586871" indent="-293436" lvl="1">
              <a:lnSpc>
                <a:spcPts val="4077"/>
              </a:lnSpc>
              <a:buFont typeface="Arial"/>
              <a:buChar char="•"/>
            </a:pPr>
            <a:r>
              <a:rPr lang="en-US" sz="2718">
                <a:solidFill>
                  <a:srgbClr val="104579"/>
                </a:solidFill>
                <a:latin typeface="Arimo"/>
                <a:ea typeface="Arimo"/>
                <a:cs typeface="Arimo"/>
                <a:sym typeface="Arimo"/>
              </a:rPr>
              <a:t>do chưa cần đến khả năng ghi nhớ dài hạn trong bối cảnh dự báo ngắn hạn. </a:t>
            </a:r>
          </a:p>
          <a:p>
            <a:pPr algn="l" marL="586871" indent="-293436" lvl="1">
              <a:lnSpc>
                <a:spcPts val="4077"/>
              </a:lnSpc>
              <a:buFont typeface="Arial"/>
              <a:buChar char="•"/>
            </a:pPr>
            <a:r>
              <a:rPr lang="en-US" sz="2718">
                <a:solidFill>
                  <a:srgbClr val="104579"/>
                </a:solidFill>
                <a:latin typeface="Arimo"/>
                <a:ea typeface="Arimo"/>
                <a:cs typeface="Arimo"/>
                <a:sym typeface="Arimo"/>
              </a:rPr>
              <a:t>Đặc biệt, SVR với kernel đa thức cho kết quả thấp nhất.</a:t>
            </a:r>
          </a:p>
        </p:txBody>
      </p:sp>
      <p:sp>
        <p:nvSpPr>
          <p:cNvPr name="TextBox 12" id="12"/>
          <p:cNvSpPr txBox="true"/>
          <p:nvPr/>
        </p:nvSpPr>
        <p:spPr>
          <a:xfrm rot="0">
            <a:off x="3839261" y="1176847"/>
            <a:ext cx="10671935" cy="863600"/>
          </a:xfrm>
          <a:prstGeom prst="rect">
            <a:avLst/>
          </a:prstGeom>
        </p:spPr>
        <p:txBody>
          <a:bodyPr anchor="t" rtlCol="false" tIns="0" lIns="0" bIns="0" rIns="0">
            <a:spAutoFit/>
          </a:bodyPr>
          <a:lstStyle/>
          <a:p>
            <a:pPr algn="ctr">
              <a:lnSpc>
                <a:spcPts val="7000"/>
              </a:lnSpc>
              <a:spcBef>
                <a:spcPct val="0"/>
              </a:spcBef>
            </a:pPr>
            <a:r>
              <a:rPr lang="en-US" b="true" sz="5000">
                <a:solidFill>
                  <a:srgbClr val="104579"/>
                </a:solidFill>
                <a:latin typeface="Garet Bold"/>
                <a:ea typeface="Garet Bold"/>
                <a:cs typeface="Garet Bold"/>
                <a:sym typeface="Garet Bold"/>
              </a:rPr>
              <a:t>KẾT QUẢ DỰ BÁO TẠI MỐC 6 GIỜ</a:t>
            </a:r>
          </a:p>
        </p:txBody>
      </p:sp>
    </p:spTree>
  </p:cSld>
  <p:clrMapOvr>
    <a:masterClrMapping/>
  </p:clrMapOvr>
  <p:transition spd="fast">
    <p:fade/>
  </p:transition>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465874"/>
            <a:ext cx="19819639" cy="12900629"/>
            <a:chOff x="0" y="0"/>
            <a:chExt cx="26426185" cy="17200838"/>
          </a:xfrm>
        </p:grpSpPr>
        <p:sp>
          <p:nvSpPr>
            <p:cNvPr name="Freeform 3" id="3"/>
            <p:cNvSpPr/>
            <p:nvPr/>
          </p:nvSpPr>
          <p:spPr>
            <a:xfrm flipH="false" flipV="false" rot="0">
              <a:off x="0" y="1785165"/>
              <a:ext cx="24895049" cy="14191553"/>
            </a:xfrm>
            <a:custGeom>
              <a:avLst/>
              <a:gdLst/>
              <a:ahLst/>
              <a:cxnLst/>
              <a:rect r="r" b="b" t="t" l="l"/>
              <a:pathLst>
                <a:path h="14191553" w="24895049">
                  <a:moveTo>
                    <a:pt x="0" y="0"/>
                  </a:moveTo>
                  <a:lnTo>
                    <a:pt x="24895049" y="0"/>
                  </a:lnTo>
                  <a:lnTo>
                    <a:pt x="24895049" y="14191554"/>
                  </a:lnTo>
                  <a:lnTo>
                    <a:pt x="0" y="14191554"/>
                  </a:lnTo>
                  <a:lnTo>
                    <a:pt x="0" y="0"/>
                  </a:lnTo>
                  <a:close/>
                </a:path>
              </a:pathLst>
            </a:custGeom>
            <a:blipFill>
              <a:blip r:embed="rId2"/>
              <a:stretch>
                <a:fillRect l="-4939" t="-11172" r="-7311" b="0"/>
              </a:stretch>
            </a:blipFill>
          </p:spPr>
        </p:sp>
        <p:sp>
          <p:nvSpPr>
            <p:cNvPr name="Freeform 4" id="4"/>
            <p:cNvSpPr/>
            <p:nvPr/>
          </p:nvSpPr>
          <p:spPr>
            <a:xfrm flipH="true" flipV="false" rot="0">
              <a:off x="511049" y="1785165"/>
              <a:ext cx="13222020" cy="15415673"/>
            </a:xfrm>
            <a:custGeom>
              <a:avLst/>
              <a:gdLst/>
              <a:ahLst/>
              <a:cxnLst/>
              <a:rect r="r" b="b" t="t" l="l"/>
              <a:pathLst>
                <a:path h="15415673" w="13222020">
                  <a:moveTo>
                    <a:pt x="13222020" y="0"/>
                  </a:moveTo>
                  <a:lnTo>
                    <a:pt x="0" y="0"/>
                  </a:lnTo>
                  <a:lnTo>
                    <a:pt x="0" y="15415673"/>
                  </a:lnTo>
                  <a:lnTo>
                    <a:pt x="13222020" y="15415673"/>
                  </a:lnTo>
                  <a:lnTo>
                    <a:pt x="13222020" y="0"/>
                  </a:lnTo>
                  <a:close/>
                </a:path>
              </a:pathLst>
            </a:custGeom>
            <a:blipFill>
              <a:blip r:embed="rId3"/>
              <a:stretch>
                <a:fillRect l="-12500" t="0" r="-12499" b="0"/>
              </a:stretch>
            </a:blipFill>
          </p:spPr>
        </p:sp>
        <p:grpSp>
          <p:nvGrpSpPr>
            <p:cNvPr name="Group 5" id="5"/>
            <p:cNvGrpSpPr/>
            <p:nvPr/>
          </p:nvGrpSpPr>
          <p:grpSpPr>
            <a:xfrm rot="0">
              <a:off x="1882649" y="3156765"/>
              <a:ext cx="21324463" cy="10972800"/>
              <a:chOff x="0" y="0"/>
              <a:chExt cx="4212240" cy="2167467"/>
            </a:xfrm>
          </p:grpSpPr>
          <p:sp>
            <p:nvSpPr>
              <p:cNvPr name="Freeform 6" id="6"/>
              <p:cNvSpPr/>
              <p:nvPr/>
            </p:nvSpPr>
            <p:spPr>
              <a:xfrm flipH="false" flipV="false" rot="0">
                <a:off x="0" y="0"/>
                <a:ext cx="4212239" cy="2167467"/>
              </a:xfrm>
              <a:custGeom>
                <a:avLst/>
                <a:gdLst/>
                <a:ahLst/>
                <a:cxnLst/>
                <a:rect r="r" b="b" t="t" l="l"/>
                <a:pathLst>
                  <a:path h="2167467" w="4212239">
                    <a:moveTo>
                      <a:pt x="36789" y="0"/>
                    </a:moveTo>
                    <a:lnTo>
                      <a:pt x="4175450" y="0"/>
                    </a:lnTo>
                    <a:cubicBezTo>
                      <a:pt x="4185207" y="0"/>
                      <a:pt x="4194565" y="3876"/>
                      <a:pt x="4201464" y="10775"/>
                    </a:cubicBezTo>
                    <a:cubicBezTo>
                      <a:pt x="4208363" y="17675"/>
                      <a:pt x="4212239" y="27032"/>
                      <a:pt x="4212239" y="36789"/>
                    </a:cubicBezTo>
                    <a:lnTo>
                      <a:pt x="4212239" y="2130677"/>
                    </a:lnTo>
                    <a:cubicBezTo>
                      <a:pt x="4212239" y="2150996"/>
                      <a:pt x="4195768" y="2167467"/>
                      <a:pt x="4175450" y="2167467"/>
                    </a:cubicBezTo>
                    <a:lnTo>
                      <a:pt x="36789" y="2167467"/>
                    </a:lnTo>
                    <a:cubicBezTo>
                      <a:pt x="27032" y="2167467"/>
                      <a:pt x="17675" y="2163591"/>
                      <a:pt x="10775" y="2156691"/>
                    </a:cubicBezTo>
                    <a:cubicBezTo>
                      <a:pt x="3876" y="2149792"/>
                      <a:pt x="0" y="2140434"/>
                      <a:pt x="0" y="2130677"/>
                    </a:cubicBezTo>
                    <a:lnTo>
                      <a:pt x="0" y="36789"/>
                    </a:lnTo>
                    <a:cubicBezTo>
                      <a:pt x="0" y="27032"/>
                      <a:pt x="3876" y="17675"/>
                      <a:pt x="10775" y="10775"/>
                    </a:cubicBezTo>
                    <a:cubicBezTo>
                      <a:pt x="17675" y="3876"/>
                      <a:pt x="27032" y="0"/>
                      <a:pt x="36789" y="0"/>
                    </a:cubicBezTo>
                    <a:close/>
                  </a:path>
                </a:pathLst>
              </a:custGeom>
              <a:solidFill>
                <a:srgbClr val="FFFFFF">
                  <a:alpha val="60784"/>
                </a:srgbClr>
              </a:solidFill>
              <a:ln w="38100" cap="rnd">
                <a:solidFill>
                  <a:srgbClr val="2D8BBA">
                    <a:alpha val="60784"/>
                  </a:srgbClr>
                </a:solidFill>
                <a:prstDash val="solid"/>
                <a:round/>
              </a:ln>
            </p:spPr>
          </p:sp>
          <p:sp>
            <p:nvSpPr>
              <p:cNvPr name="TextBox 7" id="7"/>
              <p:cNvSpPr txBox="true"/>
              <p:nvPr/>
            </p:nvSpPr>
            <p:spPr>
              <a:xfrm>
                <a:off x="0" y="-47625"/>
                <a:ext cx="4212240" cy="2215092"/>
              </a:xfrm>
              <a:prstGeom prst="rect">
                <a:avLst/>
              </a:prstGeom>
            </p:spPr>
            <p:txBody>
              <a:bodyPr anchor="ctr" rtlCol="false" tIns="50800" lIns="50800" bIns="50800" rIns="50800"/>
              <a:lstStyle/>
              <a:p>
                <a:pPr algn="ctr">
                  <a:lnSpc>
                    <a:spcPts val="3525"/>
                  </a:lnSpc>
                </a:pPr>
              </a:p>
            </p:txBody>
          </p:sp>
        </p:grpSp>
        <p:sp>
          <p:nvSpPr>
            <p:cNvPr name="Freeform 8" id="8"/>
            <p:cNvSpPr/>
            <p:nvPr/>
          </p:nvSpPr>
          <p:spPr>
            <a:xfrm flipH="false" flipV="true" rot="0">
              <a:off x="13130838" y="0"/>
              <a:ext cx="13295346" cy="15501165"/>
            </a:xfrm>
            <a:custGeom>
              <a:avLst/>
              <a:gdLst/>
              <a:ahLst/>
              <a:cxnLst/>
              <a:rect r="r" b="b" t="t" l="l"/>
              <a:pathLst>
                <a:path h="15501165" w="13295346">
                  <a:moveTo>
                    <a:pt x="0" y="15501165"/>
                  </a:moveTo>
                  <a:lnTo>
                    <a:pt x="13295347" y="15501165"/>
                  </a:lnTo>
                  <a:lnTo>
                    <a:pt x="13295347" y="0"/>
                  </a:lnTo>
                  <a:lnTo>
                    <a:pt x="0" y="0"/>
                  </a:lnTo>
                  <a:lnTo>
                    <a:pt x="0" y="15501165"/>
                  </a:lnTo>
                  <a:close/>
                </a:path>
              </a:pathLst>
            </a:custGeom>
            <a:blipFill>
              <a:blip r:embed="rId3"/>
              <a:stretch>
                <a:fillRect l="-12500" t="0" r="-12499" b="0"/>
              </a:stretch>
            </a:blipFill>
          </p:spPr>
        </p:sp>
      </p:grpSp>
      <p:sp>
        <p:nvSpPr>
          <p:cNvPr name="Freeform 9" id="9"/>
          <p:cNvSpPr/>
          <p:nvPr/>
        </p:nvSpPr>
        <p:spPr>
          <a:xfrm flipH="false" flipV="false" rot="0">
            <a:off x="3739250" y="1983691"/>
            <a:ext cx="10886137" cy="2951353"/>
          </a:xfrm>
          <a:custGeom>
            <a:avLst/>
            <a:gdLst/>
            <a:ahLst/>
            <a:cxnLst/>
            <a:rect r="r" b="b" t="t" l="l"/>
            <a:pathLst>
              <a:path h="2951353" w="10886137">
                <a:moveTo>
                  <a:pt x="0" y="0"/>
                </a:moveTo>
                <a:lnTo>
                  <a:pt x="10886137" y="0"/>
                </a:lnTo>
                <a:lnTo>
                  <a:pt x="10886137" y="2951352"/>
                </a:lnTo>
                <a:lnTo>
                  <a:pt x="0" y="2951352"/>
                </a:lnTo>
                <a:lnTo>
                  <a:pt x="0" y="0"/>
                </a:lnTo>
                <a:close/>
              </a:path>
            </a:pathLst>
          </a:custGeom>
          <a:blipFill>
            <a:blip r:embed="rId4"/>
            <a:stretch>
              <a:fillRect l="0" t="0" r="0" b="0"/>
            </a:stretch>
          </a:blipFill>
        </p:spPr>
      </p:sp>
      <p:sp>
        <p:nvSpPr>
          <p:cNvPr name="TextBox 10" id="10"/>
          <p:cNvSpPr txBox="true"/>
          <p:nvPr/>
        </p:nvSpPr>
        <p:spPr>
          <a:xfrm rot="0">
            <a:off x="7581252" y="9360313"/>
            <a:ext cx="3074441" cy="570402"/>
          </a:xfrm>
          <a:prstGeom prst="rect">
            <a:avLst/>
          </a:prstGeom>
        </p:spPr>
        <p:txBody>
          <a:bodyPr anchor="t" rtlCol="false" tIns="0" lIns="0" bIns="0" rIns="0">
            <a:spAutoFit/>
          </a:bodyPr>
          <a:lstStyle/>
          <a:p>
            <a:pPr algn="ctr">
              <a:lnSpc>
                <a:spcPts val="4785"/>
              </a:lnSpc>
              <a:spcBef>
                <a:spcPct val="0"/>
              </a:spcBef>
            </a:pPr>
            <a:r>
              <a:rPr lang="en-US" b="true" sz="3418">
                <a:solidFill>
                  <a:srgbClr val="104579"/>
                </a:solidFill>
                <a:latin typeface="Amaranth Bold"/>
                <a:ea typeface="Amaranth Bold"/>
                <a:cs typeface="Amaranth Bold"/>
                <a:sym typeface="Amaranth Bold"/>
              </a:rPr>
              <a:t>15</a:t>
            </a:r>
          </a:p>
        </p:txBody>
      </p:sp>
      <p:sp>
        <p:nvSpPr>
          <p:cNvPr name="TextBox 11" id="11"/>
          <p:cNvSpPr txBox="true"/>
          <p:nvPr/>
        </p:nvSpPr>
        <p:spPr>
          <a:xfrm rot="0">
            <a:off x="2178707" y="5181212"/>
            <a:ext cx="14546656" cy="3331845"/>
          </a:xfrm>
          <a:prstGeom prst="rect">
            <a:avLst/>
          </a:prstGeom>
        </p:spPr>
        <p:txBody>
          <a:bodyPr anchor="t" rtlCol="false" tIns="0" lIns="0" bIns="0" rIns="0">
            <a:spAutoFit/>
          </a:bodyPr>
          <a:lstStyle/>
          <a:p>
            <a:pPr algn="l" marL="582930" indent="-291465" lvl="1">
              <a:lnSpc>
                <a:spcPts val="3779"/>
              </a:lnSpc>
              <a:buFont typeface="Arial"/>
              <a:buChar char="•"/>
            </a:pPr>
            <a:r>
              <a:rPr lang="en-US" sz="2700">
                <a:solidFill>
                  <a:srgbClr val="104579"/>
                </a:solidFill>
                <a:latin typeface="Arimo"/>
                <a:ea typeface="Arimo"/>
                <a:cs typeface="Arimo"/>
                <a:sym typeface="Arimo"/>
              </a:rPr>
              <a:t>Mô hình CNN tiếp tục duy trì vị trí dẫn đầu với hiệu suất cải thiện nhẹ. </a:t>
            </a:r>
          </a:p>
          <a:p>
            <a:pPr algn="l" marL="582930" indent="-291465" lvl="1">
              <a:lnSpc>
                <a:spcPts val="3779"/>
              </a:lnSpc>
              <a:buFont typeface="Arial"/>
              <a:buChar char="•"/>
            </a:pPr>
            <a:r>
              <a:rPr lang="en-US" sz="2700">
                <a:solidFill>
                  <a:srgbClr val="104579"/>
                </a:solidFill>
                <a:latin typeface="Arimo"/>
                <a:ea typeface="Arimo"/>
                <a:cs typeface="Arimo"/>
                <a:sym typeface="Arimo"/>
              </a:rPr>
              <a:t>Điểm đáng chú ý tại mốc này là sự cải thiện của mô hình LSTM_CNN (R² tăng từ 0.8782 lên 0.8825). </a:t>
            </a:r>
          </a:p>
          <a:p>
            <a:pPr algn="l" marL="582930" indent="-291465" lvl="1">
              <a:lnSpc>
                <a:spcPts val="3779"/>
              </a:lnSpc>
              <a:buFont typeface="Arial"/>
              <a:buChar char="•"/>
            </a:pPr>
            <a:r>
              <a:rPr lang="en-US" sz="2700">
                <a:solidFill>
                  <a:srgbClr val="104579"/>
                </a:solidFill>
                <a:latin typeface="Arimo"/>
                <a:ea typeface="Arimo"/>
                <a:cs typeface="Arimo"/>
                <a:sym typeface="Arimo"/>
              </a:rPr>
              <a:t>Linear Regression và Random Forest vẫn duy trì hiệu suất ổn định, cho thấy dữ liệu vẫn còn mang tính cấu trúc rõ ràng.</a:t>
            </a:r>
          </a:p>
          <a:p>
            <a:pPr algn="l" marL="582930" indent="-291465" lvl="1">
              <a:lnSpc>
                <a:spcPts val="3779"/>
              </a:lnSpc>
              <a:buFont typeface="Arial"/>
              <a:buChar char="•"/>
            </a:pPr>
            <a:r>
              <a:rPr lang="en-US" sz="2700">
                <a:solidFill>
                  <a:srgbClr val="104579"/>
                </a:solidFill>
                <a:latin typeface="Arimo"/>
                <a:ea typeface="Arimo"/>
                <a:cs typeface="Arimo"/>
                <a:sym typeface="Arimo"/>
              </a:rPr>
              <a:t>SVR (poly) tiếp tục suy giảm hiệu suất, phản ánh việc mô hình không thích ứng tốt với sự gia tăng độ phức tạp của dữ liệu theo thời gian.</a:t>
            </a:r>
          </a:p>
        </p:txBody>
      </p:sp>
      <p:sp>
        <p:nvSpPr>
          <p:cNvPr name="TextBox 12" id="12"/>
          <p:cNvSpPr txBox="true"/>
          <p:nvPr/>
        </p:nvSpPr>
        <p:spPr>
          <a:xfrm rot="0">
            <a:off x="3349735" y="1120091"/>
            <a:ext cx="11665167" cy="863600"/>
          </a:xfrm>
          <a:prstGeom prst="rect">
            <a:avLst/>
          </a:prstGeom>
        </p:spPr>
        <p:txBody>
          <a:bodyPr anchor="t" rtlCol="false" tIns="0" lIns="0" bIns="0" rIns="0">
            <a:spAutoFit/>
          </a:bodyPr>
          <a:lstStyle/>
          <a:p>
            <a:pPr algn="ctr">
              <a:lnSpc>
                <a:spcPts val="7000"/>
              </a:lnSpc>
              <a:spcBef>
                <a:spcPct val="0"/>
              </a:spcBef>
            </a:pPr>
            <a:r>
              <a:rPr lang="en-US" b="true" sz="5000">
                <a:solidFill>
                  <a:srgbClr val="104579"/>
                </a:solidFill>
                <a:latin typeface="Garet Bold"/>
                <a:ea typeface="Garet Bold"/>
                <a:cs typeface="Garet Bold"/>
                <a:sym typeface="Garet Bold"/>
              </a:rPr>
              <a:t>KẾT QUẢ DỰ BÁO TẠI MỐC 12 GIỜ</a:t>
            </a:r>
          </a:p>
        </p:txBody>
      </p:sp>
    </p:spTree>
  </p:cSld>
  <p:clrMapOvr>
    <a:masterClrMapping/>
  </p:clrMapOvr>
  <p:transition spd="fast">
    <p:fade/>
  </p:transition>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465874"/>
            <a:ext cx="19819639" cy="12900629"/>
            <a:chOff x="0" y="0"/>
            <a:chExt cx="26426185" cy="17200838"/>
          </a:xfrm>
        </p:grpSpPr>
        <p:sp>
          <p:nvSpPr>
            <p:cNvPr name="Freeform 3" id="3"/>
            <p:cNvSpPr/>
            <p:nvPr/>
          </p:nvSpPr>
          <p:spPr>
            <a:xfrm flipH="false" flipV="false" rot="0">
              <a:off x="0" y="1785165"/>
              <a:ext cx="24895049" cy="14191553"/>
            </a:xfrm>
            <a:custGeom>
              <a:avLst/>
              <a:gdLst/>
              <a:ahLst/>
              <a:cxnLst/>
              <a:rect r="r" b="b" t="t" l="l"/>
              <a:pathLst>
                <a:path h="14191553" w="24895049">
                  <a:moveTo>
                    <a:pt x="0" y="0"/>
                  </a:moveTo>
                  <a:lnTo>
                    <a:pt x="24895049" y="0"/>
                  </a:lnTo>
                  <a:lnTo>
                    <a:pt x="24895049" y="14191554"/>
                  </a:lnTo>
                  <a:lnTo>
                    <a:pt x="0" y="14191554"/>
                  </a:lnTo>
                  <a:lnTo>
                    <a:pt x="0" y="0"/>
                  </a:lnTo>
                  <a:close/>
                </a:path>
              </a:pathLst>
            </a:custGeom>
            <a:blipFill>
              <a:blip r:embed="rId2"/>
              <a:stretch>
                <a:fillRect l="-4939" t="-11172" r="-7311" b="0"/>
              </a:stretch>
            </a:blipFill>
          </p:spPr>
        </p:sp>
        <p:sp>
          <p:nvSpPr>
            <p:cNvPr name="Freeform 4" id="4"/>
            <p:cNvSpPr/>
            <p:nvPr/>
          </p:nvSpPr>
          <p:spPr>
            <a:xfrm flipH="true" flipV="false" rot="0">
              <a:off x="511049" y="1785165"/>
              <a:ext cx="13222020" cy="15415673"/>
            </a:xfrm>
            <a:custGeom>
              <a:avLst/>
              <a:gdLst/>
              <a:ahLst/>
              <a:cxnLst/>
              <a:rect r="r" b="b" t="t" l="l"/>
              <a:pathLst>
                <a:path h="15415673" w="13222020">
                  <a:moveTo>
                    <a:pt x="13222020" y="0"/>
                  </a:moveTo>
                  <a:lnTo>
                    <a:pt x="0" y="0"/>
                  </a:lnTo>
                  <a:lnTo>
                    <a:pt x="0" y="15415673"/>
                  </a:lnTo>
                  <a:lnTo>
                    <a:pt x="13222020" y="15415673"/>
                  </a:lnTo>
                  <a:lnTo>
                    <a:pt x="13222020" y="0"/>
                  </a:lnTo>
                  <a:close/>
                </a:path>
              </a:pathLst>
            </a:custGeom>
            <a:blipFill>
              <a:blip r:embed="rId3"/>
              <a:stretch>
                <a:fillRect l="-12500" t="0" r="-12499" b="0"/>
              </a:stretch>
            </a:blipFill>
          </p:spPr>
        </p:sp>
        <p:grpSp>
          <p:nvGrpSpPr>
            <p:cNvPr name="Group 5" id="5"/>
            <p:cNvGrpSpPr/>
            <p:nvPr/>
          </p:nvGrpSpPr>
          <p:grpSpPr>
            <a:xfrm rot="0">
              <a:off x="1882649" y="3156765"/>
              <a:ext cx="21324463" cy="10972800"/>
              <a:chOff x="0" y="0"/>
              <a:chExt cx="4212240" cy="2167467"/>
            </a:xfrm>
          </p:grpSpPr>
          <p:sp>
            <p:nvSpPr>
              <p:cNvPr name="Freeform 6" id="6"/>
              <p:cNvSpPr/>
              <p:nvPr/>
            </p:nvSpPr>
            <p:spPr>
              <a:xfrm flipH="false" flipV="false" rot="0">
                <a:off x="0" y="0"/>
                <a:ext cx="4212239" cy="2167467"/>
              </a:xfrm>
              <a:custGeom>
                <a:avLst/>
                <a:gdLst/>
                <a:ahLst/>
                <a:cxnLst/>
                <a:rect r="r" b="b" t="t" l="l"/>
                <a:pathLst>
                  <a:path h="2167467" w="4212239">
                    <a:moveTo>
                      <a:pt x="36789" y="0"/>
                    </a:moveTo>
                    <a:lnTo>
                      <a:pt x="4175450" y="0"/>
                    </a:lnTo>
                    <a:cubicBezTo>
                      <a:pt x="4185207" y="0"/>
                      <a:pt x="4194565" y="3876"/>
                      <a:pt x="4201464" y="10775"/>
                    </a:cubicBezTo>
                    <a:cubicBezTo>
                      <a:pt x="4208363" y="17675"/>
                      <a:pt x="4212239" y="27032"/>
                      <a:pt x="4212239" y="36789"/>
                    </a:cubicBezTo>
                    <a:lnTo>
                      <a:pt x="4212239" y="2130677"/>
                    </a:lnTo>
                    <a:cubicBezTo>
                      <a:pt x="4212239" y="2150996"/>
                      <a:pt x="4195768" y="2167467"/>
                      <a:pt x="4175450" y="2167467"/>
                    </a:cubicBezTo>
                    <a:lnTo>
                      <a:pt x="36789" y="2167467"/>
                    </a:lnTo>
                    <a:cubicBezTo>
                      <a:pt x="27032" y="2167467"/>
                      <a:pt x="17675" y="2163591"/>
                      <a:pt x="10775" y="2156691"/>
                    </a:cubicBezTo>
                    <a:cubicBezTo>
                      <a:pt x="3876" y="2149792"/>
                      <a:pt x="0" y="2140434"/>
                      <a:pt x="0" y="2130677"/>
                    </a:cubicBezTo>
                    <a:lnTo>
                      <a:pt x="0" y="36789"/>
                    </a:lnTo>
                    <a:cubicBezTo>
                      <a:pt x="0" y="27032"/>
                      <a:pt x="3876" y="17675"/>
                      <a:pt x="10775" y="10775"/>
                    </a:cubicBezTo>
                    <a:cubicBezTo>
                      <a:pt x="17675" y="3876"/>
                      <a:pt x="27032" y="0"/>
                      <a:pt x="36789" y="0"/>
                    </a:cubicBezTo>
                    <a:close/>
                  </a:path>
                </a:pathLst>
              </a:custGeom>
              <a:solidFill>
                <a:srgbClr val="FFFFFF">
                  <a:alpha val="60784"/>
                </a:srgbClr>
              </a:solidFill>
              <a:ln w="38100" cap="rnd">
                <a:solidFill>
                  <a:srgbClr val="2D8BBA">
                    <a:alpha val="60784"/>
                  </a:srgbClr>
                </a:solidFill>
                <a:prstDash val="solid"/>
                <a:round/>
              </a:ln>
            </p:spPr>
          </p:sp>
          <p:sp>
            <p:nvSpPr>
              <p:cNvPr name="TextBox 7" id="7"/>
              <p:cNvSpPr txBox="true"/>
              <p:nvPr/>
            </p:nvSpPr>
            <p:spPr>
              <a:xfrm>
                <a:off x="0" y="-47625"/>
                <a:ext cx="4212240" cy="2215092"/>
              </a:xfrm>
              <a:prstGeom prst="rect">
                <a:avLst/>
              </a:prstGeom>
            </p:spPr>
            <p:txBody>
              <a:bodyPr anchor="ctr" rtlCol="false" tIns="50800" lIns="50800" bIns="50800" rIns="50800"/>
              <a:lstStyle/>
              <a:p>
                <a:pPr algn="ctr">
                  <a:lnSpc>
                    <a:spcPts val="3525"/>
                  </a:lnSpc>
                </a:pPr>
              </a:p>
            </p:txBody>
          </p:sp>
        </p:grpSp>
        <p:sp>
          <p:nvSpPr>
            <p:cNvPr name="Freeform 8" id="8"/>
            <p:cNvSpPr/>
            <p:nvPr/>
          </p:nvSpPr>
          <p:spPr>
            <a:xfrm flipH="false" flipV="true" rot="0">
              <a:off x="13130838" y="0"/>
              <a:ext cx="13295346" cy="15501165"/>
            </a:xfrm>
            <a:custGeom>
              <a:avLst/>
              <a:gdLst/>
              <a:ahLst/>
              <a:cxnLst/>
              <a:rect r="r" b="b" t="t" l="l"/>
              <a:pathLst>
                <a:path h="15501165" w="13295346">
                  <a:moveTo>
                    <a:pt x="0" y="15501165"/>
                  </a:moveTo>
                  <a:lnTo>
                    <a:pt x="13295347" y="15501165"/>
                  </a:lnTo>
                  <a:lnTo>
                    <a:pt x="13295347" y="0"/>
                  </a:lnTo>
                  <a:lnTo>
                    <a:pt x="0" y="0"/>
                  </a:lnTo>
                  <a:lnTo>
                    <a:pt x="0" y="15501165"/>
                  </a:lnTo>
                  <a:close/>
                </a:path>
              </a:pathLst>
            </a:custGeom>
            <a:blipFill>
              <a:blip r:embed="rId3"/>
              <a:stretch>
                <a:fillRect l="-12500" t="0" r="-12499" b="0"/>
              </a:stretch>
            </a:blipFill>
          </p:spPr>
        </p:sp>
      </p:grpSp>
      <p:sp>
        <p:nvSpPr>
          <p:cNvPr name="Freeform 9" id="9"/>
          <p:cNvSpPr/>
          <p:nvPr/>
        </p:nvSpPr>
        <p:spPr>
          <a:xfrm flipH="false" flipV="false" rot="0">
            <a:off x="3582983" y="2104921"/>
            <a:ext cx="10893140" cy="2831895"/>
          </a:xfrm>
          <a:custGeom>
            <a:avLst/>
            <a:gdLst/>
            <a:ahLst/>
            <a:cxnLst/>
            <a:rect r="r" b="b" t="t" l="l"/>
            <a:pathLst>
              <a:path h="2831895" w="10893140">
                <a:moveTo>
                  <a:pt x="0" y="0"/>
                </a:moveTo>
                <a:lnTo>
                  <a:pt x="10893140" y="0"/>
                </a:lnTo>
                <a:lnTo>
                  <a:pt x="10893140" y="2831894"/>
                </a:lnTo>
                <a:lnTo>
                  <a:pt x="0" y="2831894"/>
                </a:lnTo>
                <a:lnTo>
                  <a:pt x="0" y="0"/>
                </a:lnTo>
                <a:close/>
              </a:path>
            </a:pathLst>
          </a:custGeom>
          <a:blipFill>
            <a:blip r:embed="rId4"/>
            <a:stretch>
              <a:fillRect l="0" t="0" r="0" b="0"/>
            </a:stretch>
          </a:blipFill>
        </p:spPr>
      </p:sp>
      <p:sp>
        <p:nvSpPr>
          <p:cNvPr name="TextBox 10" id="10"/>
          <p:cNvSpPr txBox="true"/>
          <p:nvPr/>
        </p:nvSpPr>
        <p:spPr>
          <a:xfrm rot="0">
            <a:off x="7581252" y="9360313"/>
            <a:ext cx="3074441" cy="570402"/>
          </a:xfrm>
          <a:prstGeom prst="rect">
            <a:avLst/>
          </a:prstGeom>
        </p:spPr>
        <p:txBody>
          <a:bodyPr anchor="t" rtlCol="false" tIns="0" lIns="0" bIns="0" rIns="0">
            <a:spAutoFit/>
          </a:bodyPr>
          <a:lstStyle/>
          <a:p>
            <a:pPr algn="ctr">
              <a:lnSpc>
                <a:spcPts val="4785"/>
              </a:lnSpc>
              <a:spcBef>
                <a:spcPct val="0"/>
              </a:spcBef>
            </a:pPr>
            <a:r>
              <a:rPr lang="en-US" b="true" sz="3418">
                <a:solidFill>
                  <a:srgbClr val="104579"/>
                </a:solidFill>
                <a:latin typeface="Amaranth Bold"/>
                <a:ea typeface="Amaranth Bold"/>
                <a:cs typeface="Amaranth Bold"/>
                <a:sym typeface="Amaranth Bold"/>
              </a:rPr>
              <a:t>16</a:t>
            </a:r>
          </a:p>
        </p:txBody>
      </p:sp>
      <p:sp>
        <p:nvSpPr>
          <p:cNvPr name="TextBox 11" id="11"/>
          <p:cNvSpPr txBox="true"/>
          <p:nvPr/>
        </p:nvSpPr>
        <p:spPr>
          <a:xfrm rot="0">
            <a:off x="1966833" y="5048250"/>
            <a:ext cx="14693001" cy="4107180"/>
          </a:xfrm>
          <a:prstGeom prst="rect">
            <a:avLst/>
          </a:prstGeom>
        </p:spPr>
        <p:txBody>
          <a:bodyPr anchor="t" rtlCol="false" tIns="0" lIns="0" bIns="0" rIns="0">
            <a:spAutoFit/>
          </a:bodyPr>
          <a:lstStyle/>
          <a:p>
            <a:pPr algn="just" marL="582930" indent="-291465" lvl="1">
              <a:lnSpc>
                <a:spcPts val="4050"/>
              </a:lnSpc>
              <a:buFont typeface="Arial"/>
              <a:buChar char="•"/>
            </a:pPr>
            <a:r>
              <a:rPr lang="en-US" sz="2700">
                <a:solidFill>
                  <a:srgbClr val="104579"/>
                </a:solidFill>
                <a:latin typeface="Arimo"/>
                <a:ea typeface="Arimo"/>
                <a:cs typeface="Arimo"/>
                <a:sym typeface="Arimo"/>
              </a:rPr>
              <a:t>Mô hình CNN đạt hiệu suất cao nhất trong toàn bộ thí nghiệm, có khả năng nhận diện các mẫu lặp theo thời gian và giảm ảnh hưởng của nhiễu, từ đó nâng cao độ chính xác dự báo.</a:t>
            </a:r>
          </a:p>
          <a:p>
            <a:pPr algn="just" marL="582930" indent="-291465" lvl="1">
              <a:lnSpc>
                <a:spcPts val="4050"/>
              </a:lnSpc>
              <a:buFont typeface="Arial"/>
              <a:buChar char="•"/>
            </a:pPr>
            <a:r>
              <a:rPr lang="en-US" sz="2700">
                <a:solidFill>
                  <a:srgbClr val="104579"/>
                </a:solidFill>
                <a:latin typeface="Arimo"/>
                <a:ea typeface="Arimo"/>
                <a:cs typeface="Arimo"/>
                <a:sym typeface="Arimo"/>
              </a:rPr>
              <a:t>Linear Regression và Random Forest vẫn giữ được hiệu suất ổn định cho thấy dữ liệu PM2.5 có cấu trúc rõ ràng ngay cả trong dự báo dài hạn.</a:t>
            </a:r>
          </a:p>
          <a:p>
            <a:pPr algn="just" marL="582930" indent="-291465" lvl="1">
              <a:lnSpc>
                <a:spcPts val="4050"/>
              </a:lnSpc>
              <a:buFont typeface="Arial"/>
              <a:buChar char="•"/>
            </a:pPr>
            <a:r>
              <a:rPr lang="en-US" sz="2700">
                <a:solidFill>
                  <a:srgbClr val="104579"/>
                </a:solidFill>
                <a:latin typeface="Arimo"/>
                <a:ea typeface="Arimo"/>
                <a:cs typeface="Arimo"/>
                <a:sym typeface="Arimo"/>
              </a:rPr>
              <a:t>SVR (poly) cho thấy sự suy giảm nghiêm trọng khẳng định rằng việc sử dụng không gian đặc trưng phi tuyến bậc cao không phù hợp với dữ liệu có nhiều nhiễu và biến động như PM2.</a:t>
            </a:r>
          </a:p>
          <a:p>
            <a:pPr algn="just">
              <a:lnSpc>
                <a:spcPts val="4050"/>
              </a:lnSpc>
            </a:pPr>
          </a:p>
        </p:txBody>
      </p:sp>
      <p:sp>
        <p:nvSpPr>
          <p:cNvPr name="TextBox 12" id="12"/>
          <p:cNvSpPr txBox="true"/>
          <p:nvPr/>
        </p:nvSpPr>
        <p:spPr>
          <a:xfrm rot="0">
            <a:off x="3349735" y="1120091"/>
            <a:ext cx="11665167" cy="863600"/>
          </a:xfrm>
          <a:prstGeom prst="rect">
            <a:avLst/>
          </a:prstGeom>
        </p:spPr>
        <p:txBody>
          <a:bodyPr anchor="t" rtlCol="false" tIns="0" lIns="0" bIns="0" rIns="0">
            <a:spAutoFit/>
          </a:bodyPr>
          <a:lstStyle/>
          <a:p>
            <a:pPr algn="ctr">
              <a:lnSpc>
                <a:spcPts val="7000"/>
              </a:lnSpc>
              <a:spcBef>
                <a:spcPct val="0"/>
              </a:spcBef>
            </a:pPr>
            <a:r>
              <a:rPr lang="en-US" b="true" sz="5000">
                <a:solidFill>
                  <a:srgbClr val="104579"/>
                </a:solidFill>
                <a:latin typeface="Garet Bold"/>
                <a:ea typeface="Garet Bold"/>
                <a:cs typeface="Garet Bold"/>
                <a:sym typeface="Garet Bold"/>
              </a:rPr>
              <a:t>KẾT QUẢ DỰ BÁO TẠI MỐC 24 GIỜ</a:t>
            </a:r>
          </a:p>
        </p:txBody>
      </p:sp>
    </p:spTree>
  </p:cSld>
  <p:clrMapOvr>
    <a:masterClrMapping/>
  </p:clrMapOvr>
  <p:transition spd="fast">
    <p:fade/>
  </p:transition>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465874"/>
            <a:ext cx="19819639" cy="12900629"/>
            <a:chOff x="0" y="0"/>
            <a:chExt cx="26426185" cy="17200838"/>
          </a:xfrm>
        </p:grpSpPr>
        <p:sp>
          <p:nvSpPr>
            <p:cNvPr name="Freeform 3" id="3"/>
            <p:cNvSpPr/>
            <p:nvPr/>
          </p:nvSpPr>
          <p:spPr>
            <a:xfrm flipH="false" flipV="false" rot="0">
              <a:off x="0" y="1785165"/>
              <a:ext cx="24895049" cy="14191553"/>
            </a:xfrm>
            <a:custGeom>
              <a:avLst/>
              <a:gdLst/>
              <a:ahLst/>
              <a:cxnLst/>
              <a:rect r="r" b="b" t="t" l="l"/>
              <a:pathLst>
                <a:path h="14191553" w="24895049">
                  <a:moveTo>
                    <a:pt x="0" y="0"/>
                  </a:moveTo>
                  <a:lnTo>
                    <a:pt x="24895049" y="0"/>
                  </a:lnTo>
                  <a:lnTo>
                    <a:pt x="24895049" y="14191554"/>
                  </a:lnTo>
                  <a:lnTo>
                    <a:pt x="0" y="14191554"/>
                  </a:lnTo>
                  <a:lnTo>
                    <a:pt x="0" y="0"/>
                  </a:lnTo>
                  <a:close/>
                </a:path>
              </a:pathLst>
            </a:custGeom>
            <a:blipFill>
              <a:blip r:embed="rId2"/>
              <a:stretch>
                <a:fillRect l="-4939" t="-11172" r="-7311" b="0"/>
              </a:stretch>
            </a:blipFill>
          </p:spPr>
        </p:sp>
        <p:sp>
          <p:nvSpPr>
            <p:cNvPr name="Freeform 4" id="4"/>
            <p:cNvSpPr/>
            <p:nvPr/>
          </p:nvSpPr>
          <p:spPr>
            <a:xfrm flipH="true" flipV="false" rot="0">
              <a:off x="511049" y="1785165"/>
              <a:ext cx="13222020" cy="15415673"/>
            </a:xfrm>
            <a:custGeom>
              <a:avLst/>
              <a:gdLst/>
              <a:ahLst/>
              <a:cxnLst/>
              <a:rect r="r" b="b" t="t" l="l"/>
              <a:pathLst>
                <a:path h="15415673" w="13222020">
                  <a:moveTo>
                    <a:pt x="13222020" y="0"/>
                  </a:moveTo>
                  <a:lnTo>
                    <a:pt x="0" y="0"/>
                  </a:lnTo>
                  <a:lnTo>
                    <a:pt x="0" y="15415673"/>
                  </a:lnTo>
                  <a:lnTo>
                    <a:pt x="13222020" y="15415673"/>
                  </a:lnTo>
                  <a:lnTo>
                    <a:pt x="13222020" y="0"/>
                  </a:lnTo>
                  <a:close/>
                </a:path>
              </a:pathLst>
            </a:custGeom>
            <a:blipFill>
              <a:blip r:embed="rId3"/>
              <a:stretch>
                <a:fillRect l="-12500" t="0" r="-12499" b="0"/>
              </a:stretch>
            </a:blipFill>
          </p:spPr>
        </p:sp>
        <p:grpSp>
          <p:nvGrpSpPr>
            <p:cNvPr name="Group 5" id="5"/>
            <p:cNvGrpSpPr/>
            <p:nvPr/>
          </p:nvGrpSpPr>
          <p:grpSpPr>
            <a:xfrm rot="0">
              <a:off x="1882649" y="3156765"/>
              <a:ext cx="21324463" cy="10972800"/>
              <a:chOff x="0" y="0"/>
              <a:chExt cx="4212240" cy="2167467"/>
            </a:xfrm>
          </p:grpSpPr>
          <p:sp>
            <p:nvSpPr>
              <p:cNvPr name="Freeform 6" id="6"/>
              <p:cNvSpPr/>
              <p:nvPr/>
            </p:nvSpPr>
            <p:spPr>
              <a:xfrm flipH="false" flipV="false" rot="0">
                <a:off x="0" y="0"/>
                <a:ext cx="4212239" cy="2167467"/>
              </a:xfrm>
              <a:custGeom>
                <a:avLst/>
                <a:gdLst/>
                <a:ahLst/>
                <a:cxnLst/>
                <a:rect r="r" b="b" t="t" l="l"/>
                <a:pathLst>
                  <a:path h="2167467" w="4212239">
                    <a:moveTo>
                      <a:pt x="36789" y="0"/>
                    </a:moveTo>
                    <a:lnTo>
                      <a:pt x="4175450" y="0"/>
                    </a:lnTo>
                    <a:cubicBezTo>
                      <a:pt x="4185207" y="0"/>
                      <a:pt x="4194565" y="3876"/>
                      <a:pt x="4201464" y="10775"/>
                    </a:cubicBezTo>
                    <a:cubicBezTo>
                      <a:pt x="4208363" y="17675"/>
                      <a:pt x="4212239" y="27032"/>
                      <a:pt x="4212239" y="36789"/>
                    </a:cubicBezTo>
                    <a:lnTo>
                      <a:pt x="4212239" y="2130677"/>
                    </a:lnTo>
                    <a:cubicBezTo>
                      <a:pt x="4212239" y="2150996"/>
                      <a:pt x="4195768" y="2167467"/>
                      <a:pt x="4175450" y="2167467"/>
                    </a:cubicBezTo>
                    <a:lnTo>
                      <a:pt x="36789" y="2167467"/>
                    </a:lnTo>
                    <a:cubicBezTo>
                      <a:pt x="27032" y="2167467"/>
                      <a:pt x="17675" y="2163591"/>
                      <a:pt x="10775" y="2156691"/>
                    </a:cubicBezTo>
                    <a:cubicBezTo>
                      <a:pt x="3876" y="2149792"/>
                      <a:pt x="0" y="2140434"/>
                      <a:pt x="0" y="2130677"/>
                    </a:cubicBezTo>
                    <a:lnTo>
                      <a:pt x="0" y="36789"/>
                    </a:lnTo>
                    <a:cubicBezTo>
                      <a:pt x="0" y="27032"/>
                      <a:pt x="3876" y="17675"/>
                      <a:pt x="10775" y="10775"/>
                    </a:cubicBezTo>
                    <a:cubicBezTo>
                      <a:pt x="17675" y="3876"/>
                      <a:pt x="27032" y="0"/>
                      <a:pt x="36789" y="0"/>
                    </a:cubicBezTo>
                    <a:close/>
                  </a:path>
                </a:pathLst>
              </a:custGeom>
              <a:solidFill>
                <a:srgbClr val="FFFFFF">
                  <a:alpha val="60784"/>
                </a:srgbClr>
              </a:solidFill>
              <a:ln w="38100" cap="rnd">
                <a:solidFill>
                  <a:srgbClr val="2D8BBA">
                    <a:alpha val="60784"/>
                  </a:srgbClr>
                </a:solidFill>
                <a:prstDash val="solid"/>
                <a:round/>
              </a:ln>
            </p:spPr>
          </p:sp>
          <p:sp>
            <p:nvSpPr>
              <p:cNvPr name="TextBox 7" id="7"/>
              <p:cNvSpPr txBox="true"/>
              <p:nvPr/>
            </p:nvSpPr>
            <p:spPr>
              <a:xfrm>
                <a:off x="0" y="-47625"/>
                <a:ext cx="4212240" cy="2215092"/>
              </a:xfrm>
              <a:prstGeom prst="rect">
                <a:avLst/>
              </a:prstGeom>
            </p:spPr>
            <p:txBody>
              <a:bodyPr anchor="ctr" rtlCol="false" tIns="50800" lIns="50800" bIns="50800" rIns="50800"/>
              <a:lstStyle/>
              <a:p>
                <a:pPr algn="ctr">
                  <a:lnSpc>
                    <a:spcPts val="3525"/>
                  </a:lnSpc>
                </a:pPr>
              </a:p>
            </p:txBody>
          </p:sp>
        </p:grpSp>
        <p:sp>
          <p:nvSpPr>
            <p:cNvPr name="Freeform 8" id="8"/>
            <p:cNvSpPr/>
            <p:nvPr/>
          </p:nvSpPr>
          <p:spPr>
            <a:xfrm flipH="false" flipV="true" rot="0">
              <a:off x="13130838" y="0"/>
              <a:ext cx="13295346" cy="15501165"/>
            </a:xfrm>
            <a:custGeom>
              <a:avLst/>
              <a:gdLst/>
              <a:ahLst/>
              <a:cxnLst/>
              <a:rect r="r" b="b" t="t" l="l"/>
              <a:pathLst>
                <a:path h="15501165" w="13295346">
                  <a:moveTo>
                    <a:pt x="0" y="15501165"/>
                  </a:moveTo>
                  <a:lnTo>
                    <a:pt x="13295347" y="15501165"/>
                  </a:lnTo>
                  <a:lnTo>
                    <a:pt x="13295347" y="0"/>
                  </a:lnTo>
                  <a:lnTo>
                    <a:pt x="0" y="0"/>
                  </a:lnTo>
                  <a:lnTo>
                    <a:pt x="0" y="15501165"/>
                  </a:lnTo>
                  <a:close/>
                </a:path>
              </a:pathLst>
            </a:custGeom>
            <a:blipFill>
              <a:blip r:embed="rId3"/>
              <a:stretch>
                <a:fillRect l="-12500" t="0" r="-12499" b="0"/>
              </a:stretch>
            </a:blipFill>
          </p:spPr>
        </p:sp>
      </p:grpSp>
      <p:sp>
        <p:nvSpPr>
          <p:cNvPr name="Freeform 9" id="9"/>
          <p:cNvSpPr/>
          <p:nvPr/>
        </p:nvSpPr>
        <p:spPr>
          <a:xfrm flipH="false" flipV="false" rot="0">
            <a:off x="1970142" y="2210525"/>
            <a:ext cx="7939677" cy="2426365"/>
          </a:xfrm>
          <a:custGeom>
            <a:avLst/>
            <a:gdLst/>
            <a:ahLst/>
            <a:cxnLst/>
            <a:rect r="r" b="b" t="t" l="l"/>
            <a:pathLst>
              <a:path h="2426365" w="7939677">
                <a:moveTo>
                  <a:pt x="0" y="0"/>
                </a:moveTo>
                <a:lnTo>
                  <a:pt x="7939677" y="0"/>
                </a:lnTo>
                <a:lnTo>
                  <a:pt x="7939677" y="2426366"/>
                </a:lnTo>
                <a:lnTo>
                  <a:pt x="0" y="2426366"/>
                </a:lnTo>
                <a:lnTo>
                  <a:pt x="0" y="0"/>
                </a:lnTo>
                <a:close/>
              </a:path>
            </a:pathLst>
          </a:custGeom>
          <a:blipFill>
            <a:blip r:embed="rId4"/>
            <a:stretch>
              <a:fillRect l="0" t="0" r="0" b="0"/>
            </a:stretch>
          </a:blipFill>
        </p:spPr>
      </p:sp>
      <p:sp>
        <p:nvSpPr>
          <p:cNvPr name="Freeform 10" id="10"/>
          <p:cNvSpPr/>
          <p:nvPr/>
        </p:nvSpPr>
        <p:spPr>
          <a:xfrm flipH="false" flipV="false" rot="0">
            <a:off x="10428668" y="2275365"/>
            <a:ext cx="6198671" cy="4812127"/>
          </a:xfrm>
          <a:custGeom>
            <a:avLst/>
            <a:gdLst/>
            <a:ahLst/>
            <a:cxnLst/>
            <a:rect r="r" b="b" t="t" l="l"/>
            <a:pathLst>
              <a:path h="4812127" w="6198671">
                <a:moveTo>
                  <a:pt x="0" y="0"/>
                </a:moveTo>
                <a:lnTo>
                  <a:pt x="6198672" y="0"/>
                </a:lnTo>
                <a:lnTo>
                  <a:pt x="6198672" y="4812126"/>
                </a:lnTo>
                <a:lnTo>
                  <a:pt x="0" y="4812126"/>
                </a:lnTo>
                <a:lnTo>
                  <a:pt x="0" y="0"/>
                </a:lnTo>
                <a:close/>
              </a:path>
            </a:pathLst>
          </a:custGeom>
          <a:blipFill>
            <a:blip r:embed="rId5"/>
            <a:stretch>
              <a:fillRect l="0" t="0" r="0" b="0"/>
            </a:stretch>
          </a:blipFill>
        </p:spPr>
      </p:sp>
      <p:sp>
        <p:nvSpPr>
          <p:cNvPr name="TextBox 11" id="11"/>
          <p:cNvSpPr txBox="true"/>
          <p:nvPr/>
        </p:nvSpPr>
        <p:spPr>
          <a:xfrm rot="0">
            <a:off x="7581252" y="9360313"/>
            <a:ext cx="3074441" cy="570402"/>
          </a:xfrm>
          <a:prstGeom prst="rect">
            <a:avLst/>
          </a:prstGeom>
        </p:spPr>
        <p:txBody>
          <a:bodyPr anchor="t" rtlCol="false" tIns="0" lIns="0" bIns="0" rIns="0">
            <a:spAutoFit/>
          </a:bodyPr>
          <a:lstStyle/>
          <a:p>
            <a:pPr algn="ctr">
              <a:lnSpc>
                <a:spcPts val="4785"/>
              </a:lnSpc>
              <a:spcBef>
                <a:spcPct val="0"/>
              </a:spcBef>
            </a:pPr>
            <a:r>
              <a:rPr lang="en-US" b="true" sz="3418">
                <a:solidFill>
                  <a:srgbClr val="104579"/>
                </a:solidFill>
                <a:latin typeface="Amaranth Bold"/>
                <a:ea typeface="Amaranth Bold"/>
                <a:cs typeface="Amaranth Bold"/>
                <a:sym typeface="Amaranth Bold"/>
              </a:rPr>
              <a:t>17</a:t>
            </a:r>
          </a:p>
        </p:txBody>
      </p:sp>
      <p:sp>
        <p:nvSpPr>
          <p:cNvPr name="TextBox 12" id="12"/>
          <p:cNvSpPr txBox="true"/>
          <p:nvPr/>
        </p:nvSpPr>
        <p:spPr>
          <a:xfrm rot="0">
            <a:off x="2190479" y="4624278"/>
            <a:ext cx="7499003" cy="391331"/>
          </a:xfrm>
          <a:prstGeom prst="rect">
            <a:avLst/>
          </a:prstGeom>
        </p:spPr>
        <p:txBody>
          <a:bodyPr anchor="t" rtlCol="false" tIns="0" lIns="0" bIns="0" rIns="0">
            <a:spAutoFit/>
          </a:bodyPr>
          <a:lstStyle/>
          <a:p>
            <a:pPr algn="ctr">
              <a:lnSpc>
                <a:spcPts val="3105"/>
              </a:lnSpc>
              <a:spcBef>
                <a:spcPct val="0"/>
              </a:spcBef>
            </a:pPr>
            <a:r>
              <a:rPr lang="en-US" b="true" sz="2218" i="true">
                <a:solidFill>
                  <a:srgbClr val="104579"/>
                </a:solidFill>
                <a:latin typeface="Arimo Bold Italics"/>
                <a:ea typeface="Arimo Bold Italics"/>
                <a:cs typeface="Arimo Bold Italics"/>
                <a:sym typeface="Arimo Bold Italics"/>
              </a:rPr>
              <a:t>Báo cáo phân loại chỉ số AQI mô hình CNN_LSTM 6 giờ </a:t>
            </a:r>
          </a:p>
        </p:txBody>
      </p:sp>
      <p:sp>
        <p:nvSpPr>
          <p:cNvPr name="TextBox 13" id="13"/>
          <p:cNvSpPr txBox="true"/>
          <p:nvPr/>
        </p:nvSpPr>
        <p:spPr>
          <a:xfrm rot="0">
            <a:off x="9434212" y="7173216"/>
            <a:ext cx="8187584" cy="391331"/>
          </a:xfrm>
          <a:prstGeom prst="rect">
            <a:avLst/>
          </a:prstGeom>
        </p:spPr>
        <p:txBody>
          <a:bodyPr anchor="t" rtlCol="false" tIns="0" lIns="0" bIns="0" rIns="0">
            <a:spAutoFit/>
          </a:bodyPr>
          <a:lstStyle/>
          <a:p>
            <a:pPr algn="ctr">
              <a:lnSpc>
                <a:spcPts val="3105"/>
              </a:lnSpc>
              <a:spcBef>
                <a:spcPct val="0"/>
              </a:spcBef>
            </a:pPr>
            <a:r>
              <a:rPr lang="en-US" b="true" sz="2218" i="true">
                <a:solidFill>
                  <a:srgbClr val="104579"/>
                </a:solidFill>
                <a:latin typeface="Arimo Bold Italics"/>
                <a:ea typeface="Arimo Bold Italics"/>
                <a:cs typeface="Arimo Bold Italics"/>
                <a:sym typeface="Arimo Bold Italics"/>
              </a:rPr>
              <a:t> Kết quả dự đoán mô hình CNN_LSTM 6 giờ</a:t>
            </a:r>
          </a:p>
        </p:txBody>
      </p:sp>
      <p:sp>
        <p:nvSpPr>
          <p:cNvPr name="TextBox 14" id="14"/>
          <p:cNvSpPr txBox="true"/>
          <p:nvPr/>
        </p:nvSpPr>
        <p:spPr>
          <a:xfrm rot="0">
            <a:off x="2331121" y="5585754"/>
            <a:ext cx="6672787" cy="1903095"/>
          </a:xfrm>
          <a:prstGeom prst="rect">
            <a:avLst/>
          </a:prstGeom>
        </p:spPr>
        <p:txBody>
          <a:bodyPr anchor="t" rtlCol="false" tIns="0" lIns="0" bIns="0" rIns="0">
            <a:spAutoFit/>
          </a:bodyPr>
          <a:lstStyle/>
          <a:p>
            <a:pPr algn="just">
              <a:lnSpc>
                <a:spcPts val="3779"/>
              </a:lnSpc>
              <a:spcBef>
                <a:spcPct val="0"/>
              </a:spcBef>
            </a:pPr>
            <a:r>
              <a:rPr lang="en-US" sz="2700">
                <a:solidFill>
                  <a:srgbClr val="104579"/>
                </a:solidFill>
                <a:latin typeface="Arimo"/>
                <a:ea typeface="Arimo"/>
                <a:cs typeface="Arimo"/>
                <a:sym typeface="Arimo"/>
              </a:rPr>
              <a:t>Mô hình CNN_LSTM đạt hiệu suất tốt trên lớp chiếm ưu thế (Moderate), nhưng gặp khó khăn rõ rệt với các lớp hiếm và lớp Unhealthy for Sensitive Groups.</a:t>
            </a:r>
          </a:p>
        </p:txBody>
      </p:sp>
      <p:sp>
        <p:nvSpPr>
          <p:cNvPr name="TextBox 15" id="15"/>
          <p:cNvSpPr txBox="true"/>
          <p:nvPr/>
        </p:nvSpPr>
        <p:spPr>
          <a:xfrm rot="0">
            <a:off x="3349735" y="1120091"/>
            <a:ext cx="11665167" cy="863600"/>
          </a:xfrm>
          <a:prstGeom prst="rect">
            <a:avLst/>
          </a:prstGeom>
        </p:spPr>
        <p:txBody>
          <a:bodyPr anchor="t" rtlCol="false" tIns="0" lIns="0" bIns="0" rIns="0">
            <a:spAutoFit/>
          </a:bodyPr>
          <a:lstStyle/>
          <a:p>
            <a:pPr algn="ctr">
              <a:lnSpc>
                <a:spcPts val="7000"/>
              </a:lnSpc>
              <a:spcBef>
                <a:spcPct val="0"/>
              </a:spcBef>
            </a:pPr>
            <a:r>
              <a:rPr lang="en-US" b="true" sz="5000">
                <a:solidFill>
                  <a:srgbClr val="104579"/>
                </a:solidFill>
                <a:latin typeface="Garet Bold"/>
                <a:ea typeface="Garet Bold"/>
                <a:cs typeface="Garet Bold"/>
                <a:sym typeface="Garet Bold"/>
              </a:rPr>
              <a:t>KẾT QUẢ</a:t>
            </a:r>
          </a:p>
        </p:txBody>
      </p:sp>
    </p:spTree>
  </p:cSld>
  <p:clrMapOvr>
    <a:masterClrMapping/>
  </p:clrMapOvr>
  <p:transition spd="fast">
    <p:fade/>
  </p:transition>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473905"/>
            <a:ext cx="19819639" cy="12900629"/>
            <a:chOff x="0" y="0"/>
            <a:chExt cx="26426185" cy="17200838"/>
          </a:xfrm>
        </p:grpSpPr>
        <p:sp>
          <p:nvSpPr>
            <p:cNvPr name="Freeform 3" id="3"/>
            <p:cNvSpPr/>
            <p:nvPr/>
          </p:nvSpPr>
          <p:spPr>
            <a:xfrm flipH="false" flipV="false" rot="0">
              <a:off x="0" y="1785165"/>
              <a:ext cx="24895049" cy="14191553"/>
            </a:xfrm>
            <a:custGeom>
              <a:avLst/>
              <a:gdLst/>
              <a:ahLst/>
              <a:cxnLst/>
              <a:rect r="r" b="b" t="t" l="l"/>
              <a:pathLst>
                <a:path h="14191553" w="24895049">
                  <a:moveTo>
                    <a:pt x="0" y="0"/>
                  </a:moveTo>
                  <a:lnTo>
                    <a:pt x="24895049" y="0"/>
                  </a:lnTo>
                  <a:lnTo>
                    <a:pt x="24895049" y="14191554"/>
                  </a:lnTo>
                  <a:lnTo>
                    <a:pt x="0" y="14191554"/>
                  </a:lnTo>
                  <a:lnTo>
                    <a:pt x="0" y="0"/>
                  </a:lnTo>
                  <a:close/>
                </a:path>
              </a:pathLst>
            </a:custGeom>
            <a:blipFill>
              <a:blip r:embed="rId2"/>
              <a:stretch>
                <a:fillRect l="-4939" t="-11172" r="-7311" b="0"/>
              </a:stretch>
            </a:blipFill>
          </p:spPr>
        </p:sp>
        <p:sp>
          <p:nvSpPr>
            <p:cNvPr name="Freeform 4" id="4"/>
            <p:cNvSpPr/>
            <p:nvPr/>
          </p:nvSpPr>
          <p:spPr>
            <a:xfrm flipH="true" flipV="false" rot="0">
              <a:off x="511049" y="1785165"/>
              <a:ext cx="13222020" cy="15415673"/>
            </a:xfrm>
            <a:custGeom>
              <a:avLst/>
              <a:gdLst/>
              <a:ahLst/>
              <a:cxnLst/>
              <a:rect r="r" b="b" t="t" l="l"/>
              <a:pathLst>
                <a:path h="15415673" w="13222020">
                  <a:moveTo>
                    <a:pt x="13222020" y="0"/>
                  </a:moveTo>
                  <a:lnTo>
                    <a:pt x="0" y="0"/>
                  </a:lnTo>
                  <a:lnTo>
                    <a:pt x="0" y="15415673"/>
                  </a:lnTo>
                  <a:lnTo>
                    <a:pt x="13222020" y="15415673"/>
                  </a:lnTo>
                  <a:lnTo>
                    <a:pt x="13222020" y="0"/>
                  </a:lnTo>
                  <a:close/>
                </a:path>
              </a:pathLst>
            </a:custGeom>
            <a:blipFill>
              <a:blip r:embed="rId3"/>
              <a:stretch>
                <a:fillRect l="-12500" t="0" r="-12499" b="0"/>
              </a:stretch>
            </a:blipFill>
          </p:spPr>
        </p:sp>
        <p:grpSp>
          <p:nvGrpSpPr>
            <p:cNvPr name="Group 5" id="5"/>
            <p:cNvGrpSpPr/>
            <p:nvPr/>
          </p:nvGrpSpPr>
          <p:grpSpPr>
            <a:xfrm rot="0">
              <a:off x="1882649" y="3156765"/>
              <a:ext cx="21324463" cy="10972800"/>
              <a:chOff x="0" y="0"/>
              <a:chExt cx="4212240" cy="2167467"/>
            </a:xfrm>
          </p:grpSpPr>
          <p:sp>
            <p:nvSpPr>
              <p:cNvPr name="Freeform 6" id="6"/>
              <p:cNvSpPr/>
              <p:nvPr/>
            </p:nvSpPr>
            <p:spPr>
              <a:xfrm flipH="false" flipV="false" rot="0">
                <a:off x="0" y="0"/>
                <a:ext cx="4212239" cy="2167467"/>
              </a:xfrm>
              <a:custGeom>
                <a:avLst/>
                <a:gdLst/>
                <a:ahLst/>
                <a:cxnLst/>
                <a:rect r="r" b="b" t="t" l="l"/>
                <a:pathLst>
                  <a:path h="2167467" w="4212239">
                    <a:moveTo>
                      <a:pt x="36789" y="0"/>
                    </a:moveTo>
                    <a:lnTo>
                      <a:pt x="4175450" y="0"/>
                    </a:lnTo>
                    <a:cubicBezTo>
                      <a:pt x="4185207" y="0"/>
                      <a:pt x="4194565" y="3876"/>
                      <a:pt x="4201464" y="10775"/>
                    </a:cubicBezTo>
                    <a:cubicBezTo>
                      <a:pt x="4208363" y="17675"/>
                      <a:pt x="4212239" y="27032"/>
                      <a:pt x="4212239" y="36789"/>
                    </a:cubicBezTo>
                    <a:lnTo>
                      <a:pt x="4212239" y="2130677"/>
                    </a:lnTo>
                    <a:cubicBezTo>
                      <a:pt x="4212239" y="2150996"/>
                      <a:pt x="4195768" y="2167467"/>
                      <a:pt x="4175450" y="2167467"/>
                    </a:cubicBezTo>
                    <a:lnTo>
                      <a:pt x="36789" y="2167467"/>
                    </a:lnTo>
                    <a:cubicBezTo>
                      <a:pt x="27032" y="2167467"/>
                      <a:pt x="17675" y="2163591"/>
                      <a:pt x="10775" y="2156691"/>
                    </a:cubicBezTo>
                    <a:cubicBezTo>
                      <a:pt x="3876" y="2149792"/>
                      <a:pt x="0" y="2140434"/>
                      <a:pt x="0" y="2130677"/>
                    </a:cubicBezTo>
                    <a:lnTo>
                      <a:pt x="0" y="36789"/>
                    </a:lnTo>
                    <a:cubicBezTo>
                      <a:pt x="0" y="27032"/>
                      <a:pt x="3876" y="17675"/>
                      <a:pt x="10775" y="10775"/>
                    </a:cubicBezTo>
                    <a:cubicBezTo>
                      <a:pt x="17675" y="3876"/>
                      <a:pt x="27032" y="0"/>
                      <a:pt x="36789" y="0"/>
                    </a:cubicBezTo>
                    <a:close/>
                  </a:path>
                </a:pathLst>
              </a:custGeom>
              <a:solidFill>
                <a:srgbClr val="FFFFFF">
                  <a:alpha val="60784"/>
                </a:srgbClr>
              </a:solidFill>
              <a:ln w="38100" cap="rnd">
                <a:solidFill>
                  <a:srgbClr val="2D8BBA">
                    <a:alpha val="60784"/>
                  </a:srgbClr>
                </a:solidFill>
                <a:prstDash val="solid"/>
                <a:round/>
              </a:ln>
            </p:spPr>
          </p:sp>
          <p:sp>
            <p:nvSpPr>
              <p:cNvPr name="TextBox 7" id="7"/>
              <p:cNvSpPr txBox="true"/>
              <p:nvPr/>
            </p:nvSpPr>
            <p:spPr>
              <a:xfrm>
                <a:off x="0" y="-47625"/>
                <a:ext cx="4212240" cy="2215092"/>
              </a:xfrm>
              <a:prstGeom prst="rect">
                <a:avLst/>
              </a:prstGeom>
            </p:spPr>
            <p:txBody>
              <a:bodyPr anchor="ctr" rtlCol="false" tIns="50800" lIns="50800" bIns="50800" rIns="50800"/>
              <a:lstStyle/>
              <a:p>
                <a:pPr algn="ctr">
                  <a:lnSpc>
                    <a:spcPts val="3525"/>
                  </a:lnSpc>
                </a:pPr>
              </a:p>
            </p:txBody>
          </p:sp>
        </p:grpSp>
        <p:sp>
          <p:nvSpPr>
            <p:cNvPr name="Freeform 8" id="8"/>
            <p:cNvSpPr/>
            <p:nvPr/>
          </p:nvSpPr>
          <p:spPr>
            <a:xfrm flipH="false" flipV="true" rot="0">
              <a:off x="13130838" y="0"/>
              <a:ext cx="13295346" cy="15501165"/>
            </a:xfrm>
            <a:custGeom>
              <a:avLst/>
              <a:gdLst/>
              <a:ahLst/>
              <a:cxnLst/>
              <a:rect r="r" b="b" t="t" l="l"/>
              <a:pathLst>
                <a:path h="15501165" w="13295346">
                  <a:moveTo>
                    <a:pt x="0" y="15501165"/>
                  </a:moveTo>
                  <a:lnTo>
                    <a:pt x="13295347" y="15501165"/>
                  </a:lnTo>
                  <a:lnTo>
                    <a:pt x="13295347" y="0"/>
                  </a:lnTo>
                  <a:lnTo>
                    <a:pt x="0" y="0"/>
                  </a:lnTo>
                  <a:lnTo>
                    <a:pt x="0" y="15501165"/>
                  </a:lnTo>
                  <a:close/>
                </a:path>
              </a:pathLst>
            </a:custGeom>
            <a:blipFill>
              <a:blip r:embed="rId3"/>
              <a:stretch>
                <a:fillRect l="-12500" t="0" r="-12499" b="0"/>
              </a:stretch>
            </a:blipFill>
          </p:spPr>
        </p:sp>
      </p:grpSp>
      <p:sp>
        <p:nvSpPr>
          <p:cNvPr name="Freeform 9" id="9"/>
          <p:cNvSpPr/>
          <p:nvPr/>
        </p:nvSpPr>
        <p:spPr>
          <a:xfrm flipH="false" flipV="false" rot="0">
            <a:off x="1857836" y="2379788"/>
            <a:ext cx="7788052" cy="2410888"/>
          </a:xfrm>
          <a:custGeom>
            <a:avLst/>
            <a:gdLst/>
            <a:ahLst/>
            <a:cxnLst/>
            <a:rect r="r" b="b" t="t" l="l"/>
            <a:pathLst>
              <a:path h="2410888" w="7788052">
                <a:moveTo>
                  <a:pt x="0" y="0"/>
                </a:moveTo>
                <a:lnTo>
                  <a:pt x="7788052" y="0"/>
                </a:lnTo>
                <a:lnTo>
                  <a:pt x="7788052" y="2410889"/>
                </a:lnTo>
                <a:lnTo>
                  <a:pt x="0" y="2410889"/>
                </a:lnTo>
                <a:lnTo>
                  <a:pt x="0" y="0"/>
                </a:lnTo>
                <a:close/>
              </a:path>
            </a:pathLst>
          </a:custGeom>
          <a:blipFill>
            <a:blip r:embed="rId4"/>
            <a:stretch>
              <a:fillRect l="0" t="0" r="0" b="0"/>
            </a:stretch>
          </a:blipFill>
        </p:spPr>
      </p:sp>
      <p:sp>
        <p:nvSpPr>
          <p:cNvPr name="Freeform 10" id="10"/>
          <p:cNvSpPr/>
          <p:nvPr/>
        </p:nvSpPr>
        <p:spPr>
          <a:xfrm flipH="false" flipV="false" rot="0">
            <a:off x="10237794" y="2296147"/>
            <a:ext cx="6906882" cy="5332755"/>
          </a:xfrm>
          <a:custGeom>
            <a:avLst/>
            <a:gdLst/>
            <a:ahLst/>
            <a:cxnLst/>
            <a:rect r="r" b="b" t="t" l="l"/>
            <a:pathLst>
              <a:path h="5332755" w="6906882">
                <a:moveTo>
                  <a:pt x="0" y="0"/>
                </a:moveTo>
                <a:lnTo>
                  <a:pt x="6906882" y="0"/>
                </a:lnTo>
                <a:lnTo>
                  <a:pt x="6906882" y="5332756"/>
                </a:lnTo>
                <a:lnTo>
                  <a:pt x="0" y="5332756"/>
                </a:lnTo>
                <a:lnTo>
                  <a:pt x="0" y="0"/>
                </a:lnTo>
                <a:close/>
              </a:path>
            </a:pathLst>
          </a:custGeom>
          <a:blipFill>
            <a:blip r:embed="rId5"/>
            <a:stretch>
              <a:fillRect l="0" t="0" r="0" b="0"/>
            </a:stretch>
          </a:blipFill>
        </p:spPr>
      </p:sp>
      <p:sp>
        <p:nvSpPr>
          <p:cNvPr name="TextBox 11" id="11"/>
          <p:cNvSpPr txBox="true"/>
          <p:nvPr/>
        </p:nvSpPr>
        <p:spPr>
          <a:xfrm rot="0">
            <a:off x="7581252" y="9360313"/>
            <a:ext cx="3074441" cy="570402"/>
          </a:xfrm>
          <a:prstGeom prst="rect">
            <a:avLst/>
          </a:prstGeom>
        </p:spPr>
        <p:txBody>
          <a:bodyPr anchor="t" rtlCol="false" tIns="0" lIns="0" bIns="0" rIns="0">
            <a:spAutoFit/>
          </a:bodyPr>
          <a:lstStyle/>
          <a:p>
            <a:pPr algn="ctr">
              <a:lnSpc>
                <a:spcPts val="4785"/>
              </a:lnSpc>
              <a:spcBef>
                <a:spcPct val="0"/>
              </a:spcBef>
            </a:pPr>
            <a:r>
              <a:rPr lang="en-US" b="true" sz="3418">
                <a:solidFill>
                  <a:srgbClr val="104579"/>
                </a:solidFill>
                <a:latin typeface="Amaranth Bold"/>
                <a:ea typeface="Amaranth Bold"/>
                <a:cs typeface="Amaranth Bold"/>
                <a:sym typeface="Amaranth Bold"/>
              </a:rPr>
              <a:t>18</a:t>
            </a:r>
          </a:p>
        </p:txBody>
      </p:sp>
      <p:sp>
        <p:nvSpPr>
          <p:cNvPr name="TextBox 12" id="12"/>
          <p:cNvSpPr txBox="true"/>
          <p:nvPr/>
        </p:nvSpPr>
        <p:spPr>
          <a:xfrm rot="0">
            <a:off x="2057689" y="4928784"/>
            <a:ext cx="7446328" cy="365296"/>
          </a:xfrm>
          <a:prstGeom prst="rect">
            <a:avLst/>
          </a:prstGeom>
        </p:spPr>
        <p:txBody>
          <a:bodyPr anchor="t" rtlCol="false" tIns="0" lIns="0" bIns="0" rIns="0">
            <a:spAutoFit/>
          </a:bodyPr>
          <a:lstStyle/>
          <a:p>
            <a:pPr algn="ctr">
              <a:lnSpc>
                <a:spcPts val="2965"/>
              </a:lnSpc>
              <a:spcBef>
                <a:spcPct val="0"/>
              </a:spcBef>
            </a:pPr>
            <a:r>
              <a:rPr lang="en-US" b="true" sz="2118" i="true">
                <a:solidFill>
                  <a:srgbClr val="104579"/>
                </a:solidFill>
                <a:latin typeface="Arimo Bold Italics"/>
                <a:ea typeface="Arimo Bold Italics"/>
                <a:cs typeface="Arimo Bold Italics"/>
                <a:sym typeface="Arimo Bold Italics"/>
              </a:rPr>
              <a:t>Báo cáo phân loại chỉ số AQI mô hình CNN_LSTM 12 tiếng</a:t>
            </a:r>
          </a:p>
        </p:txBody>
      </p:sp>
      <p:sp>
        <p:nvSpPr>
          <p:cNvPr name="TextBox 13" id="13"/>
          <p:cNvSpPr txBox="true"/>
          <p:nvPr/>
        </p:nvSpPr>
        <p:spPr>
          <a:xfrm rot="0">
            <a:off x="10711577" y="7895603"/>
            <a:ext cx="5959316" cy="365296"/>
          </a:xfrm>
          <a:prstGeom prst="rect">
            <a:avLst/>
          </a:prstGeom>
        </p:spPr>
        <p:txBody>
          <a:bodyPr anchor="t" rtlCol="false" tIns="0" lIns="0" bIns="0" rIns="0">
            <a:spAutoFit/>
          </a:bodyPr>
          <a:lstStyle/>
          <a:p>
            <a:pPr algn="ctr">
              <a:lnSpc>
                <a:spcPts val="2965"/>
              </a:lnSpc>
              <a:spcBef>
                <a:spcPct val="0"/>
              </a:spcBef>
            </a:pPr>
            <a:r>
              <a:rPr lang="en-US" b="true" sz="2118" i="true">
                <a:solidFill>
                  <a:srgbClr val="104579"/>
                </a:solidFill>
                <a:latin typeface="Arimo Bold Italics"/>
                <a:ea typeface="Arimo Bold Italics"/>
                <a:cs typeface="Arimo Bold Italics"/>
                <a:sym typeface="Arimo Bold Italics"/>
              </a:rPr>
              <a:t> Kết quả dự đoán mô hình CNN_LSTM 12 tiếng</a:t>
            </a:r>
          </a:p>
        </p:txBody>
      </p:sp>
      <p:sp>
        <p:nvSpPr>
          <p:cNvPr name="TextBox 14" id="14"/>
          <p:cNvSpPr txBox="true"/>
          <p:nvPr/>
        </p:nvSpPr>
        <p:spPr>
          <a:xfrm rot="0">
            <a:off x="1857836" y="5873333"/>
            <a:ext cx="8137037" cy="1912156"/>
          </a:xfrm>
          <a:prstGeom prst="rect">
            <a:avLst/>
          </a:prstGeom>
        </p:spPr>
        <p:txBody>
          <a:bodyPr anchor="t" rtlCol="false" tIns="0" lIns="0" bIns="0" rIns="0">
            <a:spAutoFit/>
          </a:bodyPr>
          <a:lstStyle/>
          <a:p>
            <a:pPr algn="l">
              <a:lnSpc>
                <a:spcPts val="3805"/>
              </a:lnSpc>
              <a:spcBef>
                <a:spcPct val="0"/>
              </a:spcBef>
            </a:pPr>
            <a:r>
              <a:rPr lang="en-US" sz="2718">
                <a:solidFill>
                  <a:srgbClr val="104579"/>
                </a:solidFill>
                <a:latin typeface="Arimo"/>
                <a:ea typeface="Arimo"/>
                <a:cs typeface="Arimo"/>
                <a:sym typeface="Arimo"/>
              </a:rPr>
              <a:t>So với mô hình 6 tiếng, hiệu suất của CNN_LSTM 12 tiếng giảm nhẹ ở hầu hết các chỉ số.  Vẫn không có nhầm lẫn quá xa, chứng tỏ mô hình vẫn nắm tốt thứ tự thứ bậc của các mức AQI.</a:t>
            </a:r>
          </a:p>
        </p:txBody>
      </p:sp>
      <p:sp>
        <p:nvSpPr>
          <p:cNvPr name="TextBox 15" id="15"/>
          <p:cNvSpPr txBox="true"/>
          <p:nvPr/>
        </p:nvSpPr>
        <p:spPr>
          <a:xfrm rot="0">
            <a:off x="3349735" y="1120091"/>
            <a:ext cx="11665167" cy="863600"/>
          </a:xfrm>
          <a:prstGeom prst="rect">
            <a:avLst/>
          </a:prstGeom>
        </p:spPr>
        <p:txBody>
          <a:bodyPr anchor="t" rtlCol="false" tIns="0" lIns="0" bIns="0" rIns="0">
            <a:spAutoFit/>
          </a:bodyPr>
          <a:lstStyle/>
          <a:p>
            <a:pPr algn="ctr">
              <a:lnSpc>
                <a:spcPts val="7000"/>
              </a:lnSpc>
              <a:spcBef>
                <a:spcPct val="0"/>
              </a:spcBef>
            </a:pPr>
            <a:r>
              <a:rPr lang="en-US" b="true" sz="5000">
                <a:solidFill>
                  <a:srgbClr val="104579"/>
                </a:solidFill>
                <a:latin typeface="Garet Bold"/>
                <a:ea typeface="Garet Bold"/>
                <a:cs typeface="Garet Bold"/>
                <a:sym typeface="Garet Bold"/>
              </a:rPr>
              <a:t>KẾT QUẢ</a:t>
            </a:r>
          </a:p>
        </p:txBody>
      </p:sp>
    </p:spTree>
  </p:cSld>
  <p:clrMapOvr>
    <a:masterClrMapping/>
  </p:clrMapOvr>
  <p:transition spd="fast">
    <p:fade/>
  </p:transition>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465874"/>
            <a:ext cx="19819639" cy="12900629"/>
            <a:chOff x="0" y="0"/>
            <a:chExt cx="26426185" cy="17200838"/>
          </a:xfrm>
        </p:grpSpPr>
        <p:sp>
          <p:nvSpPr>
            <p:cNvPr name="Freeform 3" id="3"/>
            <p:cNvSpPr/>
            <p:nvPr/>
          </p:nvSpPr>
          <p:spPr>
            <a:xfrm flipH="false" flipV="false" rot="0">
              <a:off x="0" y="1785165"/>
              <a:ext cx="24895049" cy="14191553"/>
            </a:xfrm>
            <a:custGeom>
              <a:avLst/>
              <a:gdLst/>
              <a:ahLst/>
              <a:cxnLst/>
              <a:rect r="r" b="b" t="t" l="l"/>
              <a:pathLst>
                <a:path h="14191553" w="24895049">
                  <a:moveTo>
                    <a:pt x="0" y="0"/>
                  </a:moveTo>
                  <a:lnTo>
                    <a:pt x="24895049" y="0"/>
                  </a:lnTo>
                  <a:lnTo>
                    <a:pt x="24895049" y="14191554"/>
                  </a:lnTo>
                  <a:lnTo>
                    <a:pt x="0" y="14191554"/>
                  </a:lnTo>
                  <a:lnTo>
                    <a:pt x="0" y="0"/>
                  </a:lnTo>
                  <a:close/>
                </a:path>
              </a:pathLst>
            </a:custGeom>
            <a:blipFill>
              <a:blip r:embed="rId2"/>
              <a:stretch>
                <a:fillRect l="-4939" t="-11172" r="-7311" b="0"/>
              </a:stretch>
            </a:blipFill>
          </p:spPr>
        </p:sp>
        <p:sp>
          <p:nvSpPr>
            <p:cNvPr name="Freeform 4" id="4"/>
            <p:cNvSpPr/>
            <p:nvPr/>
          </p:nvSpPr>
          <p:spPr>
            <a:xfrm flipH="true" flipV="false" rot="0">
              <a:off x="511049" y="1785165"/>
              <a:ext cx="13222020" cy="15415673"/>
            </a:xfrm>
            <a:custGeom>
              <a:avLst/>
              <a:gdLst/>
              <a:ahLst/>
              <a:cxnLst/>
              <a:rect r="r" b="b" t="t" l="l"/>
              <a:pathLst>
                <a:path h="15415673" w="13222020">
                  <a:moveTo>
                    <a:pt x="13222020" y="0"/>
                  </a:moveTo>
                  <a:lnTo>
                    <a:pt x="0" y="0"/>
                  </a:lnTo>
                  <a:lnTo>
                    <a:pt x="0" y="15415673"/>
                  </a:lnTo>
                  <a:lnTo>
                    <a:pt x="13222020" y="15415673"/>
                  </a:lnTo>
                  <a:lnTo>
                    <a:pt x="13222020" y="0"/>
                  </a:lnTo>
                  <a:close/>
                </a:path>
              </a:pathLst>
            </a:custGeom>
            <a:blipFill>
              <a:blip r:embed="rId3"/>
              <a:stretch>
                <a:fillRect l="-12500" t="0" r="-12499" b="0"/>
              </a:stretch>
            </a:blipFill>
          </p:spPr>
        </p:sp>
        <p:grpSp>
          <p:nvGrpSpPr>
            <p:cNvPr name="Group 5" id="5"/>
            <p:cNvGrpSpPr/>
            <p:nvPr/>
          </p:nvGrpSpPr>
          <p:grpSpPr>
            <a:xfrm rot="0">
              <a:off x="1882649" y="3156765"/>
              <a:ext cx="21324463" cy="10972800"/>
              <a:chOff x="0" y="0"/>
              <a:chExt cx="4212240" cy="2167467"/>
            </a:xfrm>
          </p:grpSpPr>
          <p:sp>
            <p:nvSpPr>
              <p:cNvPr name="Freeform 6" id="6"/>
              <p:cNvSpPr/>
              <p:nvPr/>
            </p:nvSpPr>
            <p:spPr>
              <a:xfrm flipH="false" flipV="false" rot="0">
                <a:off x="0" y="0"/>
                <a:ext cx="4212239" cy="2167467"/>
              </a:xfrm>
              <a:custGeom>
                <a:avLst/>
                <a:gdLst/>
                <a:ahLst/>
                <a:cxnLst/>
                <a:rect r="r" b="b" t="t" l="l"/>
                <a:pathLst>
                  <a:path h="2167467" w="4212239">
                    <a:moveTo>
                      <a:pt x="36789" y="0"/>
                    </a:moveTo>
                    <a:lnTo>
                      <a:pt x="4175450" y="0"/>
                    </a:lnTo>
                    <a:cubicBezTo>
                      <a:pt x="4185207" y="0"/>
                      <a:pt x="4194565" y="3876"/>
                      <a:pt x="4201464" y="10775"/>
                    </a:cubicBezTo>
                    <a:cubicBezTo>
                      <a:pt x="4208363" y="17675"/>
                      <a:pt x="4212239" y="27032"/>
                      <a:pt x="4212239" y="36789"/>
                    </a:cubicBezTo>
                    <a:lnTo>
                      <a:pt x="4212239" y="2130677"/>
                    </a:lnTo>
                    <a:cubicBezTo>
                      <a:pt x="4212239" y="2150996"/>
                      <a:pt x="4195768" y="2167467"/>
                      <a:pt x="4175450" y="2167467"/>
                    </a:cubicBezTo>
                    <a:lnTo>
                      <a:pt x="36789" y="2167467"/>
                    </a:lnTo>
                    <a:cubicBezTo>
                      <a:pt x="27032" y="2167467"/>
                      <a:pt x="17675" y="2163591"/>
                      <a:pt x="10775" y="2156691"/>
                    </a:cubicBezTo>
                    <a:cubicBezTo>
                      <a:pt x="3876" y="2149792"/>
                      <a:pt x="0" y="2140434"/>
                      <a:pt x="0" y="2130677"/>
                    </a:cubicBezTo>
                    <a:lnTo>
                      <a:pt x="0" y="36789"/>
                    </a:lnTo>
                    <a:cubicBezTo>
                      <a:pt x="0" y="27032"/>
                      <a:pt x="3876" y="17675"/>
                      <a:pt x="10775" y="10775"/>
                    </a:cubicBezTo>
                    <a:cubicBezTo>
                      <a:pt x="17675" y="3876"/>
                      <a:pt x="27032" y="0"/>
                      <a:pt x="36789" y="0"/>
                    </a:cubicBezTo>
                    <a:close/>
                  </a:path>
                </a:pathLst>
              </a:custGeom>
              <a:solidFill>
                <a:srgbClr val="FFFFFF">
                  <a:alpha val="60784"/>
                </a:srgbClr>
              </a:solidFill>
              <a:ln w="38100" cap="rnd">
                <a:solidFill>
                  <a:srgbClr val="2D8BBA">
                    <a:alpha val="60784"/>
                  </a:srgbClr>
                </a:solidFill>
                <a:prstDash val="solid"/>
                <a:round/>
              </a:ln>
            </p:spPr>
          </p:sp>
          <p:sp>
            <p:nvSpPr>
              <p:cNvPr name="TextBox 7" id="7"/>
              <p:cNvSpPr txBox="true"/>
              <p:nvPr/>
            </p:nvSpPr>
            <p:spPr>
              <a:xfrm>
                <a:off x="0" y="-47625"/>
                <a:ext cx="4212240" cy="2215092"/>
              </a:xfrm>
              <a:prstGeom prst="rect">
                <a:avLst/>
              </a:prstGeom>
            </p:spPr>
            <p:txBody>
              <a:bodyPr anchor="ctr" rtlCol="false" tIns="50800" lIns="50800" bIns="50800" rIns="50800"/>
              <a:lstStyle/>
              <a:p>
                <a:pPr algn="ctr">
                  <a:lnSpc>
                    <a:spcPts val="3525"/>
                  </a:lnSpc>
                </a:pPr>
              </a:p>
            </p:txBody>
          </p:sp>
        </p:grpSp>
        <p:sp>
          <p:nvSpPr>
            <p:cNvPr name="Freeform 8" id="8"/>
            <p:cNvSpPr/>
            <p:nvPr/>
          </p:nvSpPr>
          <p:spPr>
            <a:xfrm flipH="false" flipV="true" rot="0">
              <a:off x="13130838" y="0"/>
              <a:ext cx="13295346" cy="15501165"/>
            </a:xfrm>
            <a:custGeom>
              <a:avLst/>
              <a:gdLst/>
              <a:ahLst/>
              <a:cxnLst/>
              <a:rect r="r" b="b" t="t" l="l"/>
              <a:pathLst>
                <a:path h="15501165" w="13295346">
                  <a:moveTo>
                    <a:pt x="0" y="15501165"/>
                  </a:moveTo>
                  <a:lnTo>
                    <a:pt x="13295347" y="15501165"/>
                  </a:lnTo>
                  <a:lnTo>
                    <a:pt x="13295347" y="0"/>
                  </a:lnTo>
                  <a:lnTo>
                    <a:pt x="0" y="0"/>
                  </a:lnTo>
                  <a:lnTo>
                    <a:pt x="0" y="15501165"/>
                  </a:lnTo>
                  <a:close/>
                </a:path>
              </a:pathLst>
            </a:custGeom>
            <a:blipFill>
              <a:blip r:embed="rId3"/>
              <a:stretch>
                <a:fillRect l="-12500" t="0" r="-12499" b="0"/>
              </a:stretch>
            </a:blipFill>
          </p:spPr>
        </p:sp>
      </p:grpSp>
      <p:sp>
        <p:nvSpPr>
          <p:cNvPr name="Freeform 9" id="9"/>
          <p:cNvSpPr/>
          <p:nvPr/>
        </p:nvSpPr>
        <p:spPr>
          <a:xfrm flipH="false" flipV="false" rot="0">
            <a:off x="1954473" y="2513473"/>
            <a:ext cx="8175223" cy="2470968"/>
          </a:xfrm>
          <a:custGeom>
            <a:avLst/>
            <a:gdLst/>
            <a:ahLst/>
            <a:cxnLst/>
            <a:rect r="r" b="b" t="t" l="l"/>
            <a:pathLst>
              <a:path h="2470968" w="8175223">
                <a:moveTo>
                  <a:pt x="0" y="0"/>
                </a:moveTo>
                <a:lnTo>
                  <a:pt x="8175223" y="0"/>
                </a:lnTo>
                <a:lnTo>
                  <a:pt x="8175223" y="2470967"/>
                </a:lnTo>
                <a:lnTo>
                  <a:pt x="0" y="2470967"/>
                </a:lnTo>
                <a:lnTo>
                  <a:pt x="0" y="0"/>
                </a:lnTo>
                <a:close/>
              </a:path>
            </a:pathLst>
          </a:custGeom>
          <a:blipFill>
            <a:blip r:embed="rId4"/>
            <a:stretch>
              <a:fillRect l="0" t="0" r="0" b="0"/>
            </a:stretch>
          </a:blipFill>
        </p:spPr>
      </p:sp>
      <p:sp>
        <p:nvSpPr>
          <p:cNvPr name="Freeform 10" id="10"/>
          <p:cNvSpPr/>
          <p:nvPr/>
        </p:nvSpPr>
        <p:spPr>
          <a:xfrm flipH="false" flipV="false" rot="0">
            <a:off x="10441658" y="2507017"/>
            <a:ext cx="6548683" cy="5272966"/>
          </a:xfrm>
          <a:custGeom>
            <a:avLst/>
            <a:gdLst/>
            <a:ahLst/>
            <a:cxnLst/>
            <a:rect r="r" b="b" t="t" l="l"/>
            <a:pathLst>
              <a:path h="5272966" w="6548683">
                <a:moveTo>
                  <a:pt x="0" y="0"/>
                </a:moveTo>
                <a:lnTo>
                  <a:pt x="6548684" y="0"/>
                </a:lnTo>
                <a:lnTo>
                  <a:pt x="6548684" y="5272966"/>
                </a:lnTo>
                <a:lnTo>
                  <a:pt x="0" y="5272966"/>
                </a:lnTo>
                <a:lnTo>
                  <a:pt x="0" y="0"/>
                </a:lnTo>
                <a:close/>
              </a:path>
            </a:pathLst>
          </a:custGeom>
          <a:blipFill>
            <a:blip r:embed="rId5"/>
            <a:stretch>
              <a:fillRect l="0" t="0" r="0" b="0"/>
            </a:stretch>
          </a:blipFill>
        </p:spPr>
      </p:sp>
      <p:sp>
        <p:nvSpPr>
          <p:cNvPr name="TextBox 11" id="11"/>
          <p:cNvSpPr txBox="true"/>
          <p:nvPr/>
        </p:nvSpPr>
        <p:spPr>
          <a:xfrm rot="0">
            <a:off x="7581252" y="9360313"/>
            <a:ext cx="3074441" cy="570402"/>
          </a:xfrm>
          <a:prstGeom prst="rect">
            <a:avLst/>
          </a:prstGeom>
        </p:spPr>
        <p:txBody>
          <a:bodyPr anchor="t" rtlCol="false" tIns="0" lIns="0" bIns="0" rIns="0">
            <a:spAutoFit/>
          </a:bodyPr>
          <a:lstStyle/>
          <a:p>
            <a:pPr algn="ctr">
              <a:lnSpc>
                <a:spcPts val="4785"/>
              </a:lnSpc>
              <a:spcBef>
                <a:spcPct val="0"/>
              </a:spcBef>
            </a:pPr>
            <a:r>
              <a:rPr lang="en-US" b="true" sz="3418">
                <a:solidFill>
                  <a:srgbClr val="104579"/>
                </a:solidFill>
                <a:latin typeface="Amaranth Bold"/>
                <a:ea typeface="Amaranth Bold"/>
                <a:cs typeface="Amaranth Bold"/>
                <a:sym typeface="Amaranth Bold"/>
              </a:rPr>
              <a:t>19</a:t>
            </a:r>
          </a:p>
        </p:txBody>
      </p:sp>
      <p:sp>
        <p:nvSpPr>
          <p:cNvPr name="TextBox 12" id="12"/>
          <p:cNvSpPr txBox="true"/>
          <p:nvPr/>
        </p:nvSpPr>
        <p:spPr>
          <a:xfrm rot="0">
            <a:off x="10129696" y="8008583"/>
            <a:ext cx="7183683" cy="417366"/>
          </a:xfrm>
          <a:prstGeom prst="rect">
            <a:avLst/>
          </a:prstGeom>
        </p:spPr>
        <p:txBody>
          <a:bodyPr anchor="t" rtlCol="false" tIns="0" lIns="0" bIns="0" rIns="0">
            <a:spAutoFit/>
          </a:bodyPr>
          <a:lstStyle/>
          <a:p>
            <a:pPr algn="ctr">
              <a:lnSpc>
                <a:spcPts val="3245"/>
              </a:lnSpc>
              <a:spcBef>
                <a:spcPct val="0"/>
              </a:spcBef>
            </a:pPr>
            <a:r>
              <a:rPr lang="en-US" b="true" sz="2318" i="true">
                <a:solidFill>
                  <a:srgbClr val="104579"/>
                </a:solidFill>
                <a:latin typeface="Arimo Bold Italics"/>
                <a:ea typeface="Arimo Bold Italics"/>
                <a:cs typeface="Arimo Bold Italics"/>
                <a:sym typeface="Arimo Bold Italics"/>
              </a:rPr>
              <a:t>Kết quả dự đoán mô hình CNN_LSTM 24 tiếng</a:t>
            </a:r>
          </a:p>
        </p:txBody>
      </p:sp>
      <p:sp>
        <p:nvSpPr>
          <p:cNvPr name="TextBox 13" id="13"/>
          <p:cNvSpPr txBox="true"/>
          <p:nvPr/>
        </p:nvSpPr>
        <p:spPr>
          <a:xfrm rot="0">
            <a:off x="2132809" y="5086350"/>
            <a:ext cx="7797959" cy="391331"/>
          </a:xfrm>
          <a:prstGeom prst="rect">
            <a:avLst/>
          </a:prstGeom>
        </p:spPr>
        <p:txBody>
          <a:bodyPr anchor="t" rtlCol="false" tIns="0" lIns="0" bIns="0" rIns="0">
            <a:spAutoFit/>
          </a:bodyPr>
          <a:lstStyle/>
          <a:p>
            <a:pPr algn="ctr">
              <a:lnSpc>
                <a:spcPts val="3105"/>
              </a:lnSpc>
              <a:spcBef>
                <a:spcPct val="0"/>
              </a:spcBef>
            </a:pPr>
            <a:r>
              <a:rPr lang="en-US" b="true" sz="2218" i="true">
                <a:solidFill>
                  <a:srgbClr val="104579"/>
                </a:solidFill>
                <a:latin typeface="Arimo Bold Italics"/>
                <a:ea typeface="Arimo Bold Italics"/>
                <a:cs typeface="Arimo Bold Italics"/>
                <a:sym typeface="Arimo Bold Italics"/>
              </a:rPr>
              <a:t>Báo cáo phân loại chỉ số AQI mô hình CNN_LSTM 24 tiếng</a:t>
            </a:r>
          </a:p>
        </p:txBody>
      </p:sp>
      <p:sp>
        <p:nvSpPr>
          <p:cNvPr name="TextBox 14" id="14"/>
          <p:cNvSpPr txBox="true"/>
          <p:nvPr/>
        </p:nvSpPr>
        <p:spPr>
          <a:xfrm rot="0">
            <a:off x="1954473" y="5811397"/>
            <a:ext cx="7904361" cy="2138851"/>
          </a:xfrm>
          <a:prstGeom prst="rect">
            <a:avLst/>
          </a:prstGeom>
        </p:spPr>
        <p:txBody>
          <a:bodyPr anchor="t" rtlCol="false" tIns="0" lIns="0" bIns="0" rIns="0">
            <a:spAutoFit/>
          </a:bodyPr>
          <a:lstStyle/>
          <a:p>
            <a:pPr algn="just">
              <a:lnSpc>
                <a:spcPts val="3385"/>
              </a:lnSpc>
              <a:spcBef>
                <a:spcPct val="0"/>
              </a:spcBef>
            </a:pPr>
            <a:r>
              <a:rPr lang="en-US" sz="2418">
                <a:solidFill>
                  <a:srgbClr val="104579"/>
                </a:solidFill>
                <a:latin typeface="Arimo"/>
                <a:ea typeface="Arimo"/>
                <a:cs typeface="Arimo"/>
                <a:sym typeface="Arimo"/>
              </a:rPr>
              <a:t>Khác hẳn với xu hướng thường thấy (hiệu suất giảm khi dự báo xa hơn), mô hình CNN_LSTM 24 tiếng lại cho kết quả tốt nhất trong ba khoảng thời gian. Sự cải thiện này có thể xuất phát từ việc mô hình học được các xu hướng dài hạn ổn định hơn của dữ liệu AQI.</a:t>
            </a:r>
          </a:p>
        </p:txBody>
      </p:sp>
      <p:sp>
        <p:nvSpPr>
          <p:cNvPr name="TextBox 15" id="15"/>
          <p:cNvSpPr txBox="true"/>
          <p:nvPr/>
        </p:nvSpPr>
        <p:spPr>
          <a:xfrm rot="0">
            <a:off x="3349735" y="1120091"/>
            <a:ext cx="11665167" cy="863600"/>
          </a:xfrm>
          <a:prstGeom prst="rect">
            <a:avLst/>
          </a:prstGeom>
        </p:spPr>
        <p:txBody>
          <a:bodyPr anchor="t" rtlCol="false" tIns="0" lIns="0" bIns="0" rIns="0">
            <a:spAutoFit/>
          </a:bodyPr>
          <a:lstStyle/>
          <a:p>
            <a:pPr algn="ctr">
              <a:lnSpc>
                <a:spcPts val="7000"/>
              </a:lnSpc>
              <a:spcBef>
                <a:spcPct val="0"/>
              </a:spcBef>
            </a:pPr>
            <a:r>
              <a:rPr lang="en-US" b="true" sz="5000">
                <a:solidFill>
                  <a:srgbClr val="104579"/>
                </a:solidFill>
                <a:latin typeface="Garet Bold"/>
                <a:ea typeface="Garet Bold"/>
                <a:cs typeface="Garet Bold"/>
                <a:sym typeface="Garet Bold"/>
              </a:rPr>
              <a:t>KẾT QUẢ</a:t>
            </a:r>
          </a:p>
        </p:txBody>
      </p:sp>
    </p:spTree>
  </p:cSld>
  <p:clrMapOvr>
    <a:masterClrMapping/>
  </p:clrMapOvr>
  <p:transition spd="fast">
    <p:fade/>
  </p:transition>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383287" y="-1338874"/>
            <a:ext cx="19819639" cy="12900629"/>
            <a:chOff x="0" y="0"/>
            <a:chExt cx="26426185" cy="17200838"/>
          </a:xfrm>
        </p:grpSpPr>
        <p:sp>
          <p:nvSpPr>
            <p:cNvPr name="Freeform 3" id="3"/>
            <p:cNvSpPr/>
            <p:nvPr/>
          </p:nvSpPr>
          <p:spPr>
            <a:xfrm flipH="false" flipV="false" rot="0">
              <a:off x="0" y="1785165"/>
              <a:ext cx="24895049" cy="14191553"/>
            </a:xfrm>
            <a:custGeom>
              <a:avLst/>
              <a:gdLst/>
              <a:ahLst/>
              <a:cxnLst/>
              <a:rect r="r" b="b" t="t" l="l"/>
              <a:pathLst>
                <a:path h="14191553" w="24895049">
                  <a:moveTo>
                    <a:pt x="0" y="0"/>
                  </a:moveTo>
                  <a:lnTo>
                    <a:pt x="24895049" y="0"/>
                  </a:lnTo>
                  <a:lnTo>
                    <a:pt x="24895049" y="14191554"/>
                  </a:lnTo>
                  <a:lnTo>
                    <a:pt x="0" y="14191554"/>
                  </a:lnTo>
                  <a:lnTo>
                    <a:pt x="0" y="0"/>
                  </a:lnTo>
                  <a:close/>
                </a:path>
              </a:pathLst>
            </a:custGeom>
            <a:blipFill>
              <a:blip r:embed="rId2"/>
              <a:stretch>
                <a:fillRect l="-4939" t="-11172" r="-7311" b="0"/>
              </a:stretch>
            </a:blipFill>
          </p:spPr>
        </p:sp>
        <p:sp>
          <p:nvSpPr>
            <p:cNvPr name="Freeform 4" id="4"/>
            <p:cNvSpPr/>
            <p:nvPr/>
          </p:nvSpPr>
          <p:spPr>
            <a:xfrm flipH="true" flipV="false" rot="0">
              <a:off x="511049" y="1785165"/>
              <a:ext cx="13222020" cy="15415673"/>
            </a:xfrm>
            <a:custGeom>
              <a:avLst/>
              <a:gdLst/>
              <a:ahLst/>
              <a:cxnLst/>
              <a:rect r="r" b="b" t="t" l="l"/>
              <a:pathLst>
                <a:path h="15415673" w="13222020">
                  <a:moveTo>
                    <a:pt x="13222020" y="0"/>
                  </a:moveTo>
                  <a:lnTo>
                    <a:pt x="0" y="0"/>
                  </a:lnTo>
                  <a:lnTo>
                    <a:pt x="0" y="15415673"/>
                  </a:lnTo>
                  <a:lnTo>
                    <a:pt x="13222020" y="15415673"/>
                  </a:lnTo>
                  <a:lnTo>
                    <a:pt x="13222020" y="0"/>
                  </a:lnTo>
                  <a:close/>
                </a:path>
              </a:pathLst>
            </a:custGeom>
            <a:blipFill>
              <a:blip r:embed="rId3"/>
              <a:stretch>
                <a:fillRect l="-12500" t="0" r="-12499" b="0"/>
              </a:stretch>
            </a:blipFill>
          </p:spPr>
        </p:sp>
        <p:grpSp>
          <p:nvGrpSpPr>
            <p:cNvPr name="Group 5" id="5"/>
            <p:cNvGrpSpPr/>
            <p:nvPr/>
          </p:nvGrpSpPr>
          <p:grpSpPr>
            <a:xfrm rot="0">
              <a:off x="1882649" y="3156765"/>
              <a:ext cx="21324463" cy="10972800"/>
              <a:chOff x="0" y="0"/>
              <a:chExt cx="4212240" cy="2167467"/>
            </a:xfrm>
          </p:grpSpPr>
          <p:sp>
            <p:nvSpPr>
              <p:cNvPr name="Freeform 6" id="6"/>
              <p:cNvSpPr/>
              <p:nvPr/>
            </p:nvSpPr>
            <p:spPr>
              <a:xfrm flipH="false" flipV="false" rot="0">
                <a:off x="0" y="0"/>
                <a:ext cx="4212239" cy="2167467"/>
              </a:xfrm>
              <a:custGeom>
                <a:avLst/>
                <a:gdLst/>
                <a:ahLst/>
                <a:cxnLst/>
                <a:rect r="r" b="b" t="t" l="l"/>
                <a:pathLst>
                  <a:path h="2167467" w="4212239">
                    <a:moveTo>
                      <a:pt x="36789" y="0"/>
                    </a:moveTo>
                    <a:lnTo>
                      <a:pt x="4175450" y="0"/>
                    </a:lnTo>
                    <a:cubicBezTo>
                      <a:pt x="4185207" y="0"/>
                      <a:pt x="4194565" y="3876"/>
                      <a:pt x="4201464" y="10775"/>
                    </a:cubicBezTo>
                    <a:cubicBezTo>
                      <a:pt x="4208363" y="17675"/>
                      <a:pt x="4212239" y="27032"/>
                      <a:pt x="4212239" y="36789"/>
                    </a:cubicBezTo>
                    <a:lnTo>
                      <a:pt x="4212239" y="2130677"/>
                    </a:lnTo>
                    <a:cubicBezTo>
                      <a:pt x="4212239" y="2150996"/>
                      <a:pt x="4195768" y="2167467"/>
                      <a:pt x="4175450" y="2167467"/>
                    </a:cubicBezTo>
                    <a:lnTo>
                      <a:pt x="36789" y="2167467"/>
                    </a:lnTo>
                    <a:cubicBezTo>
                      <a:pt x="27032" y="2167467"/>
                      <a:pt x="17675" y="2163591"/>
                      <a:pt x="10775" y="2156691"/>
                    </a:cubicBezTo>
                    <a:cubicBezTo>
                      <a:pt x="3876" y="2149792"/>
                      <a:pt x="0" y="2140434"/>
                      <a:pt x="0" y="2130677"/>
                    </a:cubicBezTo>
                    <a:lnTo>
                      <a:pt x="0" y="36789"/>
                    </a:lnTo>
                    <a:cubicBezTo>
                      <a:pt x="0" y="27032"/>
                      <a:pt x="3876" y="17675"/>
                      <a:pt x="10775" y="10775"/>
                    </a:cubicBezTo>
                    <a:cubicBezTo>
                      <a:pt x="17675" y="3876"/>
                      <a:pt x="27032" y="0"/>
                      <a:pt x="36789" y="0"/>
                    </a:cubicBezTo>
                    <a:close/>
                  </a:path>
                </a:pathLst>
              </a:custGeom>
              <a:solidFill>
                <a:srgbClr val="FFFFFF">
                  <a:alpha val="60784"/>
                </a:srgbClr>
              </a:solidFill>
              <a:ln w="38100" cap="rnd">
                <a:solidFill>
                  <a:srgbClr val="2D8BBA">
                    <a:alpha val="60784"/>
                  </a:srgbClr>
                </a:solidFill>
                <a:prstDash val="solid"/>
                <a:round/>
              </a:ln>
            </p:spPr>
          </p:sp>
          <p:sp>
            <p:nvSpPr>
              <p:cNvPr name="TextBox 7" id="7"/>
              <p:cNvSpPr txBox="true"/>
              <p:nvPr/>
            </p:nvSpPr>
            <p:spPr>
              <a:xfrm>
                <a:off x="0" y="-47625"/>
                <a:ext cx="4212240" cy="2215092"/>
              </a:xfrm>
              <a:prstGeom prst="rect">
                <a:avLst/>
              </a:prstGeom>
            </p:spPr>
            <p:txBody>
              <a:bodyPr anchor="ctr" rtlCol="false" tIns="50800" lIns="50800" bIns="50800" rIns="50800"/>
              <a:lstStyle/>
              <a:p>
                <a:pPr algn="ctr">
                  <a:lnSpc>
                    <a:spcPts val="3525"/>
                  </a:lnSpc>
                </a:pPr>
              </a:p>
            </p:txBody>
          </p:sp>
        </p:grpSp>
        <p:sp>
          <p:nvSpPr>
            <p:cNvPr name="Freeform 8" id="8"/>
            <p:cNvSpPr/>
            <p:nvPr/>
          </p:nvSpPr>
          <p:spPr>
            <a:xfrm flipH="false" flipV="true" rot="0">
              <a:off x="13130838" y="0"/>
              <a:ext cx="13295346" cy="15501165"/>
            </a:xfrm>
            <a:custGeom>
              <a:avLst/>
              <a:gdLst/>
              <a:ahLst/>
              <a:cxnLst/>
              <a:rect r="r" b="b" t="t" l="l"/>
              <a:pathLst>
                <a:path h="15501165" w="13295346">
                  <a:moveTo>
                    <a:pt x="0" y="15501165"/>
                  </a:moveTo>
                  <a:lnTo>
                    <a:pt x="13295347" y="15501165"/>
                  </a:lnTo>
                  <a:lnTo>
                    <a:pt x="13295347" y="0"/>
                  </a:lnTo>
                  <a:lnTo>
                    <a:pt x="0" y="0"/>
                  </a:lnTo>
                  <a:lnTo>
                    <a:pt x="0" y="15501165"/>
                  </a:lnTo>
                  <a:close/>
                </a:path>
              </a:pathLst>
            </a:custGeom>
            <a:blipFill>
              <a:blip r:embed="rId3"/>
              <a:stretch>
                <a:fillRect l="-12500" t="0" r="-12499" b="0"/>
              </a:stretch>
            </a:blipFill>
          </p:spPr>
        </p:sp>
      </p:grpSp>
      <p:sp>
        <p:nvSpPr>
          <p:cNvPr name="TextBox 9" id="9"/>
          <p:cNvSpPr txBox="true"/>
          <p:nvPr/>
        </p:nvSpPr>
        <p:spPr>
          <a:xfrm rot="0">
            <a:off x="1686082" y="4590740"/>
            <a:ext cx="15085170" cy="936625"/>
          </a:xfrm>
          <a:prstGeom prst="rect">
            <a:avLst/>
          </a:prstGeom>
        </p:spPr>
        <p:txBody>
          <a:bodyPr anchor="t" rtlCol="false" tIns="0" lIns="0" bIns="0" rIns="0">
            <a:spAutoFit/>
          </a:bodyPr>
          <a:lstStyle/>
          <a:p>
            <a:pPr algn="ctr">
              <a:lnSpc>
                <a:spcPts val="7699"/>
              </a:lnSpc>
              <a:spcBef>
                <a:spcPct val="0"/>
              </a:spcBef>
            </a:pPr>
            <a:r>
              <a:rPr lang="en-US" b="true" sz="5499">
                <a:solidFill>
                  <a:srgbClr val="104579"/>
                </a:solidFill>
                <a:latin typeface="Garet Bold"/>
                <a:ea typeface="Garet Bold"/>
                <a:cs typeface="Garet Bold"/>
                <a:sym typeface="Garet Bold"/>
              </a:rPr>
              <a:t>PHẦN 5. KẾT LUẬN VÀ HƯỚNG PHÁT TRIỂN</a:t>
            </a:r>
          </a:p>
        </p:txBody>
      </p:sp>
    </p:spTree>
  </p:cSld>
  <p:clrMapOvr>
    <a:masterClrMapping/>
  </p:clrMapOvr>
  <p:transition spd="fast">
    <p:fade/>
  </p:transition>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465874"/>
            <a:ext cx="19819639" cy="12900629"/>
            <a:chOff x="0" y="0"/>
            <a:chExt cx="26426185" cy="17200838"/>
          </a:xfrm>
        </p:grpSpPr>
        <p:sp>
          <p:nvSpPr>
            <p:cNvPr name="Freeform 3" id="3"/>
            <p:cNvSpPr/>
            <p:nvPr/>
          </p:nvSpPr>
          <p:spPr>
            <a:xfrm flipH="false" flipV="false" rot="0">
              <a:off x="0" y="1785165"/>
              <a:ext cx="24895049" cy="14191553"/>
            </a:xfrm>
            <a:custGeom>
              <a:avLst/>
              <a:gdLst/>
              <a:ahLst/>
              <a:cxnLst/>
              <a:rect r="r" b="b" t="t" l="l"/>
              <a:pathLst>
                <a:path h="14191553" w="24895049">
                  <a:moveTo>
                    <a:pt x="0" y="0"/>
                  </a:moveTo>
                  <a:lnTo>
                    <a:pt x="24895049" y="0"/>
                  </a:lnTo>
                  <a:lnTo>
                    <a:pt x="24895049" y="14191554"/>
                  </a:lnTo>
                  <a:lnTo>
                    <a:pt x="0" y="14191554"/>
                  </a:lnTo>
                  <a:lnTo>
                    <a:pt x="0" y="0"/>
                  </a:lnTo>
                  <a:close/>
                </a:path>
              </a:pathLst>
            </a:custGeom>
            <a:blipFill>
              <a:blip r:embed="rId2"/>
              <a:stretch>
                <a:fillRect l="-4939" t="-11172" r="-7311" b="0"/>
              </a:stretch>
            </a:blipFill>
          </p:spPr>
        </p:sp>
        <p:sp>
          <p:nvSpPr>
            <p:cNvPr name="Freeform 4" id="4"/>
            <p:cNvSpPr/>
            <p:nvPr/>
          </p:nvSpPr>
          <p:spPr>
            <a:xfrm flipH="true" flipV="false" rot="0">
              <a:off x="511049" y="1785165"/>
              <a:ext cx="13222020" cy="15415673"/>
            </a:xfrm>
            <a:custGeom>
              <a:avLst/>
              <a:gdLst/>
              <a:ahLst/>
              <a:cxnLst/>
              <a:rect r="r" b="b" t="t" l="l"/>
              <a:pathLst>
                <a:path h="15415673" w="13222020">
                  <a:moveTo>
                    <a:pt x="13222020" y="0"/>
                  </a:moveTo>
                  <a:lnTo>
                    <a:pt x="0" y="0"/>
                  </a:lnTo>
                  <a:lnTo>
                    <a:pt x="0" y="15415673"/>
                  </a:lnTo>
                  <a:lnTo>
                    <a:pt x="13222020" y="15415673"/>
                  </a:lnTo>
                  <a:lnTo>
                    <a:pt x="13222020" y="0"/>
                  </a:lnTo>
                  <a:close/>
                </a:path>
              </a:pathLst>
            </a:custGeom>
            <a:blipFill>
              <a:blip r:embed="rId3"/>
              <a:stretch>
                <a:fillRect l="-12500" t="0" r="-12499" b="0"/>
              </a:stretch>
            </a:blipFill>
          </p:spPr>
        </p:sp>
        <p:grpSp>
          <p:nvGrpSpPr>
            <p:cNvPr name="Group 5" id="5"/>
            <p:cNvGrpSpPr/>
            <p:nvPr/>
          </p:nvGrpSpPr>
          <p:grpSpPr>
            <a:xfrm rot="0">
              <a:off x="1882649" y="3156765"/>
              <a:ext cx="21324463" cy="10972800"/>
              <a:chOff x="0" y="0"/>
              <a:chExt cx="4212240" cy="2167467"/>
            </a:xfrm>
          </p:grpSpPr>
          <p:sp>
            <p:nvSpPr>
              <p:cNvPr name="Freeform 6" id="6"/>
              <p:cNvSpPr/>
              <p:nvPr/>
            </p:nvSpPr>
            <p:spPr>
              <a:xfrm flipH="false" flipV="false" rot="0">
                <a:off x="0" y="0"/>
                <a:ext cx="4212239" cy="2167467"/>
              </a:xfrm>
              <a:custGeom>
                <a:avLst/>
                <a:gdLst/>
                <a:ahLst/>
                <a:cxnLst/>
                <a:rect r="r" b="b" t="t" l="l"/>
                <a:pathLst>
                  <a:path h="2167467" w="4212239">
                    <a:moveTo>
                      <a:pt x="36789" y="0"/>
                    </a:moveTo>
                    <a:lnTo>
                      <a:pt x="4175450" y="0"/>
                    </a:lnTo>
                    <a:cubicBezTo>
                      <a:pt x="4185207" y="0"/>
                      <a:pt x="4194565" y="3876"/>
                      <a:pt x="4201464" y="10775"/>
                    </a:cubicBezTo>
                    <a:cubicBezTo>
                      <a:pt x="4208363" y="17675"/>
                      <a:pt x="4212239" y="27032"/>
                      <a:pt x="4212239" y="36789"/>
                    </a:cubicBezTo>
                    <a:lnTo>
                      <a:pt x="4212239" y="2130677"/>
                    </a:lnTo>
                    <a:cubicBezTo>
                      <a:pt x="4212239" y="2150996"/>
                      <a:pt x="4195768" y="2167467"/>
                      <a:pt x="4175450" y="2167467"/>
                    </a:cubicBezTo>
                    <a:lnTo>
                      <a:pt x="36789" y="2167467"/>
                    </a:lnTo>
                    <a:cubicBezTo>
                      <a:pt x="27032" y="2167467"/>
                      <a:pt x="17675" y="2163591"/>
                      <a:pt x="10775" y="2156691"/>
                    </a:cubicBezTo>
                    <a:cubicBezTo>
                      <a:pt x="3876" y="2149792"/>
                      <a:pt x="0" y="2140434"/>
                      <a:pt x="0" y="2130677"/>
                    </a:cubicBezTo>
                    <a:lnTo>
                      <a:pt x="0" y="36789"/>
                    </a:lnTo>
                    <a:cubicBezTo>
                      <a:pt x="0" y="27032"/>
                      <a:pt x="3876" y="17675"/>
                      <a:pt x="10775" y="10775"/>
                    </a:cubicBezTo>
                    <a:cubicBezTo>
                      <a:pt x="17675" y="3876"/>
                      <a:pt x="27032" y="0"/>
                      <a:pt x="36789" y="0"/>
                    </a:cubicBezTo>
                    <a:close/>
                  </a:path>
                </a:pathLst>
              </a:custGeom>
              <a:solidFill>
                <a:srgbClr val="FFFFFF">
                  <a:alpha val="60784"/>
                </a:srgbClr>
              </a:solidFill>
              <a:ln w="38100" cap="rnd">
                <a:solidFill>
                  <a:srgbClr val="2D8BBA">
                    <a:alpha val="60784"/>
                  </a:srgbClr>
                </a:solidFill>
                <a:prstDash val="solid"/>
                <a:round/>
              </a:ln>
            </p:spPr>
          </p:sp>
          <p:sp>
            <p:nvSpPr>
              <p:cNvPr name="TextBox 7" id="7"/>
              <p:cNvSpPr txBox="true"/>
              <p:nvPr/>
            </p:nvSpPr>
            <p:spPr>
              <a:xfrm>
                <a:off x="0" y="-47625"/>
                <a:ext cx="4212240" cy="2215092"/>
              </a:xfrm>
              <a:prstGeom prst="rect">
                <a:avLst/>
              </a:prstGeom>
            </p:spPr>
            <p:txBody>
              <a:bodyPr anchor="ctr" rtlCol="false" tIns="50800" lIns="50800" bIns="50800" rIns="50800"/>
              <a:lstStyle/>
              <a:p>
                <a:pPr algn="ctr">
                  <a:lnSpc>
                    <a:spcPts val="3525"/>
                  </a:lnSpc>
                </a:pPr>
              </a:p>
            </p:txBody>
          </p:sp>
        </p:grpSp>
        <p:sp>
          <p:nvSpPr>
            <p:cNvPr name="Freeform 8" id="8"/>
            <p:cNvSpPr/>
            <p:nvPr/>
          </p:nvSpPr>
          <p:spPr>
            <a:xfrm flipH="false" flipV="true" rot="0">
              <a:off x="13130838" y="0"/>
              <a:ext cx="13295346" cy="15501165"/>
            </a:xfrm>
            <a:custGeom>
              <a:avLst/>
              <a:gdLst/>
              <a:ahLst/>
              <a:cxnLst/>
              <a:rect r="r" b="b" t="t" l="l"/>
              <a:pathLst>
                <a:path h="15501165" w="13295346">
                  <a:moveTo>
                    <a:pt x="0" y="15501165"/>
                  </a:moveTo>
                  <a:lnTo>
                    <a:pt x="13295347" y="15501165"/>
                  </a:lnTo>
                  <a:lnTo>
                    <a:pt x="13295347" y="0"/>
                  </a:lnTo>
                  <a:lnTo>
                    <a:pt x="0" y="0"/>
                  </a:lnTo>
                  <a:lnTo>
                    <a:pt x="0" y="15501165"/>
                  </a:lnTo>
                  <a:close/>
                </a:path>
              </a:pathLst>
            </a:custGeom>
            <a:blipFill>
              <a:blip r:embed="rId3"/>
              <a:stretch>
                <a:fillRect l="-12500" t="0" r="-12499" b="0"/>
              </a:stretch>
            </a:blipFill>
          </p:spPr>
        </p:sp>
      </p:grpSp>
      <p:sp>
        <p:nvSpPr>
          <p:cNvPr name="TextBox 9" id="9"/>
          <p:cNvSpPr txBox="true"/>
          <p:nvPr/>
        </p:nvSpPr>
        <p:spPr>
          <a:xfrm rot="0">
            <a:off x="7581252" y="9360313"/>
            <a:ext cx="3074441" cy="570402"/>
          </a:xfrm>
          <a:prstGeom prst="rect">
            <a:avLst/>
          </a:prstGeom>
        </p:spPr>
        <p:txBody>
          <a:bodyPr anchor="t" rtlCol="false" tIns="0" lIns="0" bIns="0" rIns="0">
            <a:spAutoFit/>
          </a:bodyPr>
          <a:lstStyle/>
          <a:p>
            <a:pPr algn="ctr">
              <a:lnSpc>
                <a:spcPts val="4785"/>
              </a:lnSpc>
              <a:spcBef>
                <a:spcPct val="0"/>
              </a:spcBef>
            </a:pPr>
            <a:r>
              <a:rPr lang="en-US" b="true" sz="3418">
                <a:solidFill>
                  <a:srgbClr val="104579"/>
                </a:solidFill>
                <a:latin typeface="Amaranth Bold"/>
                <a:ea typeface="Amaranth Bold"/>
                <a:cs typeface="Amaranth Bold"/>
                <a:sym typeface="Amaranth Bold"/>
              </a:rPr>
              <a:t>20</a:t>
            </a:r>
          </a:p>
        </p:txBody>
      </p:sp>
      <p:sp>
        <p:nvSpPr>
          <p:cNvPr name="TextBox 10" id="10"/>
          <p:cNvSpPr txBox="true"/>
          <p:nvPr/>
        </p:nvSpPr>
        <p:spPr>
          <a:xfrm rot="0">
            <a:off x="2236292" y="2561512"/>
            <a:ext cx="14360292" cy="5722157"/>
          </a:xfrm>
          <a:prstGeom prst="rect">
            <a:avLst/>
          </a:prstGeom>
        </p:spPr>
        <p:txBody>
          <a:bodyPr anchor="t" rtlCol="false" tIns="0" lIns="0" bIns="0" rIns="0">
            <a:spAutoFit/>
          </a:bodyPr>
          <a:lstStyle/>
          <a:p>
            <a:pPr algn="just" marL="586871" indent="-293436" lvl="1">
              <a:lnSpc>
                <a:spcPts val="3805"/>
              </a:lnSpc>
              <a:buFont typeface="Arial"/>
              <a:buChar char="•"/>
            </a:pPr>
            <a:r>
              <a:rPr lang="en-US" sz="2718">
                <a:solidFill>
                  <a:srgbClr val="104579"/>
                </a:solidFill>
                <a:latin typeface="Arimo"/>
                <a:ea typeface="Arimo"/>
                <a:cs typeface="Arimo"/>
                <a:sym typeface="Arimo"/>
              </a:rPr>
              <a:t>Xây dựng thành công hệ thống dự báo chất lượng không khí tại TP. Hồ Chí Minh dựa trên dữ liệu khí tượng và PM2.5 giai đoạn 2018–2023.</a:t>
            </a:r>
          </a:p>
          <a:p>
            <a:pPr algn="just" marL="586871" indent="-293436" lvl="1">
              <a:lnSpc>
                <a:spcPts val="3805"/>
              </a:lnSpc>
              <a:buFont typeface="Arial"/>
              <a:buChar char="•"/>
            </a:pPr>
            <a:r>
              <a:rPr lang="en-US" sz="2718">
                <a:solidFill>
                  <a:srgbClr val="104579"/>
                </a:solidFill>
                <a:latin typeface="Arimo"/>
                <a:ea typeface="Arimo"/>
                <a:cs typeface="Arimo"/>
                <a:sym typeface="Arimo"/>
              </a:rPr>
              <a:t>Thực hiện dự báo AQI dưới hai dạng:</a:t>
            </a:r>
          </a:p>
          <a:p>
            <a:pPr algn="just" marL="1173743" indent="-391248" lvl="2">
              <a:lnSpc>
                <a:spcPts val="3805"/>
              </a:lnSpc>
              <a:buFont typeface="Arial"/>
              <a:buChar char="⚬"/>
            </a:pPr>
            <a:r>
              <a:rPr lang="en-US" sz="2718">
                <a:solidFill>
                  <a:srgbClr val="104579"/>
                </a:solidFill>
                <a:latin typeface="Arimo"/>
                <a:ea typeface="Arimo"/>
                <a:cs typeface="Arimo"/>
                <a:sym typeface="Arimo"/>
              </a:rPr>
              <a:t>Hồi quy (dự báo giá trị AQI).</a:t>
            </a:r>
          </a:p>
          <a:p>
            <a:pPr algn="just" marL="1173743" indent="-391248" lvl="2">
              <a:lnSpc>
                <a:spcPts val="3805"/>
              </a:lnSpc>
              <a:buFont typeface="Arial"/>
              <a:buChar char="⚬"/>
            </a:pPr>
            <a:r>
              <a:rPr lang="en-US" sz="2718">
                <a:solidFill>
                  <a:srgbClr val="104579"/>
                </a:solidFill>
                <a:latin typeface="Arimo"/>
                <a:ea typeface="Arimo"/>
                <a:cs typeface="Arimo"/>
                <a:sym typeface="Arimo"/>
              </a:rPr>
              <a:t>Phân loại (dự báo mức độ chất lượng không khí).</a:t>
            </a:r>
          </a:p>
          <a:p>
            <a:pPr algn="just" marL="586871" indent="-293436" lvl="1">
              <a:lnSpc>
                <a:spcPts val="3805"/>
              </a:lnSpc>
              <a:buFont typeface="Arial"/>
              <a:buChar char="•"/>
            </a:pPr>
            <a:r>
              <a:rPr lang="en-US" sz="2718">
                <a:solidFill>
                  <a:srgbClr val="104579"/>
                </a:solidFill>
                <a:latin typeface="Arimo"/>
                <a:ea typeface="Arimo"/>
                <a:cs typeface="Arimo"/>
                <a:sym typeface="Arimo"/>
              </a:rPr>
              <a:t>Đánh giá và so sánh hiệu quả của các mô hình học máy và học sâu trên nhiều khoảng thời gian dự báo khác nhau.</a:t>
            </a:r>
          </a:p>
          <a:p>
            <a:pPr algn="just" marL="586871" indent="-293436" lvl="1">
              <a:lnSpc>
                <a:spcPts val="3805"/>
              </a:lnSpc>
              <a:spcBef>
                <a:spcPct val="0"/>
              </a:spcBef>
              <a:buFont typeface="Arial"/>
              <a:buChar char="•"/>
            </a:pPr>
            <a:r>
              <a:rPr lang="en-US" sz="2718">
                <a:solidFill>
                  <a:srgbClr val="104579"/>
                </a:solidFill>
                <a:latin typeface="Arimo"/>
                <a:ea typeface="Arimo"/>
                <a:cs typeface="Arimo"/>
                <a:sym typeface="Arimo"/>
              </a:rPr>
              <a:t>Kết quả cho thấy các mô hình đề xuất có khả năng dự báo tốt và</a:t>
            </a:r>
            <a:r>
              <a:rPr lang="en-US" sz="2718">
                <a:solidFill>
                  <a:srgbClr val="104579"/>
                </a:solidFill>
                <a:latin typeface="Arimo"/>
                <a:ea typeface="Arimo"/>
                <a:cs typeface="Arimo"/>
                <a:sym typeface="Arimo"/>
              </a:rPr>
              <a:t> phù hợp với dữ liệu thực tế.</a:t>
            </a:r>
          </a:p>
          <a:p>
            <a:pPr algn="just" marL="586871" indent="-293436" lvl="1">
              <a:lnSpc>
                <a:spcPts val="3805"/>
              </a:lnSpc>
              <a:spcBef>
                <a:spcPct val="0"/>
              </a:spcBef>
              <a:buFont typeface="Arial"/>
              <a:buChar char="•"/>
            </a:pPr>
            <a:r>
              <a:rPr lang="en-US" sz="2718">
                <a:solidFill>
                  <a:srgbClr val="104579"/>
                </a:solidFill>
                <a:latin typeface="Arimo"/>
                <a:ea typeface="Arimo"/>
                <a:cs typeface="Arimo"/>
                <a:sym typeface="Arimo"/>
              </a:rPr>
              <a:t>Khẳng định tính khả thi của việc ứng dụng AI trong dự báo chất lượng không khí và hỗ trợ quản lý môi trường đô thị.</a:t>
            </a:r>
          </a:p>
          <a:p>
            <a:pPr algn="just">
              <a:lnSpc>
                <a:spcPts val="3805"/>
              </a:lnSpc>
              <a:spcBef>
                <a:spcPct val="0"/>
              </a:spcBef>
            </a:pPr>
          </a:p>
        </p:txBody>
      </p:sp>
      <p:sp>
        <p:nvSpPr>
          <p:cNvPr name="TextBox 11" id="11"/>
          <p:cNvSpPr txBox="true"/>
          <p:nvPr/>
        </p:nvSpPr>
        <p:spPr>
          <a:xfrm rot="0">
            <a:off x="3349735" y="1120091"/>
            <a:ext cx="11665167" cy="863600"/>
          </a:xfrm>
          <a:prstGeom prst="rect">
            <a:avLst/>
          </a:prstGeom>
        </p:spPr>
        <p:txBody>
          <a:bodyPr anchor="t" rtlCol="false" tIns="0" lIns="0" bIns="0" rIns="0">
            <a:spAutoFit/>
          </a:bodyPr>
          <a:lstStyle/>
          <a:p>
            <a:pPr algn="ctr">
              <a:lnSpc>
                <a:spcPts val="7000"/>
              </a:lnSpc>
              <a:spcBef>
                <a:spcPct val="0"/>
              </a:spcBef>
            </a:pPr>
            <a:r>
              <a:rPr lang="en-US" b="true" sz="5000">
                <a:solidFill>
                  <a:srgbClr val="104579"/>
                </a:solidFill>
                <a:latin typeface="Garet Bold"/>
                <a:ea typeface="Garet Bold"/>
                <a:cs typeface="Garet Bold"/>
                <a:sym typeface="Garet Bold"/>
              </a:rPr>
              <a:t>KẾT QUẢ NGHIÊN CỨU</a:t>
            </a:r>
          </a:p>
        </p:txBody>
      </p:sp>
    </p:spTree>
  </p:cSld>
  <p:clrMapOvr>
    <a:masterClrMapping/>
  </p:clrMapOvr>
  <p:transition spd="fast">
    <p:fade/>
  </p:transition>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465874"/>
            <a:ext cx="19819639" cy="12900629"/>
            <a:chOff x="0" y="0"/>
            <a:chExt cx="26426185" cy="17200838"/>
          </a:xfrm>
        </p:grpSpPr>
        <p:sp>
          <p:nvSpPr>
            <p:cNvPr name="Freeform 3" id="3"/>
            <p:cNvSpPr/>
            <p:nvPr/>
          </p:nvSpPr>
          <p:spPr>
            <a:xfrm flipH="false" flipV="false" rot="0">
              <a:off x="0" y="1785165"/>
              <a:ext cx="24895049" cy="14191553"/>
            </a:xfrm>
            <a:custGeom>
              <a:avLst/>
              <a:gdLst/>
              <a:ahLst/>
              <a:cxnLst/>
              <a:rect r="r" b="b" t="t" l="l"/>
              <a:pathLst>
                <a:path h="14191553" w="24895049">
                  <a:moveTo>
                    <a:pt x="0" y="0"/>
                  </a:moveTo>
                  <a:lnTo>
                    <a:pt x="24895049" y="0"/>
                  </a:lnTo>
                  <a:lnTo>
                    <a:pt x="24895049" y="14191554"/>
                  </a:lnTo>
                  <a:lnTo>
                    <a:pt x="0" y="14191554"/>
                  </a:lnTo>
                  <a:lnTo>
                    <a:pt x="0" y="0"/>
                  </a:lnTo>
                  <a:close/>
                </a:path>
              </a:pathLst>
            </a:custGeom>
            <a:blipFill>
              <a:blip r:embed="rId2"/>
              <a:stretch>
                <a:fillRect l="-4939" t="-11172" r="-7311" b="0"/>
              </a:stretch>
            </a:blipFill>
          </p:spPr>
        </p:sp>
        <p:sp>
          <p:nvSpPr>
            <p:cNvPr name="Freeform 4" id="4"/>
            <p:cNvSpPr/>
            <p:nvPr/>
          </p:nvSpPr>
          <p:spPr>
            <a:xfrm flipH="true" flipV="false" rot="0">
              <a:off x="511049" y="1785165"/>
              <a:ext cx="13222020" cy="15415673"/>
            </a:xfrm>
            <a:custGeom>
              <a:avLst/>
              <a:gdLst/>
              <a:ahLst/>
              <a:cxnLst/>
              <a:rect r="r" b="b" t="t" l="l"/>
              <a:pathLst>
                <a:path h="15415673" w="13222020">
                  <a:moveTo>
                    <a:pt x="13222020" y="0"/>
                  </a:moveTo>
                  <a:lnTo>
                    <a:pt x="0" y="0"/>
                  </a:lnTo>
                  <a:lnTo>
                    <a:pt x="0" y="15415673"/>
                  </a:lnTo>
                  <a:lnTo>
                    <a:pt x="13222020" y="15415673"/>
                  </a:lnTo>
                  <a:lnTo>
                    <a:pt x="13222020" y="0"/>
                  </a:lnTo>
                  <a:close/>
                </a:path>
              </a:pathLst>
            </a:custGeom>
            <a:blipFill>
              <a:blip r:embed="rId3"/>
              <a:stretch>
                <a:fillRect l="-12500" t="0" r="-12499" b="0"/>
              </a:stretch>
            </a:blipFill>
          </p:spPr>
        </p:sp>
        <p:grpSp>
          <p:nvGrpSpPr>
            <p:cNvPr name="Group 5" id="5"/>
            <p:cNvGrpSpPr/>
            <p:nvPr/>
          </p:nvGrpSpPr>
          <p:grpSpPr>
            <a:xfrm rot="0">
              <a:off x="1882649" y="3156765"/>
              <a:ext cx="21324463" cy="10972800"/>
              <a:chOff x="0" y="0"/>
              <a:chExt cx="4212240" cy="2167467"/>
            </a:xfrm>
          </p:grpSpPr>
          <p:sp>
            <p:nvSpPr>
              <p:cNvPr name="Freeform 6" id="6"/>
              <p:cNvSpPr/>
              <p:nvPr/>
            </p:nvSpPr>
            <p:spPr>
              <a:xfrm flipH="false" flipV="false" rot="0">
                <a:off x="0" y="0"/>
                <a:ext cx="4212239" cy="2167467"/>
              </a:xfrm>
              <a:custGeom>
                <a:avLst/>
                <a:gdLst/>
                <a:ahLst/>
                <a:cxnLst/>
                <a:rect r="r" b="b" t="t" l="l"/>
                <a:pathLst>
                  <a:path h="2167467" w="4212239">
                    <a:moveTo>
                      <a:pt x="36789" y="0"/>
                    </a:moveTo>
                    <a:lnTo>
                      <a:pt x="4175450" y="0"/>
                    </a:lnTo>
                    <a:cubicBezTo>
                      <a:pt x="4185207" y="0"/>
                      <a:pt x="4194565" y="3876"/>
                      <a:pt x="4201464" y="10775"/>
                    </a:cubicBezTo>
                    <a:cubicBezTo>
                      <a:pt x="4208363" y="17675"/>
                      <a:pt x="4212239" y="27032"/>
                      <a:pt x="4212239" y="36789"/>
                    </a:cubicBezTo>
                    <a:lnTo>
                      <a:pt x="4212239" y="2130677"/>
                    </a:lnTo>
                    <a:cubicBezTo>
                      <a:pt x="4212239" y="2150996"/>
                      <a:pt x="4195768" y="2167467"/>
                      <a:pt x="4175450" y="2167467"/>
                    </a:cubicBezTo>
                    <a:lnTo>
                      <a:pt x="36789" y="2167467"/>
                    </a:lnTo>
                    <a:cubicBezTo>
                      <a:pt x="27032" y="2167467"/>
                      <a:pt x="17675" y="2163591"/>
                      <a:pt x="10775" y="2156691"/>
                    </a:cubicBezTo>
                    <a:cubicBezTo>
                      <a:pt x="3876" y="2149792"/>
                      <a:pt x="0" y="2140434"/>
                      <a:pt x="0" y="2130677"/>
                    </a:cubicBezTo>
                    <a:lnTo>
                      <a:pt x="0" y="36789"/>
                    </a:lnTo>
                    <a:cubicBezTo>
                      <a:pt x="0" y="27032"/>
                      <a:pt x="3876" y="17675"/>
                      <a:pt x="10775" y="10775"/>
                    </a:cubicBezTo>
                    <a:cubicBezTo>
                      <a:pt x="17675" y="3876"/>
                      <a:pt x="27032" y="0"/>
                      <a:pt x="36789" y="0"/>
                    </a:cubicBezTo>
                    <a:close/>
                  </a:path>
                </a:pathLst>
              </a:custGeom>
              <a:solidFill>
                <a:srgbClr val="FFFFFF">
                  <a:alpha val="60784"/>
                </a:srgbClr>
              </a:solidFill>
              <a:ln w="38100" cap="rnd">
                <a:solidFill>
                  <a:srgbClr val="2D8BBA">
                    <a:alpha val="60784"/>
                  </a:srgbClr>
                </a:solidFill>
                <a:prstDash val="solid"/>
                <a:round/>
              </a:ln>
            </p:spPr>
          </p:sp>
          <p:sp>
            <p:nvSpPr>
              <p:cNvPr name="TextBox 7" id="7"/>
              <p:cNvSpPr txBox="true"/>
              <p:nvPr/>
            </p:nvSpPr>
            <p:spPr>
              <a:xfrm>
                <a:off x="0" y="-47625"/>
                <a:ext cx="4212240" cy="2215092"/>
              </a:xfrm>
              <a:prstGeom prst="rect">
                <a:avLst/>
              </a:prstGeom>
            </p:spPr>
            <p:txBody>
              <a:bodyPr anchor="ctr" rtlCol="false" tIns="50800" lIns="50800" bIns="50800" rIns="50800"/>
              <a:lstStyle/>
              <a:p>
                <a:pPr algn="ctr">
                  <a:lnSpc>
                    <a:spcPts val="3525"/>
                  </a:lnSpc>
                </a:pPr>
              </a:p>
            </p:txBody>
          </p:sp>
        </p:grpSp>
        <p:sp>
          <p:nvSpPr>
            <p:cNvPr name="Freeform 8" id="8"/>
            <p:cNvSpPr/>
            <p:nvPr/>
          </p:nvSpPr>
          <p:spPr>
            <a:xfrm flipH="false" flipV="true" rot="0">
              <a:off x="13130838" y="0"/>
              <a:ext cx="13295346" cy="15501165"/>
            </a:xfrm>
            <a:custGeom>
              <a:avLst/>
              <a:gdLst/>
              <a:ahLst/>
              <a:cxnLst/>
              <a:rect r="r" b="b" t="t" l="l"/>
              <a:pathLst>
                <a:path h="15501165" w="13295346">
                  <a:moveTo>
                    <a:pt x="0" y="15501165"/>
                  </a:moveTo>
                  <a:lnTo>
                    <a:pt x="13295347" y="15501165"/>
                  </a:lnTo>
                  <a:lnTo>
                    <a:pt x="13295347" y="0"/>
                  </a:lnTo>
                  <a:lnTo>
                    <a:pt x="0" y="0"/>
                  </a:lnTo>
                  <a:lnTo>
                    <a:pt x="0" y="15501165"/>
                  </a:lnTo>
                  <a:close/>
                </a:path>
              </a:pathLst>
            </a:custGeom>
            <a:blipFill>
              <a:blip r:embed="rId3"/>
              <a:stretch>
                <a:fillRect l="-12500" t="0" r="-12499" b="0"/>
              </a:stretch>
            </a:blipFill>
          </p:spPr>
        </p:sp>
      </p:grpSp>
      <p:sp>
        <p:nvSpPr>
          <p:cNvPr name="TextBox 9" id="9"/>
          <p:cNvSpPr txBox="true"/>
          <p:nvPr/>
        </p:nvSpPr>
        <p:spPr>
          <a:xfrm rot="0">
            <a:off x="7581252" y="9360313"/>
            <a:ext cx="3074441" cy="570402"/>
          </a:xfrm>
          <a:prstGeom prst="rect">
            <a:avLst/>
          </a:prstGeom>
        </p:spPr>
        <p:txBody>
          <a:bodyPr anchor="t" rtlCol="false" tIns="0" lIns="0" bIns="0" rIns="0">
            <a:spAutoFit/>
          </a:bodyPr>
          <a:lstStyle/>
          <a:p>
            <a:pPr algn="ctr">
              <a:lnSpc>
                <a:spcPts val="4785"/>
              </a:lnSpc>
              <a:spcBef>
                <a:spcPct val="0"/>
              </a:spcBef>
            </a:pPr>
            <a:r>
              <a:rPr lang="en-US" b="true" sz="3418">
                <a:solidFill>
                  <a:srgbClr val="104579"/>
                </a:solidFill>
                <a:latin typeface="Amaranth Bold"/>
                <a:ea typeface="Amaranth Bold"/>
                <a:cs typeface="Amaranth Bold"/>
                <a:sym typeface="Amaranth Bold"/>
              </a:rPr>
              <a:t>21</a:t>
            </a:r>
          </a:p>
        </p:txBody>
      </p:sp>
      <p:sp>
        <p:nvSpPr>
          <p:cNvPr name="TextBox 10" id="10"/>
          <p:cNvSpPr txBox="true"/>
          <p:nvPr/>
        </p:nvSpPr>
        <p:spPr>
          <a:xfrm rot="0">
            <a:off x="2085787" y="2545428"/>
            <a:ext cx="14386018" cy="5100894"/>
          </a:xfrm>
          <a:prstGeom prst="rect">
            <a:avLst/>
          </a:prstGeom>
        </p:spPr>
        <p:txBody>
          <a:bodyPr anchor="t" rtlCol="false" tIns="0" lIns="0" bIns="0" rIns="0">
            <a:spAutoFit/>
          </a:bodyPr>
          <a:lstStyle/>
          <a:p>
            <a:pPr algn="just">
              <a:lnSpc>
                <a:spcPts val="4077"/>
              </a:lnSpc>
            </a:pPr>
            <a:r>
              <a:rPr lang="en-US" sz="2718">
                <a:solidFill>
                  <a:srgbClr val="104579"/>
                </a:solidFill>
                <a:latin typeface="Arimo"/>
                <a:ea typeface="Arimo"/>
                <a:cs typeface="Arimo"/>
                <a:sym typeface="Arimo"/>
              </a:rPr>
              <a:t>Mặc dù đạt được những kết quả khả quan, nghiên cứu vẫn tồn tại một số hạn chế nhất định: </a:t>
            </a:r>
          </a:p>
          <a:p>
            <a:pPr algn="just" marL="586871" indent="-293436" lvl="1">
              <a:lnSpc>
                <a:spcPts val="4077"/>
              </a:lnSpc>
              <a:buFont typeface="Arial"/>
              <a:buChar char="•"/>
            </a:pPr>
            <a:r>
              <a:rPr lang="en-US" sz="2718">
                <a:solidFill>
                  <a:srgbClr val="104579"/>
                </a:solidFill>
                <a:latin typeface="Arimo"/>
                <a:ea typeface="Arimo"/>
                <a:cs typeface="Arimo"/>
                <a:sym typeface="Arimo"/>
              </a:rPr>
              <a:t>D</a:t>
            </a:r>
            <a:r>
              <a:rPr lang="en-US" sz="2718">
                <a:solidFill>
                  <a:srgbClr val="104579"/>
                </a:solidFill>
                <a:latin typeface="Arimo"/>
                <a:ea typeface="Arimo"/>
                <a:cs typeface="Arimo"/>
                <a:sym typeface="Arimo"/>
              </a:rPr>
              <a:t>ữ liệu được thu thập từ số lượng trạm quan trắc hạn chế, chưa phản ánh đầy đủ sự phân bố ô nhiễm trên toàn thành phố.</a:t>
            </a:r>
          </a:p>
          <a:p>
            <a:pPr algn="just" marL="586871" indent="-293436" lvl="1">
              <a:lnSpc>
                <a:spcPts val="4077"/>
              </a:lnSpc>
              <a:buFont typeface="Arial"/>
              <a:buChar char="•"/>
            </a:pPr>
            <a:r>
              <a:rPr lang="en-US" sz="2718">
                <a:solidFill>
                  <a:srgbClr val="104579"/>
                </a:solidFill>
                <a:latin typeface="Arimo"/>
                <a:ea typeface="Arimo"/>
                <a:cs typeface="Arimo"/>
                <a:sym typeface="Arimo"/>
              </a:rPr>
              <a:t>Chưa tích hợp các nguồn dữ liệu quan trọng như mật độ giao thông, hoạt động công nghiệp và dữ liệu vệ tinh.</a:t>
            </a:r>
          </a:p>
          <a:p>
            <a:pPr algn="just" marL="586871" indent="-293436" lvl="1">
              <a:lnSpc>
                <a:spcPts val="4077"/>
              </a:lnSpc>
              <a:buFont typeface="Arial"/>
              <a:buChar char="•"/>
            </a:pPr>
            <a:r>
              <a:rPr lang="en-US" sz="2718">
                <a:solidFill>
                  <a:srgbClr val="104579"/>
                </a:solidFill>
                <a:latin typeface="Arimo"/>
                <a:ea typeface="Arimo"/>
                <a:cs typeface="Arimo"/>
                <a:sym typeface="Arimo"/>
              </a:rPr>
              <a:t>Chưa khai thác sâu các mô hình tiên tiến như Transformer đa biến hoặc Graph Neural Networks (GNN).</a:t>
            </a:r>
          </a:p>
          <a:p>
            <a:pPr algn="just" marL="586871" indent="-293436" lvl="1">
              <a:lnSpc>
                <a:spcPts val="4077"/>
              </a:lnSpc>
              <a:buFont typeface="Arial"/>
              <a:buChar char="•"/>
            </a:pPr>
            <a:r>
              <a:rPr lang="en-US" sz="2718">
                <a:solidFill>
                  <a:srgbClr val="104579"/>
                </a:solidFill>
                <a:latin typeface="Arimo"/>
                <a:ea typeface="Arimo"/>
                <a:cs typeface="Arimo"/>
                <a:sym typeface="Arimo"/>
              </a:rPr>
              <a:t>Các hiện tượng bất thường như cháy rừng, đốt rơm rạ và thời tiết cực đoan làm giảm độ chính xác của mô hình.</a:t>
            </a:r>
          </a:p>
          <a:p>
            <a:pPr algn="l">
              <a:lnSpc>
                <a:spcPts val="3777"/>
              </a:lnSpc>
            </a:pPr>
          </a:p>
        </p:txBody>
      </p:sp>
      <p:sp>
        <p:nvSpPr>
          <p:cNvPr name="TextBox 11" id="11"/>
          <p:cNvSpPr txBox="true"/>
          <p:nvPr/>
        </p:nvSpPr>
        <p:spPr>
          <a:xfrm rot="0">
            <a:off x="3349735" y="1120091"/>
            <a:ext cx="11665167" cy="863600"/>
          </a:xfrm>
          <a:prstGeom prst="rect">
            <a:avLst/>
          </a:prstGeom>
        </p:spPr>
        <p:txBody>
          <a:bodyPr anchor="t" rtlCol="false" tIns="0" lIns="0" bIns="0" rIns="0">
            <a:spAutoFit/>
          </a:bodyPr>
          <a:lstStyle/>
          <a:p>
            <a:pPr algn="ctr">
              <a:lnSpc>
                <a:spcPts val="7000"/>
              </a:lnSpc>
              <a:spcBef>
                <a:spcPct val="0"/>
              </a:spcBef>
            </a:pPr>
            <a:r>
              <a:rPr lang="en-US" b="true" sz="5000">
                <a:solidFill>
                  <a:srgbClr val="104579"/>
                </a:solidFill>
                <a:latin typeface="Garet Bold"/>
                <a:ea typeface="Garet Bold"/>
                <a:cs typeface="Garet Bold"/>
                <a:sym typeface="Garet Bold"/>
              </a:rPr>
              <a:t>HẠN CHẾ CỦA NGHIÊN CỨU</a:t>
            </a:r>
          </a:p>
        </p:txBody>
      </p:sp>
    </p:spTree>
  </p:cSld>
  <p:clrMapOvr>
    <a:masterClrMapping/>
  </p:clrMapOvr>
  <p:transition spd="fast">
    <p:fade/>
  </p:transition>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0" y="-1465874"/>
            <a:ext cx="19819639" cy="12900629"/>
            <a:chOff x="0" y="0"/>
            <a:chExt cx="26426185" cy="17200838"/>
          </a:xfrm>
        </p:grpSpPr>
        <p:sp>
          <p:nvSpPr>
            <p:cNvPr name="Freeform 3" id="3"/>
            <p:cNvSpPr/>
            <p:nvPr/>
          </p:nvSpPr>
          <p:spPr>
            <a:xfrm flipH="false" flipV="false" rot="0">
              <a:off x="0" y="1785165"/>
              <a:ext cx="24895049" cy="14191553"/>
            </a:xfrm>
            <a:custGeom>
              <a:avLst/>
              <a:gdLst/>
              <a:ahLst/>
              <a:cxnLst/>
              <a:rect r="r" b="b" t="t" l="l"/>
              <a:pathLst>
                <a:path h="14191553" w="24895049">
                  <a:moveTo>
                    <a:pt x="0" y="0"/>
                  </a:moveTo>
                  <a:lnTo>
                    <a:pt x="24895049" y="0"/>
                  </a:lnTo>
                  <a:lnTo>
                    <a:pt x="24895049" y="14191554"/>
                  </a:lnTo>
                  <a:lnTo>
                    <a:pt x="0" y="14191554"/>
                  </a:lnTo>
                  <a:lnTo>
                    <a:pt x="0" y="0"/>
                  </a:lnTo>
                  <a:close/>
                </a:path>
              </a:pathLst>
            </a:custGeom>
            <a:blipFill>
              <a:blip r:embed="rId2"/>
              <a:stretch>
                <a:fillRect l="-4939" t="-11172" r="-7311" b="0"/>
              </a:stretch>
            </a:blipFill>
          </p:spPr>
        </p:sp>
        <p:sp>
          <p:nvSpPr>
            <p:cNvPr name="Freeform 4" id="4"/>
            <p:cNvSpPr/>
            <p:nvPr/>
          </p:nvSpPr>
          <p:spPr>
            <a:xfrm flipH="true" flipV="false" rot="0">
              <a:off x="511049" y="1785165"/>
              <a:ext cx="13222020" cy="15415673"/>
            </a:xfrm>
            <a:custGeom>
              <a:avLst/>
              <a:gdLst/>
              <a:ahLst/>
              <a:cxnLst/>
              <a:rect r="r" b="b" t="t" l="l"/>
              <a:pathLst>
                <a:path h="15415673" w="13222020">
                  <a:moveTo>
                    <a:pt x="13222020" y="0"/>
                  </a:moveTo>
                  <a:lnTo>
                    <a:pt x="0" y="0"/>
                  </a:lnTo>
                  <a:lnTo>
                    <a:pt x="0" y="15415673"/>
                  </a:lnTo>
                  <a:lnTo>
                    <a:pt x="13222020" y="15415673"/>
                  </a:lnTo>
                  <a:lnTo>
                    <a:pt x="13222020" y="0"/>
                  </a:lnTo>
                  <a:close/>
                </a:path>
              </a:pathLst>
            </a:custGeom>
            <a:blipFill>
              <a:blip r:embed="rId3"/>
              <a:stretch>
                <a:fillRect l="-12500" t="0" r="-12499" b="0"/>
              </a:stretch>
            </a:blipFill>
          </p:spPr>
        </p:sp>
        <p:grpSp>
          <p:nvGrpSpPr>
            <p:cNvPr name="Group 5" id="5"/>
            <p:cNvGrpSpPr/>
            <p:nvPr/>
          </p:nvGrpSpPr>
          <p:grpSpPr>
            <a:xfrm rot="0">
              <a:off x="1882649" y="3156765"/>
              <a:ext cx="21324463" cy="10972800"/>
              <a:chOff x="0" y="0"/>
              <a:chExt cx="4212240" cy="2167467"/>
            </a:xfrm>
          </p:grpSpPr>
          <p:sp>
            <p:nvSpPr>
              <p:cNvPr name="Freeform 6" id="6"/>
              <p:cNvSpPr/>
              <p:nvPr/>
            </p:nvSpPr>
            <p:spPr>
              <a:xfrm flipH="false" flipV="false" rot="0">
                <a:off x="0" y="0"/>
                <a:ext cx="4212239" cy="2167467"/>
              </a:xfrm>
              <a:custGeom>
                <a:avLst/>
                <a:gdLst/>
                <a:ahLst/>
                <a:cxnLst/>
                <a:rect r="r" b="b" t="t" l="l"/>
                <a:pathLst>
                  <a:path h="2167467" w="4212239">
                    <a:moveTo>
                      <a:pt x="36789" y="0"/>
                    </a:moveTo>
                    <a:lnTo>
                      <a:pt x="4175450" y="0"/>
                    </a:lnTo>
                    <a:cubicBezTo>
                      <a:pt x="4185207" y="0"/>
                      <a:pt x="4194565" y="3876"/>
                      <a:pt x="4201464" y="10775"/>
                    </a:cubicBezTo>
                    <a:cubicBezTo>
                      <a:pt x="4208363" y="17675"/>
                      <a:pt x="4212239" y="27032"/>
                      <a:pt x="4212239" y="36789"/>
                    </a:cubicBezTo>
                    <a:lnTo>
                      <a:pt x="4212239" y="2130677"/>
                    </a:lnTo>
                    <a:cubicBezTo>
                      <a:pt x="4212239" y="2150996"/>
                      <a:pt x="4195768" y="2167467"/>
                      <a:pt x="4175450" y="2167467"/>
                    </a:cubicBezTo>
                    <a:lnTo>
                      <a:pt x="36789" y="2167467"/>
                    </a:lnTo>
                    <a:cubicBezTo>
                      <a:pt x="27032" y="2167467"/>
                      <a:pt x="17675" y="2163591"/>
                      <a:pt x="10775" y="2156691"/>
                    </a:cubicBezTo>
                    <a:cubicBezTo>
                      <a:pt x="3876" y="2149792"/>
                      <a:pt x="0" y="2140434"/>
                      <a:pt x="0" y="2130677"/>
                    </a:cubicBezTo>
                    <a:lnTo>
                      <a:pt x="0" y="36789"/>
                    </a:lnTo>
                    <a:cubicBezTo>
                      <a:pt x="0" y="27032"/>
                      <a:pt x="3876" y="17675"/>
                      <a:pt x="10775" y="10775"/>
                    </a:cubicBezTo>
                    <a:cubicBezTo>
                      <a:pt x="17675" y="3876"/>
                      <a:pt x="27032" y="0"/>
                      <a:pt x="36789" y="0"/>
                    </a:cubicBezTo>
                    <a:close/>
                  </a:path>
                </a:pathLst>
              </a:custGeom>
              <a:solidFill>
                <a:srgbClr val="FFFFFF">
                  <a:alpha val="60784"/>
                </a:srgbClr>
              </a:solidFill>
              <a:ln w="38100" cap="rnd">
                <a:solidFill>
                  <a:srgbClr val="2D8BBA">
                    <a:alpha val="60784"/>
                  </a:srgbClr>
                </a:solidFill>
                <a:prstDash val="solid"/>
                <a:round/>
              </a:ln>
            </p:spPr>
          </p:sp>
          <p:sp>
            <p:nvSpPr>
              <p:cNvPr name="TextBox 7" id="7"/>
              <p:cNvSpPr txBox="true"/>
              <p:nvPr/>
            </p:nvSpPr>
            <p:spPr>
              <a:xfrm>
                <a:off x="0" y="-47625"/>
                <a:ext cx="4212240" cy="2215092"/>
              </a:xfrm>
              <a:prstGeom prst="rect">
                <a:avLst/>
              </a:prstGeom>
            </p:spPr>
            <p:txBody>
              <a:bodyPr anchor="ctr" rtlCol="false" tIns="50800" lIns="50800" bIns="50800" rIns="50800"/>
              <a:lstStyle/>
              <a:p>
                <a:pPr algn="ctr">
                  <a:lnSpc>
                    <a:spcPts val="3525"/>
                  </a:lnSpc>
                </a:pPr>
              </a:p>
            </p:txBody>
          </p:sp>
        </p:grpSp>
        <p:sp>
          <p:nvSpPr>
            <p:cNvPr name="Freeform 8" id="8"/>
            <p:cNvSpPr/>
            <p:nvPr/>
          </p:nvSpPr>
          <p:spPr>
            <a:xfrm flipH="false" flipV="true" rot="0">
              <a:off x="13130838" y="0"/>
              <a:ext cx="13295346" cy="15501165"/>
            </a:xfrm>
            <a:custGeom>
              <a:avLst/>
              <a:gdLst/>
              <a:ahLst/>
              <a:cxnLst/>
              <a:rect r="r" b="b" t="t" l="l"/>
              <a:pathLst>
                <a:path h="15501165" w="13295346">
                  <a:moveTo>
                    <a:pt x="0" y="15501165"/>
                  </a:moveTo>
                  <a:lnTo>
                    <a:pt x="13295347" y="15501165"/>
                  </a:lnTo>
                  <a:lnTo>
                    <a:pt x="13295347" y="0"/>
                  </a:lnTo>
                  <a:lnTo>
                    <a:pt x="0" y="0"/>
                  </a:lnTo>
                  <a:lnTo>
                    <a:pt x="0" y="15501165"/>
                  </a:lnTo>
                  <a:close/>
                </a:path>
              </a:pathLst>
            </a:custGeom>
            <a:blipFill>
              <a:blip r:embed="rId3"/>
              <a:stretch>
                <a:fillRect l="-12500" t="0" r="-12499" b="0"/>
              </a:stretch>
            </a:blipFill>
          </p:spPr>
        </p:sp>
      </p:grpSp>
      <p:sp>
        <p:nvSpPr>
          <p:cNvPr name="TextBox 9" id="9"/>
          <p:cNvSpPr txBox="true"/>
          <p:nvPr/>
        </p:nvSpPr>
        <p:spPr>
          <a:xfrm rot="0">
            <a:off x="7581252" y="9360313"/>
            <a:ext cx="3074441" cy="570402"/>
          </a:xfrm>
          <a:prstGeom prst="rect">
            <a:avLst/>
          </a:prstGeom>
        </p:spPr>
        <p:txBody>
          <a:bodyPr anchor="t" rtlCol="false" tIns="0" lIns="0" bIns="0" rIns="0">
            <a:spAutoFit/>
          </a:bodyPr>
          <a:lstStyle/>
          <a:p>
            <a:pPr algn="ctr">
              <a:lnSpc>
                <a:spcPts val="4785"/>
              </a:lnSpc>
              <a:spcBef>
                <a:spcPct val="0"/>
              </a:spcBef>
            </a:pPr>
            <a:r>
              <a:rPr lang="en-US" b="true" sz="3418">
                <a:solidFill>
                  <a:srgbClr val="104579"/>
                </a:solidFill>
                <a:latin typeface="Amaranth Bold"/>
                <a:ea typeface="Amaranth Bold"/>
                <a:cs typeface="Amaranth Bold"/>
                <a:sym typeface="Amaranth Bold"/>
              </a:rPr>
              <a:t>22</a:t>
            </a:r>
          </a:p>
        </p:txBody>
      </p:sp>
      <p:sp>
        <p:nvSpPr>
          <p:cNvPr name="TextBox 10" id="10"/>
          <p:cNvSpPr txBox="true"/>
          <p:nvPr/>
        </p:nvSpPr>
        <p:spPr>
          <a:xfrm rot="0">
            <a:off x="2134025" y="2883573"/>
            <a:ext cx="14635750" cy="4106485"/>
          </a:xfrm>
          <a:prstGeom prst="rect">
            <a:avLst/>
          </a:prstGeom>
        </p:spPr>
        <p:txBody>
          <a:bodyPr anchor="t" rtlCol="false" tIns="0" lIns="0" bIns="0" rIns="0">
            <a:spAutoFit/>
          </a:bodyPr>
          <a:lstStyle/>
          <a:p>
            <a:pPr algn="l">
              <a:lnSpc>
                <a:spcPts val="4077"/>
              </a:lnSpc>
            </a:pPr>
            <a:r>
              <a:rPr lang="en-US" sz="2718">
                <a:solidFill>
                  <a:srgbClr val="104579"/>
                </a:solidFill>
                <a:latin typeface="Arimo"/>
                <a:ea typeface="Arimo"/>
                <a:cs typeface="Arimo"/>
                <a:sym typeface="Arimo"/>
              </a:rPr>
              <a:t>Dựa trên cá</a:t>
            </a:r>
            <a:r>
              <a:rPr lang="en-US" sz="2718">
                <a:solidFill>
                  <a:srgbClr val="104579"/>
                </a:solidFill>
                <a:latin typeface="Arimo"/>
                <a:ea typeface="Arimo"/>
                <a:cs typeface="Arimo"/>
                <a:sym typeface="Arimo"/>
              </a:rPr>
              <a:t>c kết quả đạt được và những hạn chế đã nêu, một số hướng phát triển tiềm </a:t>
            </a:r>
          </a:p>
          <a:p>
            <a:pPr algn="l">
              <a:lnSpc>
                <a:spcPts val="4077"/>
              </a:lnSpc>
            </a:pPr>
            <a:r>
              <a:rPr lang="en-US" sz="2718">
                <a:solidFill>
                  <a:srgbClr val="104579"/>
                </a:solidFill>
                <a:latin typeface="Arimo"/>
                <a:ea typeface="Arimo"/>
                <a:cs typeface="Arimo"/>
                <a:sym typeface="Arimo"/>
              </a:rPr>
              <a:t>năng được đề xuất như sau:</a:t>
            </a:r>
          </a:p>
          <a:p>
            <a:pPr algn="l" marL="586871" indent="-293436" lvl="1">
              <a:lnSpc>
                <a:spcPts val="4077"/>
              </a:lnSpc>
              <a:buFont typeface="Arial"/>
              <a:buChar char="•"/>
            </a:pPr>
            <a:r>
              <a:rPr lang="en-US" sz="2718">
                <a:solidFill>
                  <a:srgbClr val="104579"/>
                </a:solidFill>
                <a:latin typeface="Arimo"/>
                <a:ea typeface="Arimo"/>
                <a:cs typeface="Arimo"/>
                <a:sym typeface="Arimo"/>
              </a:rPr>
              <a:t>Kết hợp dữ liệu từ nhiều nguồn như trạm quan trắc, dữ liệu vệ tinh và dữ liệu giao thông để nâng cao độ chính xác của mô hình.</a:t>
            </a:r>
          </a:p>
          <a:p>
            <a:pPr algn="l" marL="586871" indent="-293436" lvl="1">
              <a:lnSpc>
                <a:spcPts val="4077"/>
              </a:lnSpc>
              <a:buFont typeface="Arial"/>
              <a:buChar char="•"/>
            </a:pPr>
            <a:r>
              <a:rPr lang="en-US" sz="2718">
                <a:solidFill>
                  <a:srgbClr val="104579"/>
                </a:solidFill>
                <a:latin typeface="Arimo"/>
                <a:ea typeface="Arimo"/>
                <a:cs typeface="Arimo"/>
                <a:sym typeface="Arimo"/>
              </a:rPr>
              <a:t>Tăng cường khả năng giải thích mô hình thông qua các phương pháp như SHAP và LIME.</a:t>
            </a:r>
          </a:p>
          <a:p>
            <a:pPr algn="l" marL="586871" indent="-293436" lvl="1">
              <a:lnSpc>
                <a:spcPts val="4077"/>
              </a:lnSpc>
              <a:buFont typeface="Arial"/>
              <a:buChar char="•"/>
            </a:pPr>
            <a:r>
              <a:rPr lang="en-US" sz="2718">
                <a:solidFill>
                  <a:srgbClr val="104579"/>
                </a:solidFill>
                <a:latin typeface="Arimo"/>
                <a:ea typeface="Arimo"/>
                <a:cs typeface="Arimo"/>
                <a:sym typeface="Arimo"/>
              </a:rPr>
              <a:t>Phát triển hệ thống cảnh báo chất lượng không khí trên nền tảng web hoặc ứng dụng di động.</a:t>
            </a:r>
          </a:p>
          <a:p>
            <a:pPr algn="l" marL="586871" indent="-293436" lvl="1">
              <a:lnSpc>
                <a:spcPts val="4077"/>
              </a:lnSpc>
              <a:buFont typeface="Arial"/>
              <a:buChar char="•"/>
            </a:pPr>
            <a:r>
              <a:rPr lang="en-US" sz="2718">
                <a:solidFill>
                  <a:srgbClr val="104579"/>
                </a:solidFill>
                <a:latin typeface="Arimo"/>
                <a:ea typeface="Arimo"/>
                <a:cs typeface="Arimo"/>
                <a:sym typeface="Arimo"/>
              </a:rPr>
              <a:t>Mở rộng phạm vi nghiên cứu sang nhiều khu vực và thành phố khác tại Việt Nam.</a:t>
            </a:r>
          </a:p>
        </p:txBody>
      </p:sp>
      <p:sp>
        <p:nvSpPr>
          <p:cNvPr name="TextBox 11" id="11"/>
          <p:cNvSpPr txBox="true"/>
          <p:nvPr/>
        </p:nvSpPr>
        <p:spPr>
          <a:xfrm rot="0">
            <a:off x="3349735" y="1120091"/>
            <a:ext cx="11665167" cy="863600"/>
          </a:xfrm>
          <a:prstGeom prst="rect">
            <a:avLst/>
          </a:prstGeom>
        </p:spPr>
        <p:txBody>
          <a:bodyPr anchor="t" rtlCol="false" tIns="0" lIns="0" bIns="0" rIns="0">
            <a:spAutoFit/>
          </a:bodyPr>
          <a:lstStyle/>
          <a:p>
            <a:pPr algn="ctr">
              <a:lnSpc>
                <a:spcPts val="7000"/>
              </a:lnSpc>
              <a:spcBef>
                <a:spcPct val="0"/>
              </a:spcBef>
            </a:pPr>
            <a:r>
              <a:rPr lang="en-US" b="true" sz="5000">
                <a:solidFill>
                  <a:srgbClr val="104579"/>
                </a:solidFill>
                <a:latin typeface="Garet Bold"/>
                <a:ea typeface="Garet Bold"/>
                <a:cs typeface="Garet Bold"/>
                <a:sym typeface="Garet Bold"/>
              </a:rPr>
              <a:t>HƯỚNG PHÁT TRIỂN</a:t>
            </a:r>
          </a:p>
        </p:txBody>
      </p:sp>
    </p:spTree>
  </p:cSld>
  <p:clrMapOvr>
    <a:masterClrMapping/>
  </p:clrMapOvr>
  <p:transition spd="fast">
    <p:fade/>
  </p:transition>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6831229" y="2119454"/>
            <a:ext cx="1003377" cy="636688"/>
          </a:xfrm>
          <a:custGeom>
            <a:avLst/>
            <a:gdLst/>
            <a:ahLst/>
            <a:cxnLst/>
            <a:rect r="r" b="b" t="t" l="l"/>
            <a:pathLst>
              <a:path h="636688" w="1003377">
                <a:moveTo>
                  <a:pt x="0" y="0"/>
                </a:moveTo>
                <a:lnTo>
                  <a:pt x="1003378" y="0"/>
                </a:lnTo>
                <a:lnTo>
                  <a:pt x="1003378" y="636688"/>
                </a:lnTo>
                <a:lnTo>
                  <a:pt x="0" y="636688"/>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383287" y="-1409819"/>
            <a:ext cx="19819639" cy="12900629"/>
            <a:chOff x="0" y="0"/>
            <a:chExt cx="26426185" cy="17200838"/>
          </a:xfrm>
        </p:grpSpPr>
        <p:sp>
          <p:nvSpPr>
            <p:cNvPr name="Freeform 4" id="4"/>
            <p:cNvSpPr/>
            <p:nvPr/>
          </p:nvSpPr>
          <p:spPr>
            <a:xfrm flipH="false" flipV="false" rot="0">
              <a:off x="0" y="1785165"/>
              <a:ext cx="24895049" cy="14191553"/>
            </a:xfrm>
            <a:custGeom>
              <a:avLst/>
              <a:gdLst/>
              <a:ahLst/>
              <a:cxnLst/>
              <a:rect r="r" b="b" t="t" l="l"/>
              <a:pathLst>
                <a:path h="14191553" w="24895049">
                  <a:moveTo>
                    <a:pt x="0" y="0"/>
                  </a:moveTo>
                  <a:lnTo>
                    <a:pt x="24895049" y="0"/>
                  </a:lnTo>
                  <a:lnTo>
                    <a:pt x="24895049" y="14191554"/>
                  </a:lnTo>
                  <a:lnTo>
                    <a:pt x="0" y="14191554"/>
                  </a:lnTo>
                  <a:lnTo>
                    <a:pt x="0" y="0"/>
                  </a:lnTo>
                  <a:close/>
                </a:path>
              </a:pathLst>
            </a:custGeom>
            <a:blipFill>
              <a:blip r:embed="rId4"/>
              <a:stretch>
                <a:fillRect l="-4939" t="-11172" r="-7311" b="0"/>
              </a:stretch>
            </a:blipFill>
          </p:spPr>
        </p:sp>
        <p:sp>
          <p:nvSpPr>
            <p:cNvPr name="Freeform 5" id="5"/>
            <p:cNvSpPr/>
            <p:nvPr/>
          </p:nvSpPr>
          <p:spPr>
            <a:xfrm flipH="true" flipV="false" rot="0">
              <a:off x="511049" y="1785165"/>
              <a:ext cx="13222020" cy="15415673"/>
            </a:xfrm>
            <a:custGeom>
              <a:avLst/>
              <a:gdLst/>
              <a:ahLst/>
              <a:cxnLst/>
              <a:rect r="r" b="b" t="t" l="l"/>
              <a:pathLst>
                <a:path h="15415673" w="13222020">
                  <a:moveTo>
                    <a:pt x="13222020" y="0"/>
                  </a:moveTo>
                  <a:lnTo>
                    <a:pt x="0" y="0"/>
                  </a:lnTo>
                  <a:lnTo>
                    <a:pt x="0" y="15415673"/>
                  </a:lnTo>
                  <a:lnTo>
                    <a:pt x="13222020" y="15415673"/>
                  </a:lnTo>
                  <a:lnTo>
                    <a:pt x="13222020" y="0"/>
                  </a:lnTo>
                  <a:close/>
                </a:path>
              </a:pathLst>
            </a:custGeom>
            <a:blipFill>
              <a:blip r:embed="rId5"/>
              <a:stretch>
                <a:fillRect l="-12500" t="0" r="-12499" b="0"/>
              </a:stretch>
            </a:blipFill>
          </p:spPr>
        </p:sp>
        <p:sp>
          <p:nvSpPr>
            <p:cNvPr name="Freeform 6" id="6"/>
            <p:cNvSpPr/>
            <p:nvPr/>
          </p:nvSpPr>
          <p:spPr>
            <a:xfrm flipH="false" flipV="true" rot="0">
              <a:off x="13130838" y="0"/>
              <a:ext cx="13295346" cy="15501165"/>
            </a:xfrm>
            <a:custGeom>
              <a:avLst/>
              <a:gdLst/>
              <a:ahLst/>
              <a:cxnLst/>
              <a:rect r="r" b="b" t="t" l="l"/>
              <a:pathLst>
                <a:path h="15501165" w="13295346">
                  <a:moveTo>
                    <a:pt x="0" y="15501165"/>
                  </a:moveTo>
                  <a:lnTo>
                    <a:pt x="13295347" y="15501165"/>
                  </a:lnTo>
                  <a:lnTo>
                    <a:pt x="13295347" y="0"/>
                  </a:lnTo>
                  <a:lnTo>
                    <a:pt x="0" y="0"/>
                  </a:lnTo>
                  <a:lnTo>
                    <a:pt x="0" y="15501165"/>
                  </a:lnTo>
                  <a:close/>
                </a:path>
              </a:pathLst>
            </a:custGeom>
            <a:blipFill>
              <a:blip r:embed="rId5"/>
              <a:stretch>
                <a:fillRect l="-12500" t="0" r="-12499" b="0"/>
              </a:stretch>
            </a:blipFill>
          </p:spPr>
        </p:sp>
      </p:grpSp>
      <p:sp>
        <p:nvSpPr>
          <p:cNvPr name="Freeform 7" id="7"/>
          <p:cNvSpPr/>
          <p:nvPr/>
        </p:nvSpPr>
        <p:spPr>
          <a:xfrm flipH="false" flipV="false" rot="0">
            <a:off x="10311742" y="3710386"/>
            <a:ext cx="8932273" cy="2866229"/>
          </a:xfrm>
          <a:custGeom>
            <a:avLst/>
            <a:gdLst/>
            <a:ahLst/>
            <a:cxnLst/>
            <a:rect r="r" b="b" t="t" l="l"/>
            <a:pathLst>
              <a:path h="2866229" w="8932273">
                <a:moveTo>
                  <a:pt x="0" y="0"/>
                </a:moveTo>
                <a:lnTo>
                  <a:pt x="8932273" y="0"/>
                </a:lnTo>
                <a:lnTo>
                  <a:pt x="8932273" y="2866228"/>
                </a:lnTo>
                <a:lnTo>
                  <a:pt x="0" y="2866228"/>
                </a:lnTo>
                <a:lnTo>
                  <a:pt x="0" y="0"/>
                </a:lnTo>
                <a:close/>
              </a:path>
            </a:pathLst>
          </a:custGeom>
          <a:blipFill>
            <a:blip r:embed="rId6"/>
            <a:stretch>
              <a:fillRect l="0" t="-107966" r="0" b="-126458"/>
            </a:stretch>
          </a:blipFill>
        </p:spPr>
      </p:sp>
      <p:sp>
        <p:nvSpPr>
          <p:cNvPr name="Freeform 8" id="8"/>
          <p:cNvSpPr/>
          <p:nvPr/>
        </p:nvSpPr>
        <p:spPr>
          <a:xfrm flipH="false" flipV="false" rot="0">
            <a:off x="0" y="3607381"/>
            <a:ext cx="5356638" cy="2866229"/>
          </a:xfrm>
          <a:custGeom>
            <a:avLst/>
            <a:gdLst/>
            <a:ahLst/>
            <a:cxnLst/>
            <a:rect r="r" b="b" t="t" l="l"/>
            <a:pathLst>
              <a:path h="2866229" w="5356638">
                <a:moveTo>
                  <a:pt x="0" y="0"/>
                </a:moveTo>
                <a:lnTo>
                  <a:pt x="5356638" y="0"/>
                </a:lnTo>
                <a:lnTo>
                  <a:pt x="5356638" y="2866229"/>
                </a:lnTo>
                <a:lnTo>
                  <a:pt x="0" y="2866229"/>
                </a:lnTo>
                <a:lnTo>
                  <a:pt x="0" y="0"/>
                </a:lnTo>
                <a:close/>
              </a:path>
            </a:pathLst>
          </a:custGeom>
          <a:blipFill>
            <a:blip r:embed="rId6"/>
            <a:stretch>
              <a:fillRect l="0" t="-44731" r="0" b="-55821"/>
            </a:stretch>
          </a:blipFill>
        </p:spPr>
      </p:sp>
      <p:sp>
        <p:nvSpPr>
          <p:cNvPr name="Freeform 9" id="9"/>
          <p:cNvSpPr/>
          <p:nvPr/>
        </p:nvSpPr>
        <p:spPr>
          <a:xfrm flipH="false" flipV="false" rot="0">
            <a:off x="2751762" y="1241255"/>
            <a:ext cx="8158935" cy="8158935"/>
          </a:xfrm>
          <a:custGeom>
            <a:avLst/>
            <a:gdLst/>
            <a:ahLst/>
            <a:cxnLst/>
            <a:rect r="r" b="b" t="t" l="l"/>
            <a:pathLst>
              <a:path h="8158935" w="8158935">
                <a:moveTo>
                  <a:pt x="0" y="0"/>
                </a:moveTo>
                <a:lnTo>
                  <a:pt x="8158935" y="0"/>
                </a:lnTo>
                <a:lnTo>
                  <a:pt x="8158935" y="8158935"/>
                </a:lnTo>
                <a:lnTo>
                  <a:pt x="0" y="8158935"/>
                </a:lnTo>
                <a:lnTo>
                  <a:pt x="0" y="0"/>
                </a:lnTo>
                <a:close/>
              </a:path>
            </a:pathLst>
          </a:custGeom>
          <a:blipFill>
            <a:blip r:embed="rId7"/>
            <a:stretch>
              <a:fillRect l="0" t="0" r="0" b="0"/>
            </a:stretch>
          </a:blipFill>
        </p:spPr>
      </p:sp>
      <p:sp>
        <p:nvSpPr>
          <p:cNvPr name="TextBox 10" id="10"/>
          <p:cNvSpPr txBox="true"/>
          <p:nvPr/>
        </p:nvSpPr>
        <p:spPr>
          <a:xfrm rot="0">
            <a:off x="10538441" y="4077922"/>
            <a:ext cx="7749559" cy="2936873"/>
          </a:xfrm>
          <a:prstGeom prst="rect">
            <a:avLst/>
          </a:prstGeom>
        </p:spPr>
        <p:txBody>
          <a:bodyPr anchor="t" rtlCol="false" tIns="0" lIns="0" bIns="0" rIns="0">
            <a:spAutoFit/>
          </a:bodyPr>
          <a:lstStyle/>
          <a:p>
            <a:pPr algn="ctr">
              <a:lnSpc>
                <a:spcPts val="7850"/>
              </a:lnSpc>
            </a:pPr>
            <a:r>
              <a:rPr lang="en-US" sz="5000">
                <a:solidFill>
                  <a:srgbClr val="FFFFFF"/>
                </a:solidFill>
                <a:latin typeface="Arimo"/>
                <a:ea typeface="Arimo"/>
                <a:cs typeface="Arimo"/>
                <a:sym typeface="Arimo"/>
              </a:rPr>
              <a:t>CẢM ƠN THẦY CÔ ĐÃ LẮNG NGHE !!!</a:t>
            </a:r>
          </a:p>
          <a:p>
            <a:pPr algn="ctr">
              <a:lnSpc>
                <a:spcPts val="7850"/>
              </a:lnSpc>
            </a:pPr>
          </a:p>
        </p:txBody>
      </p:sp>
    </p:spTree>
  </p:cSld>
  <p:clrMapOvr>
    <a:masterClrMapping/>
  </p:clrMapOvr>
  <p:transition spd="fast">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DAHNSr6oJ2M</dc:identifier>
  <dcterms:modified xsi:type="dcterms:W3CDTF">2011-08-01T06:04:30Z</dcterms:modified>
  <cp:revision>1</cp:revision>
  <dc:title>TRƯỜNG ĐẠI HỌC SÀI GÒN</dc:title>
</cp:coreProperties>
</file>